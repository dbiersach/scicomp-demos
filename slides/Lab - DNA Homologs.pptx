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handoutMasterIdLst>
    <p:handoutMasterId r:id="rId37"/>
  </p:handoutMasterIdLst>
  <p:sldIdLst>
    <p:sldId id="858" r:id="rId2"/>
    <p:sldId id="1017" r:id="rId3"/>
    <p:sldId id="1018" r:id="rId4"/>
    <p:sldId id="399" r:id="rId5"/>
    <p:sldId id="400" r:id="rId6"/>
    <p:sldId id="401" r:id="rId7"/>
    <p:sldId id="402" r:id="rId8"/>
    <p:sldId id="1019" r:id="rId9"/>
    <p:sldId id="404" r:id="rId10"/>
    <p:sldId id="405" r:id="rId11"/>
    <p:sldId id="406" r:id="rId12"/>
    <p:sldId id="407" r:id="rId13"/>
    <p:sldId id="1053" r:id="rId14"/>
    <p:sldId id="1027" r:id="rId15"/>
    <p:sldId id="415" r:id="rId16"/>
    <p:sldId id="1054" r:id="rId17"/>
    <p:sldId id="417" r:id="rId18"/>
    <p:sldId id="424" r:id="rId19"/>
    <p:sldId id="488" r:id="rId20"/>
    <p:sldId id="426" r:id="rId21"/>
    <p:sldId id="443" r:id="rId22"/>
    <p:sldId id="442" r:id="rId23"/>
    <p:sldId id="444" r:id="rId24"/>
    <p:sldId id="447" r:id="rId25"/>
    <p:sldId id="445" r:id="rId26"/>
    <p:sldId id="446" r:id="rId27"/>
    <p:sldId id="448" r:id="rId28"/>
    <p:sldId id="1034" r:id="rId29"/>
    <p:sldId id="1033" r:id="rId30"/>
    <p:sldId id="260" r:id="rId31"/>
    <p:sldId id="1055" r:id="rId32"/>
    <p:sldId id="1043" r:id="rId33"/>
    <p:sldId id="1052" r:id="rId34"/>
    <p:sldId id="306" r:id="rId35"/>
  </p:sldIdLst>
  <p:sldSz cx="9144000" cy="6858000" type="screen4x3"/>
  <p:notesSz cx="7077075" cy="9363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1E1E"/>
    <a:srgbClr val="FF0000"/>
    <a:srgbClr val="007500"/>
    <a:srgbClr val="007600"/>
    <a:srgbClr val="0000FF"/>
    <a:srgbClr val="FFFFFF"/>
    <a:srgbClr val="7979FF"/>
    <a:srgbClr val="8A8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987" autoAdjust="0"/>
    <p:restoredTop sz="94660"/>
  </p:normalViewPr>
  <p:slideViewPr>
    <p:cSldViewPr snapToGrid="0">
      <p:cViewPr varScale="1">
        <p:scale>
          <a:sx n="128" d="100"/>
          <a:sy n="128" d="100"/>
        </p:scale>
        <p:origin x="558" y="120"/>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66732" cy="470073"/>
          </a:xfrm>
          <a:prstGeom prst="rect">
            <a:avLst/>
          </a:prstGeom>
        </p:spPr>
        <p:txBody>
          <a:bodyPr vert="horz" lIns="92638" tIns="46319" rIns="92638" bIns="46319" rtlCol="0"/>
          <a:lstStyle>
            <a:lvl1pPr algn="l">
              <a:defRPr sz="1200"/>
            </a:lvl1pPr>
          </a:lstStyle>
          <a:p>
            <a:endParaRPr lang="en-US"/>
          </a:p>
        </p:txBody>
      </p:sp>
      <p:sp>
        <p:nvSpPr>
          <p:cNvPr id="3" name="Date Placeholder 2"/>
          <p:cNvSpPr>
            <a:spLocks noGrp="1"/>
          </p:cNvSpPr>
          <p:nvPr>
            <p:ph type="dt" sz="quarter" idx="1"/>
          </p:nvPr>
        </p:nvSpPr>
        <p:spPr>
          <a:xfrm>
            <a:off x="4008705" y="1"/>
            <a:ext cx="3066732" cy="470073"/>
          </a:xfrm>
          <a:prstGeom prst="rect">
            <a:avLst/>
          </a:prstGeom>
        </p:spPr>
        <p:txBody>
          <a:bodyPr vert="horz" lIns="92638" tIns="46319" rIns="92638" bIns="46319" rtlCol="0"/>
          <a:lstStyle>
            <a:lvl1pPr algn="r">
              <a:defRPr sz="1200"/>
            </a:lvl1pPr>
          </a:lstStyle>
          <a:p>
            <a:fld id="{A241AC98-512A-4A35-865E-757B6C1F07A2}" type="datetimeFigureOut">
              <a:rPr lang="en-US" smtClean="0"/>
              <a:t>3/3/2022</a:t>
            </a:fld>
            <a:endParaRPr lang="en-US"/>
          </a:p>
        </p:txBody>
      </p:sp>
      <p:sp>
        <p:nvSpPr>
          <p:cNvPr id="4" name="Footer Placeholder 3"/>
          <p:cNvSpPr>
            <a:spLocks noGrp="1"/>
          </p:cNvSpPr>
          <p:nvPr>
            <p:ph type="ftr" sz="quarter" idx="2"/>
          </p:nvPr>
        </p:nvSpPr>
        <p:spPr>
          <a:xfrm>
            <a:off x="0" y="8893005"/>
            <a:ext cx="3066732" cy="470073"/>
          </a:xfrm>
          <a:prstGeom prst="rect">
            <a:avLst/>
          </a:prstGeom>
        </p:spPr>
        <p:txBody>
          <a:bodyPr vert="horz" lIns="92638" tIns="46319" rIns="92638" bIns="46319" rtlCol="0" anchor="b"/>
          <a:lstStyle>
            <a:lvl1pPr algn="l">
              <a:defRPr sz="1200"/>
            </a:lvl1pPr>
          </a:lstStyle>
          <a:p>
            <a:endParaRPr lang="en-US"/>
          </a:p>
        </p:txBody>
      </p:sp>
      <p:sp>
        <p:nvSpPr>
          <p:cNvPr id="5" name="Slide Number Placeholder 4"/>
          <p:cNvSpPr>
            <a:spLocks noGrp="1"/>
          </p:cNvSpPr>
          <p:nvPr>
            <p:ph type="sldNum" sz="quarter" idx="3"/>
          </p:nvPr>
        </p:nvSpPr>
        <p:spPr>
          <a:xfrm>
            <a:off x="4008705" y="8893005"/>
            <a:ext cx="3066732" cy="470073"/>
          </a:xfrm>
          <a:prstGeom prst="rect">
            <a:avLst/>
          </a:prstGeom>
        </p:spPr>
        <p:txBody>
          <a:bodyPr vert="horz" lIns="92638" tIns="46319" rIns="92638" bIns="46319" rtlCol="0" anchor="b"/>
          <a:lstStyle>
            <a:lvl1pPr algn="r">
              <a:defRPr sz="1200"/>
            </a:lvl1pPr>
          </a:lstStyle>
          <a:p>
            <a:fld id="{825528D0-251A-41BC-8967-C65EDA3BFD3D}" type="slidenum">
              <a:rPr lang="en-US" smtClean="0"/>
              <a:t>‹#›</a:t>
            </a:fld>
            <a:endParaRPr lang="en-US"/>
          </a:p>
        </p:txBody>
      </p:sp>
    </p:spTree>
    <p:extLst>
      <p:ext uri="{BB962C8B-B14F-4D97-AF65-F5344CB8AC3E}">
        <p14:creationId xmlns:p14="http://schemas.microsoft.com/office/powerpoint/2010/main" val="35861955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66732" cy="470073"/>
          </a:xfrm>
          <a:prstGeom prst="rect">
            <a:avLst/>
          </a:prstGeom>
        </p:spPr>
        <p:txBody>
          <a:bodyPr vert="horz" lIns="92638" tIns="46319" rIns="92638" bIns="46319" rtlCol="0"/>
          <a:lstStyle>
            <a:lvl1pPr algn="l">
              <a:defRPr sz="1200"/>
            </a:lvl1pPr>
          </a:lstStyle>
          <a:p>
            <a:endParaRPr lang="en-US"/>
          </a:p>
        </p:txBody>
      </p:sp>
      <p:sp>
        <p:nvSpPr>
          <p:cNvPr id="3" name="Date Placeholder 2"/>
          <p:cNvSpPr>
            <a:spLocks noGrp="1"/>
          </p:cNvSpPr>
          <p:nvPr>
            <p:ph type="dt" idx="1"/>
          </p:nvPr>
        </p:nvSpPr>
        <p:spPr>
          <a:xfrm>
            <a:off x="4008705" y="1"/>
            <a:ext cx="3066732" cy="470073"/>
          </a:xfrm>
          <a:prstGeom prst="rect">
            <a:avLst/>
          </a:prstGeom>
        </p:spPr>
        <p:txBody>
          <a:bodyPr vert="horz" lIns="92638" tIns="46319" rIns="92638" bIns="46319" rtlCol="0"/>
          <a:lstStyle>
            <a:lvl1pPr algn="r">
              <a:defRPr sz="1200"/>
            </a:lvl1pPr>
          </a:lstStyle>
          <a:p>
            <a:fld id="{3854CEE7-15DE-41D9-8CA2-D1E137B1D850}" type="datetimeFigureOut">
              <a:rPr lang="en-US" smtClean="0"/>
              <a:t>3/3/2022</a:t>
            </a:fld>
            <a:endParaRPr lang="en-US"/>
          </a:p>
        </p:txBody>
      </p:sp>
      <p:sp>
        <p:nvSpPr>
          <p:cNvPr id="4" name="Slide Image Placeholder 3"/>
          <p:cNvSpPr>
            <a:spLocks noGrp="1" noRot="1" noChangeAspect="1"/>
          </p:cNvSpPr>
          <p:nvPr>
            <p:ph type="sldImg" idx="2"/>
          </p:nvPr>
        </p:nvSpPr>
        <p:spPr>
          <a:xfrm>
            <a:off x="1431925" y="1169988"/>
            <a:ext cx="4213225" cy="3160712"/>
          </a:xfrm>
          <a:prstGeom prst="rect">
            <a:avLst/>
          </a:prstGeom>
          <a:noFill/>
          <a:ln w="12700">
            <a:solidFill>
              <a:prstClr val="black"/>
            </a:solidFill>
          </a:ln>
        </p:spPr>
        <p:txBody>
          <a:bodyPr vert="horz" lIns="92638" tIns="46319" rIns="92638" bIns="46319" rtlCol="0" anchor="ctr"/>
          <a:lstStyle/>
          <a:p>
            <a:endParaRPr lang="en-US"/>
          </a:p>
        </p:txBody>
      </p:sp>
      <p:sp>
        <p:nvSpPr>
          <p:cNvPr id="5" name="Notes Placeholder 4"/>
          <p:cNvSpPr>
            <a:spLocks noGrp="1"/>
          </p:cNvSpPr>
          <p:nvPr>
            <p:ph type="body" sz="quarter" idx="3"/>
          </p:nvPr>
        </p:nvSpPr>
        <p:spPr>
          <a:xfrm>
            <a:off x="707708" y="4505662"/>
            <a:ext cx="5661660" cy="3687031"/>
          </a:xfrm>
          <a:prstGeom prst="rect">
            <a:avLst/>
          </a:prstGeom>
        </p:spPr>
        <p:txBody>
          <a:bodyPr vert="horz" lIns="92638" tIns="46319" rIns="92638" bIns="4631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93005"/>
            <a:ext cx="3066732" cy="470073"/>
          </a:xfrm>
          <a:prstGeom prst="rect">
            <a:avLst/>
          </a:prstGeom>
        </p:spPr>
        <p:txBody>
          <a:bodyPr vert="horz" lIns="92638" tIns="46319" rIns="92638" bIns="46319" rtlCol="0" anchor="b"/>
          <a:lstStyle>
            <a:lvl1pPr algn="l">
              <a:defRPr sz="1200"/>
            </a:lvl1pPr>
          </a:lstStyle>
          <a:p>
            <a:endParaRPr lang="en-US"/>
          </a:p>
        </p:txBody>
      </p:sp>
      <p:sp>
        <p:nvSpPr>
          <p:cNvPr id="7" name="Slide Number Placeholder 6"/>
          <p:cNvSpPr>
            <a:spLocks noGrp="1"/>
          </p:cNvSpPr>
          <p:nvPr>
            <p:ph type="sldNum" sz="quarter" idx="5"/>
          </p:nvPr>
        </p:nvSpPr>
        <p:spPr>
          <a:xfrm>
            <a:off x="4008705" y="8893005"/>
            <a:ext cx="3066732" cy="470073"/>
          </a:xfrm>
          <a:prstGeom prst="rect">
            <a:avLst/>
          </a:prstGeom>
        </p:spPr>
        <p:txBody>
          <a:bodyPr vert="horz" lIns="92638" tIns="46319" rIns="92638" bIns="46319" rtlCol="0" anchor="b"/>
          <a:lstStyle>
            <a:lvl1pPr algn="r">
              <a:defRPr sz="1200"/>
            </a:lvl1pPr>
          </a:lstStyle>
          <a:p>
            <a:fld id="{76317BBA-0BC6-419B-B826-088209688372}" type="slidenum">
              <a:rPr lang="en-US" smtClean="0"/>
              <a:t>‹#›</a:t>
            </a:fld>
            <a:endParaRPr lang="en-US"/>
          </a:p>
        </p:txBody>
      </p:sp>
    </p:spTree>
    <p:extLst>
      <p:ext uri="{BB962C8B-B14F-4D97-AF65-F5344CB8AC3E}">
        <p14:creationId xmlns:p14="http://schemas.microsoft.com/office/powerpoint/2010/main" val="354119215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2</a:t>
            </a:fld>
            <a:endParaRPr lang="en-US"/>
          </a:p>
        </p:txBody>
      </p:sp>
    </p:spTree>
    <p:extLst>
      <p:ext uri="{BB962C8B-B14F-4D97-AF65-F5344CB8AC3E}">
        <p14:creationId xmlns:p14="http://schemas.microsoft.com/office/powerpoint/2010/main" val="145712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3</a:t>
            </a:fld>
            <a:endParaRPr lang="en-US"/>
          </a:p>
        </p:txBody>
      </p:sp>
    </p:spTree>
    <p:extLst>
      <p:ext uri="{BB962C8B-B14F-4D97-AF65-F5344CB8AC3E}">
        <p14:creationId xmlns:p14="http://schemas.microsoft.com/office/powerpoint/2010/main" val="2960769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4</a:t>
            </a:fld>
            <a:endParaRPr lang="en-US"/>
          </a:p>
        </p:txBody>
      </p:sp>
    </p:spTree>
    <p:extLst>
      <p:ext uri="{BB962C8B-B14F-4D97-AF65-F5344CB8AC3E}">
        <p14:creationId xmlns:p14="http://schemas.microsoft.com/office/powerpoint/2010/main" val="1144178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5</a:t>
            </a:fld>
            <a:endParaRPr lang="en-US"/>
          </a:p>
        </p:txBody>
      </p:sp>
    </p:spTree>
    <p:extLst>
      <p:ext uri="{BB962C8B-B14F-4D97-AF65-F5344CB8AC3E}">
        <p14:creationId xmlns:p14="http://schemas.microsoft.com/office/powerpoint/2010/main" val="507768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6</a:t>
            </a:fld>
            <a:endParaRPr lang="en-US"/>
          </a:p>
        </p:txBody>
      </p:sp>
    </p:spTree>
    <p:extLst>
      <p:ext uri="{BB962C8B-B14F-4D97-AF65-F5344CB8AC3E}">
        <p14:creationId xmlns:p14="http://schemas.microsoft.com/office/powerpoint/2010/main" val="3887039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7</a:t>
            </a:fld>
            <a:endParaRPr lang="en-US"/>
          </a:p>
        </p:txBody>
      </p:sp>
    </p:spTree>
    <p:extLst>
      <p:ext uri="{BB962C8B-B14F-4D97-AF65-F5344CB8AC3E}">
        <p14:creationId xmlns:p14="http://schemas.microsoft.com/office/powerpoint/2010/main" val="35753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8</a:t>
            </a:fld>
            <a:endParaRPr lang="en-US"/>
          </a:p>
        </p:txBody>
      </p:sp>
    </p:spTree>
    <p:extLst>
      <p:ext uri="{BB962C8B-B14F-4D97-AF65-F5344CB8AC3E}">
        <p14:creationId xmlns:p14="http://schemas.microsoft.com/office/powerpoint/2010/main" val="3834720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9</a:t>
            </a:fld>
            <a:endParaRPr lang="en-US"/>
          </a:p>
        </p:txBody>
      </p:sp>
    </p:spTree>
    <p:extLst>
      <p:ext uri="{BB962C8B-B14F-4D97-AF65-F5344CB8AC3E}">
        <p14:creationId xmlns:p14="http://schemas.microsoft.com/office/powerpoint/2010/main" val="102492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10</a:t>
            </a:fld>
            <a:endParaRPr lang="en-US"/>
          </a:p>
        </p:txBody>
      </p:sp>
    </p:spTree>
    <p:extLst>
      <p:ext uri="{BB962C8B-B14F-4D97-AF65-F5344CB8AC3E}">
        <p14:creationId xmlns:p14="http://schemas.microsoft.com/office/powerpoint/2010/main" val="13965238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11</a:t>
            </a:fld>
            <a:endParaRPr lang="en-US"/>
          </a:p>
        </p:txBody>
      </p:sp>
    </p:spTree>
    <p:extLst>
      <p:ext uri="{BB962C8B-B14F-4D97-AF65-F5344CB8AC3E}">
        <p14:creationId xmlns:p14="http://schemas.microsoft.com/office/powerpoint/2010/main" val="572100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12</a:t>
            </a:fld>
            <a:endParaRPr lang="en-US"/>
          </a:p>
        </p:txBody>
      </p:sp>
    </p:spTree>
    <p:extLst>
      <p:ext uri="{BB962C8B-B14F-4D97-AF65-F5344CB8AC3E}">
        <p14:creationId xmlns:p14="http://schemas.microsoft.com/office/powerpoint/2010/main" val="7538469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13</a:t>
            </a:fld>
            <a:endParaRPr lang="en-US"/>
          </a:p>
        </p:txBody>
      </p:sp>
    </p:spTree>
    <p:extLst>
      <p:ext uri="{BB962C8B-B14F-4D97-AF65-F5344CB8AC3E}">
        <p14:creationId xmlns:p14="http://schemas.microsoft.com/office/powerpoint/2010/main" val="28672284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14</a:t>
            </a:fld>
            <a:endParaRPr lang="en-US"/>
          </a:p>
        </p:txBody>
      </p:sp>
    </p:spTree>
    <p:extLst>
      <p:ext uri="{BB962C8B-B14F-4D97-AF65-F5344CB8AC3E}">
        <p14:creationId xmlns:p14="http://schemas.microsoft.com/office/powerpoint/2010/main" val="28880101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15</a:t>
            </a:fld>
            <a:endParaRPr lang="en-US"/>
          </a:p>
        </p:txBody>
      </p:sp>
    </p:spTree>
    <p:extLst>
      <p:ext uri="{BB962C8B-B14F-4D97-AF65-F5344CB8AC3E}">
        <p14:creationId xmlns:p14="http://schemas.microsoft.com/office/powerpoint/2010/main" val="13500437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16</a:t>
            </a:fld>
            <a:endParaRPr lang="en-US"/>
          </a:p>
        </p:txBody>
      </p:sp>
    </p:spTree>
    <p:extLst>
      <p:ext uri="{BB962C8B-B14F-4D97-AF65-F5344CB8AC3E}">
        <p14:creationId xmlns:p14="http://schemas.microsoft.com/office/powerpoint/2010/main" val="13187614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17BBA-0BC6-419B-B826-088209688372}" type="slidenum">
              <a:rPr lang="en-US" smtClean="0"/>
              <a:t>17</a:t>
            </a:fld>
            <a:endParaRPr lang="en-US" dirty="0"/>
          </a:p>
        </p:txBody>
      </p:sp>
    </p:spTree>
    <p:extLst>
      <p:ext uri="{BB962C8B-B14F-4D97-AF65-F5344CB8AC3E}">
        <p14:creationId xmlns:p14="http://schemas.microsoft.com/office/powerpoint/2010/main" val="27279714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67C3ED5-3515-47D8-A376-FEDA72CD8D96}" type="slidenum">
              <a:rPr lang="en-US" smtClean="0"/>
              <a:t>18</a:t>
            </a:fld>
            <a:endParaRPr lang="en-US"/>
          </a:p>
        </p:txBody>
      </p:sp>
    </p:spTree>
    <p:extLst>
      <p:ext uri="{BB962C8B-B14F-4D97-AF65-F5344CB8AC3E}">
        <p14:creationId xmlns:p14="http://schemas.microsoft.com/office/powerpoint/2010/main" val="7024988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19</a:t>
            </a:fld>
            <a:endParaRPr lang="en-US"/>
          </a:p>
        </p:txBody>
      </p:sp>
    </p:spTree>
    <p:extLst>
      <p:ext uri="{BB962C8B-B14F-4D97-AF65-F5344CB8AC3E}">
        <p14:creationId xmlns:p14="http://schemas.microsoft.com/office/powerpoint/2010/main" val="7219465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17BBA-0BC6-419B-B826-088209688372}" type="slidenum">
              <a:rPr lang="en-US" smtClean="0"/>
              <a:t>27</a:t>
            </a:fld>
            <a:endParaRPr lang="en-US" dirty="0"/>
          </a:p>
        </p:txBody>
      </p:sp>
    </p:spTree>
    <p:extLst>
      <p:ext uri="{BB962C8B-B14F-4D97-AF65-F5344CB8AC3E}">
        <p14:creationId xmlns:p14="http://schemas.microsoft.com/office/powerpoint/2010/main" val="21643415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31</a:t>
            </a:fld>
            <a:endParaRPr lang="en-US"/>
          </a:p>
        </p:txBody>
      </p:sp>
    </p:spTree>
    <p:extLst>
      <p:ext uri="{BB962C8B-B14F-4D97-AF65-F5344CB8AC3E}">
        <p14:creationId xmlns:p14="http://schemas.microsoft.com/office/powerpoint/2010/main" val="36319090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317BBA-0BC6-419B-B826-088209688372}" type="slidenum">
              <a:rPr lang="en-US" smtClean="0"/>
              <a:t>32</a:t>
            </a:fld>
            <a:endParaRPr lang="en-US"/>
          </a:p>
        </p:txBody>
      </p:sp>
    </p:spTree>
    <p:extLst>
      <p:ext uri="{BB962C8B-B14F-4D97-AF65-F5344CB8AC3E}">
        <p14:creationId xmlns:p14="http://schemas.microsoft.com/office/powerpoint/2010/main" val="3227699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55EB2C-244D-4423-AD97-018ED6478B87}" type="datetime1">
              <a:rPr lang="en-US" smtClean="0"/>
              <a:t>3/3/2022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sz="1400" b="1">
                <a:solidFill>
                  <a:schemeClr val="tx1"/>
                </a:solidFill>
              </a:defRPr>
            </a:lvl1pPr>
          </a:lstStyle>
          <a:p>
            <a:fld id="{650AD656-6FF9-465D-B7B0-1CD0DD39CD23}" type="slidenum">
              <a:rPr lang="en-US" smtClean="0"/>
              <a:pPr/>
              <a:t>‹#›</a:t>
            </a:fld>
            <a:endParaRPr lang="en-US" dirty="0"/>
          </a:p>
        </p:txBody>
      </p:sp>
    </p:spTree>
    <p:extLst>
      <p:ext uri="{BB962C8B-B14F-4D97-AF65-F5344CB8AC3E}">
        <p14:creationId xmlns:p14="http://schemas.microsoft.com/office/powerpoint/2010/main" val="3277065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CF632E-48CB-4EEB-A6B6-DEC7AD7CC976}" type="datetime1">
              <a:rPr lang="en-US" smtClean="0"/>
              <a:t>3/3/2022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sz="1400" b="1">
                <a:solidFill>
                  <a:schemeClr val="tx1"/>
                </a:solidFill>
              </a:defRPr>
            </a:lvl1pPr>
          </a:lstStyle>
          <a:p>
            <a:fld id="{650AD656-6FF9-465D-B7B0-1CD0DD39CD23}" type="slidenum">
              <a:rPr lang="en-US" smtClean="0"/>
              <a:pPr/>
              <a:t>‹#›</a:t>
            </a:fld>
            <a:endParaRPr lang="en-US" dirty="0"/>
          </a:p>
        </p:txBody>
      </p:sp>
    </p:spTree>
    <p:extLst>
      <p:ext uri="{BB962C8B-B14F-4D97-AF65-F5344CB8AC3E}">
        <p14:creationId xmlns:p14="http://schemas.microsoft.com/office/powerpoint/2010/main" val="885261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EEE52C-3A57-458E-95F6-96B2FA9D1DD4}" type="datetime1">
              <a:rPr lang="en-US" smtClean="0"/>
              <a:t>3/3/2022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lang="en-US" sz="1400" b="1" kern="1200" smtClean="0">
                <a:solidFill>
                  <a:schemeClr val="tx1"/>
                </a:solidFill>
                <a:latin typeface="+mn-lt"/>
                <a:ea typeface="+mn-ea"/>
                <a:cs typeface="+mn-cs"/>
              </a:defRPr>
            </a:lvl1pPr>
          </a:lstStyle>
          <a:p>
            <a:fld id="{650AD656-6FF9-465D-B7B0-1CD0DD39CD23}" type="slidenum">
              <a:rPr lang="en-US" smtClean="0"/>
              <a:pPr/>
              <a:t>‹#›</a:t>
            </a:fld>
            <a:endParaRPr lang="en-US" dirty="0"/>
          </a:p>
        </p:txBody>
      </p:sp>
    </p:spTree>
    <p:extLst>
      <p:ext uri="{BB962C8B-B14F-4D97-AF65-F5344CB8AC3E}">
        <p14:creationId xmlns:p14="http://schemas.microsoft.com/office/powerpoint/2010/main" val="71095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6FC747-A48A-4FF2-8EE4-3E95ECD1C2A8}" type="datetime1">
              <a:rPr lang="en-US" smtClean="0"/>
              <a:t>3/3/2022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lang="en-US" sz="1400" b="1" kern="1200" smtClean="0">
                <a:solidFill>
                  <a:schemeClr val="tx1"/>
                </a:solidFill>
                <a:latin typeface="+mn-lt"/>
                <a:ea typeface="+mn-ea"/>
                <a:cs typeface="+mn-cs"/>
              </a:defRPr>
            </a:lvl1pPr>
          </a:lstStyle>
          <a:p>
            <a:fld id="{650AD656-6FF9-465D-B7B0-1CD0DD39CD23}" type="slidenum">
              <a:rPr lang="en-US" smtClean="0"/>
              <a:pPr/>
              <a:t>‹#›</a:t>
            </a:fld>
            <a:endParaRPr lang="en-US" dirty="0"/>
          </a:p>
        </p:txBody>
      </p:sp>
    </p:spTree>
    <p:extLst>
      <p:ext uri="{BB962C8B-B14F-4D97-AF65-F5344CB8AC3E}">
        <p14:creationId xmlns:p14="http://schemas.microsoft.com/office/powerpoint/2010/main" val="1822927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BF5758-AB7F-463D-B638-E1729B95E126}" type="datetime1">
              <a:rPr lang="en-US" smtClean="0"/>
              <a:t>3/3/2022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lvl1pPr>
              <a:defRPr lang="en-US" sz="1400" b="1" kern="1200" smtClean="0">
                <a:solidFill>
                  <a:schemeClr val="tx1"/>
                </a:solidFill>
                <a:latin typeface="+mn-lt"/>
                <a:ea typeface="+mn-ea"/>
                <a:cs typeface="+mn-cs"/>
              </a:defRPr>
            </a:lvl1pPr>
          </a:lstStyle>
          <a:p>
            <a:fld id="{650AD656-6FF9-465D-B7B0-1CD0DD39CD23}" type="slidenum">
              <a:rPr lang="en-US" smtClean="0"/>
              <a:pPr/>
              <a:t>‹#›</a:t>
            </a:fld>
            <a:endParaRPr lang="en-US" dirty="0"/>
          </a:p>
        </p:txBody>
      </p:sp>
    </p:spTree>
    <p:extLst>
      <p:ext uri="{BB962C8B-B14F-4D97-AF65-F5344CB8AC3E}">
        <p14:creationId xmlns:p14="http://schemas.microsoft.com/office/powerpoint/2010/main" val="315653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718C77-7DD0-4738-BF52-D0EC9F78A76E}" type="datetime1">
              <a:rPr lang="en-US" smtClean="0"/>
              <a:t>3/3/2022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lvl1pPr>
              <a:defRPr lang="en-US" sz="1400" b="1" kern="1200" smtClean="0">
                <a:solidFill>
                  <a:schemeClr val="tx1"/>
                </a:solidFill>
                <a:latin typeface="+mn-lt"/>
                <a:ea typeface="+mn-ea"/>
                <a:cs typeface="+mn-cs"/>
              </a:defRPr>
            </a:lvl1pPr>
          </a:lstStyle>
          <a:p>
            <a:fld id="{650AD656-6FF9-465D-B7B0-1CD0DD39CD23}" type="slidenum">
              <a:rPr lang="en-US" smtClean="0"/>
              <a:pPr/>
              <a:t>‹#›</a:t>
            </a:fld>
            <a:endParaRPr lang="en-US" dirty="0"/>
          </a:p>
        </p:txBody>
      </p:sp>
    </p:spTree>
    <p:extLst>
      <p:ext uri="{BB962C8B-B14F-4D97-AF65-F5344CB8AC3E}">
        <p14:creationId xmlns:p14="http://schemas.microsoft.com/office/powerpoint/2010/main" val="1824419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8970CF-13D9-4E1D-A74F-2CFE4953FCDB}" type="datetime1">
              <a:rPr lang="en-US" smtClean="0"/>
              <a:t>3/3/2022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lvl1pPr>
              <a:defRPr lang="en-US" sz="1400" b="1" kern="1200" smtClean="0">
                <a:solidFill>
                  <a:schemeClr val="tx1"/>
                </a:solidFill>
                <a:latin typeface="+mn-lt"/>
                <a:ea typeface="+mn-ea"/>
                <a:cs typeface="+mn-cs"/>
              </a:defRPr>
            </a:lvl1pPr>
          </a:lstStyle>
          <a:p>
            <a:fld id="{650AD656-6FF9-465D-B7B0-1CD0DD39CD23}" type="slidenum">
              <a:rPr lang="en-US" smtClean="0"/>
              <a:pPr/>
              <a:t>‹#›</a:t>
            </a:fld>
            <a:endParaRPr lang="en-US" dirty="0"/>
          </a:p>
        </p:txBody>
      </p:sp>
    </p:spTree>
    <p:extLst>
      <p:ext uri="{BB962C8B-B14F-4D97-AF65-F5344CB8AC3E}">
        <p14:creationId xmlns:p14="http://schemas.microsoft.com/office/powerpoint/2010/main" val="3480274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8C49B9-4E1C-4967-B9CF-0BF9FECBE837}" type="datetime1">
              <a:rPr lang="en-US" smtClean="0"/>
              <a:t>3/3/2022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lang="en-US" sz="1400" b="1" kern="1200" smtClean="0">
                <a:solidFill>
                  <a:schemeClr val="tx1"/>
                </a:solidFill>
                <a:latin typeface="+mn-lt"/>
                <a:ea typeface="+mn-ea"/>
                <a:cs typeface="+mn-cs"/>
              </a:defRPr>
            </a:lvl1pPr>
          </a:lstStyle>
          <a:p>
            <a:fld id="{650AD656-6FF9-465D-B7B0-1CD0DD39CD23}" type="slidenum">
              <a:rPr lang="en-US" smtClean="0"/>
              <a:pPr/>
              <a:t>‹#›</a:t>
            </a:fld>
            <a:endParaRPr lang="en-US" dirty="0"/>
          </a:p>
        </p:txBody>
      </p:sp>
    </p:spTree>
    <p:extLst>
      <p:ext uri="{BB962C8B-B14F-4D97-AF65-F5344CB8AC3E}">
        <p14:creationId xmlns:p14="http://schemas.microsoft.com/office/powerpoint/2010/main" val="1608694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338CBB-1F06-4333-9BBF-66628B15E581}" type="datetime1">
              <a:rPr lang="en-US" smtClean="0"/>
              <a:t>3/3/2022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lang="en-US" sz="1400" b="1" kern="1200" smtClean="0">
                <a:solidFill>
                  <a:schemeClr val="tx1"/>
                </a:solidFill>
                <a:latin typeface="+mn-lt"/>
                <a:ea typeface="+mn-ea"/>
                <a:cs typeface="+mn-cs"/>
              </a:defRPr>
            </a:lvl1pPr>
          </a:lstStyle>
          <a:p>
            <a:fld id="{650AD656-6FF9-465D-B7B0-1CD0DD39CD23}" type="slidenum">
              <a:rPr lang="en-US" smtClean="0"/>
              <a:pPr/>
              <a:t>‹#›</a:t>
            </a:fld>
            <a:endParaRPr lang="en-US" dirty="0"/>
          </a:p>
        </p:txBody>
      </p:sp>
    </p:spTree>
    <p:extLst>
      <p:ext uri="{BB962C8B-B14F-4D97-AF65-F5344CB8AC3E}">
        <p14:creationId xmlns:p14="http://schemas.microsoft.com/office/powerpoint/2010/main" val="4137983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B41D1F-7576-4C60-B4EB-5115BC56CF40}" type="datetime1">
              <a:rPr lang="en-US" smtClean="0"/>
              <a:t>3/3/2022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lang="en-US" sz="1400" b="1" kern="1200" smtClean="0">
                <a:solidFill>
                  <a:schemeClr val="tx1"/>
                </a:solidFill>
                <a:latin typeface="+mn-lt"/>
                <a:ea typeface="+mn-ea"/>
                <a:cs typeface="+mn-cs"/>
              </a:defRPr>
            </a:lvl1pPr>
          </a:lstStyle>
          <a:p>
            <a:fld id="{650AD656-6FF9-465D-B7B0-1CD0DD39CD23}" type="slidenum">
              <a:rPr lang="en-US" smtClean="0"/>
              <a:pPr/>
              <a:t>‹#›</a:t>
            </a:fld>
            <a:endParaRPr lang="en-US" dirty="0"/>
          </a:p>
        </p:txBody>
      </p:sp>
    </p:spTree>
    <p:extLst>
      <p:ext uri="{BB962C8B-B14F-4D97-AF65-F5344CB8AC3E}">
        <p14:creationId xmlns:p14="http://schemas.microsoft.com/office/powerpoint/2010/main" val="3705590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9D1398-4D56-44F9-BA35-34ACF3159A64}" type="datetime1">
              <a:rPr lang="en-US" smtClean="0"/>
              <a:t>3/3/2022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lang="en-US" sz="1400" b="1" kern="1200" smtClean="0">
                <a:solidFill>
                  <a:schemeClr val="tx1"/>
                </a:solidFill>
                <a:latin typeface="+mn-lt"/>
                <a:ea typeface="+mn-ea"/>
                <a:cs typeface="+mn-cs"/>
              </a:defRPr>
            </a:lvl1pPr>
          </a:lstStyle>
          <a:p>
            <a:fld id="{650AD656-6FF9-465D-B7B0-1CD0DD39CD23}" type="slidenum">
              <a:rPr lang="en-US" smtClean="0"/>
              <a:pPr/>
              <a:t>‹#›</a:t>
            </a:fld>
            <a:endParaRPr lang="en-US" dirty="0"/>
          </a:p>
        </p:txBody>
      </p:sp>
    </p:spTree>
    <p:extLst>
      <p:ext uri="{BB962C8B-B14F-4D97-AF65-F5344CB8AC3E}">
        <p14:creationId xmlns:p14="http://schemas.microsoft.com/office/powerpoint/2010/main" val="2347932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5EC883-F03C-4CA3-AF62-BEF30EEA4F65}" type="datetime1">
              <a:rPr lang="en-US" smtClean="0"/>
              <a:t>3/3/2022</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lang="en-US" sz="1400" b="1" kern="1200" smtClean="0">
                <a:solidFill>
                  <a:schemeClr val="tx1"/>
                </a:solidFill>
                <a:latin typeface="+mn-lt"/>
                <a:ea typeface="+mn-ea"/>
                <a:cs typeface="+mn-cs"/>
              </a:defRPr>
            </a:lvl1pPr>
          </a:lstStyle>
          <a:p>
            <a:fld id="{650AD656-6FF9-465D-B7B0-1CD0DD39CD23}" type="slidenum">
              <a:rPr lang="en-US" smtClean="0"/>
              <a:pPr/>
              <a:t>‹#›</a:t>
            </a:fld>
            <a:endParaRPr lang="en-US" dirty="0"/>
          </a:p>
        </p:txBody>
      </p:sp>
    </p:spTree>
    <p:extLst>
      <p:ext uri="{BB962C8B-B14F-4D97-AF65-F5344CB8AC3E}">
        <p14:creationId xmlns:p14="http://schemas.microsoft.com/office/powerpoint/2010/main" val="10309697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hyperlink" Target="mailto:dbiersach@bnl.gov" TargetMode="External"/><Relationship Id="rId10" Type="http://schemas.openxmlformats.org/officeDocument/2006/relationships/image" Target="../media/image8.png"/><Relationship Id="rId4" Type="http://schemas.openxmlformats.org/officeDocument/2006/relationships/image" Target="../media/image3.jpe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www.fruitfly.org/sequence/download.ht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hyperlink" Target="https://en.wikipedia.org/wiki/Sequence_homology" TargetMode="Externa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hyperlink" Target="https://en.wikipedia.org/wiki/Open_reading_frame"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17C2B5E5-FA39-488F-AB21-780CCEC9629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5400000">
            <a:off x="218595" y="3116578"/>
            <a:ext cx="2055976" cy="1002507"/>
          </a:xfrm>
          <a:prstGeom prst="rect">
            <a:avLst/>
          </a:prstGeom>
        </p:spPr>
      </p:pic>
      <p:pic>
        <p:nvPicPr>
          <p:cNvPr id="3" name="Picture 2">
            <a:extLst>
              <a:ext uri="{FF2B5EF4-FFF2-40B4-BE49-F238E27FC236}">
                <a16:creationId xmlns:a16="http://schemas.microsoft.com/office/drawing/2014/main" id="{68022AA9-25C0-416F-AD81-E38CA0BC3B7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37500" y="4895616"/>
            <a:ext cx="2191062" cy="1643297"/>
          </a:xfrm>
          <a:prstGeom prst="rect">
            <a:avLst/>
          </a:prstGeom>
        </p:spPr>
      </p:pic>
      <p:pic>
        <p:nvPicPr>
          <p:cNvPr id="4" name="Picture 3">
            <a:extLst>
              <a:ext uri="{FF2B5EF4-FFF2-40B4-BE49-F238E27FC236}">
                <a16:creationId xmlns:a16="http://schemas.microsoft.com/office/drawing/2014/main" id="{C58DDF2C-2EBB-45B4-B100-C8780377068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79683" y="899099"/>
            <a:ext cx="2127777" cy="1409652"/>
          </a:xfrm>
          <a:prstGeom prst="rect">
            <a:avLst/>
          </a:prstGeom>
          <a:ln>
            <a:noFill/>
          </a:ln>
        </p:spPr>
      </p:pic>
      <p:sp>
        <p:nvSpPr>
          <p:cNvPr id="5" name="Slide Number Placeholder 4"/>
          <p:cNvSpPr>
            <a:spLocks noGrp="1"/>
          </p:cNvSpPr>
          <p:nvPr>
            <p:ph type="sldNum" sz="quarter" idx="12"/>
          </p:nvPr>
        </p:nvSpPr>
        <p:spPr/>
        <p:txBody>
          <a:bodyPr/>
          <a:lstStyle/>
          <a:p>
            <a:pPr>
              <a:defRPr/>
            </a:pPr>
            <a:fld id="{650AD656-6FF9-465D-B7B0-1CD0DD39CD23}" type="slidenum">
              <a:rPr lang="en-US">
                <a:solidFill>
                  <a:prstClr val="black"/>
                </a:solidFill>
                <a:latin typeface="Calibri" panose="020F0502020204030204"/>
              </a:rPr>
              <a:pPr>
                <a:defRPr/>
              </a:pPr>
              <a:t>1</a:t>
            </a:fld>
            <a:endParaRPr lang="en-US" dirty="0">
              <a:solidFill>
                <a:prstClr val="black"/>
              </a:solidFill>
              <a:latin typeface="Calibri" panose="020F0502020204030204"/>
            </a:endParaRPr>
          </a:p>
        </p:txBody>
      </p:sp>
      <p:sp>
        <p:nvSpPr>
          <p:cNvPr id="7" name="TextBox 6"/>
          <p:cNvSpPr txBox="1"/>
          <p:nvPr/>
        </p:nvSpPr>
        <p:spPr>
          <a:xfrm>
            <a:off x="6164800" y="5517122"/>
            <a:ext cx="264369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Dave Biersach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5"/>
              </a:rPr>
              <a:t>dbiersach@bnl.gov</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6077647" y="899099"/>
            <a:ext cx="2653765"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Scientific Computing</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prstClr val="black"/>
                </a:solidFill>
                <a:latin typeface="Calibri" panose="020F0502020204030204"/>
              </a:rPr>
              <a:t>Demonstrations</a:t>
            </a:r>
            <a:endPar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p:cNvSpPr txBox="1"/>
          <p:nvPr/>
        </p:nvSpPr>
        <p:spPr>
          <a:xfrm>
            <a:off x="6241886" y="3916225"/>
            <a:ext cx="248952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panose="020F0502020204030204"/>
                <a:ea typeface="+mn-ea"/>
                <a:cs typeface="+mn-cs"/>
              </a:rPr>
              <a:t>DNA Homologs</a:t>
            </a:r>
          </a:p>
        </p:txBody>
      </p:sp>
      <p:sp>
        <p:nvSpPr>
          <p:cNvPr id="12" name="TextBox 11">
            <a:extLst>
              <a:ext uri="{FF2B5EF4-FFF2-40B4-BE49-F238E27FC236}">
                <a16:creationId xmlns:a16="http://schemas.microsoft.com/office/drawing/2014/main" id="{821318A7-1014-4E9C-BBB9-5D54D96586CD}"/>
              </a:ext>
            </a:extLst>
          </p:cNvPr>
          <p:cNvSpPr txBox="1"/>
          <p:nvPr/>
        </p:nvSpPr>
        <p:spPr>
          <a:xfrm>
            <a:off x="6391478" y="2470473"/>
            <a:ext cx="2190341"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Using Python on a </a:t>
            </a:r>
            <a:r>
              <a:rPr kumimoji="0" lang="en-US" sz="2000" b="1" i="0" u="none" strike="noStrike" kern="1200" cap="none" spc="0" normalizeH="0" baseline="0" noProof="0" dirty="0">
                <a:ln>
                  <a:noFill/>
                </a:ln>
                <a:solidFill>
                  <a:srgbClr val="0070C0"/>
                </a:solidFill>
                <a:effectLst/>
                <a:uLnTx/>
                <a:uFillTx/>
                <a:latin typeface="Calibri" panose="020F0502020204030204"/>
                <a:ea typeface="+mn-ea"/>
                <a:cs typeface="+mn-cs"/>
              </a:rPr>
              <a:t>Microcontroller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with</a:t>
            </a:r>
            <a:r>
              <a:rPr lang="en-US" sz="2000" b="1" dirty="0">
                <a:solidFill>
                  <a:srgbClr val="FF0000"/>
                </a:solidFill>
                <a:latin typeface="Calibri" panose="020F0502020204030204"/>
              </a:rPr>
              <a:t> Sensors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BC880B61-F5EE-49B8-AD9E-106E0D8FB1E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81623" y="4886637"/>
            <a:ext cx="1923894" cy="1726798"/>
          </a:xfrm>
          <a:prstGeom prst="rect">
            <a:avLst/>
          </a:prstGeom>
        </p:spPr>
      </p:pic>
      <p:pic>
        <p:nvPicPr>
          <p:cNvPr id="15" name="Picture 14">
            <a:extLst>
              <a:ext uri="{FF2B5EF4-FFF2-40B4-BE49-F238E27FC236}">
                <a16:creationId xmlns:a16="http://schemas.microsoft.com/office/drawing/2014/main" id="{6CB1C5A1-5BD1-4443-93C5-C732C9ED75D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672267" y="2978305"/>
            <a:ext cx="1569869" cy="1569869"/>
          </a:xfrm>
          <a:prstGeom prst="rect">
            <a:avLst/>
          </a:prstGeom>
        </p:spPr>
      </p:pic>
      <p:pic>
        <p:nvPicPr>
          <p:cNvPr id="16" name="Picture 15">
            <a:extLst>
              <a:ext uri="{FF2B5EF4-FFF2-40B4-BE49-F238E27FC236}">
                <a16:creationId xmlns:a16="http://schemas.microsoft.com/office/drawing/2014/main" id="{8667B1E9-59CF-411C-A0FE-26DFB409C7FD}"/>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501644" y="724782"/>
            <a:ext cx="3524434" cy="1879240"/>
          </a:xfrm>
          <a:prstGeom prst="rect">
            <a:avLst/>
          </a:prstGeom>
        </p:spPr>
      </p:pic>
      <p:pic>
        <p:nvPicPr>
          <p:cNvPr id="17" name="Picture 16">
            <a:extLst>
              <a:ext uri="{FF2B5EF4-FFF2-40B4-BE49-F238E27FC236}">
                <a16:creationId xmlns:a16="http://schemas.microsoft.com/office/drawing/2014/main" id="{5A3A59CA-97D4-4D85-9359-08EF416FD86C}"/>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4686294" y="2810269"/>
            <a:ext cx="1093475" cy="1923105"/>
          </a:xfrm>
          <a:prstGeom prst="rect">
            <a:avLst/>
          </a:prstGeom>
        </p:spPr>
      </p:pic>
      <p:pic>
        <p:nvPicPr>
          <p:cNvPr id="6" name="Picture 5">
            <a:extLst>
              <a:ext uri="{FF2B5EF4-FFF2-40B4-BE49-F238E27FC236}">
                <a16:creationId xmlns:a16="http://schemas.microsoft.com/office/drawing/2014/main" id="{57B9FEA8-F51B-430D-AC12-93C534C517F3}"/>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2781995" y="4915158"/>
            <a:ext cx="832702" cy="1708383"/>
          </a:xfrm>
          <a:prstGeom prst="rect">
            <a:avLst/>
          </a:prstGeom>
        </p:spPr>
      </p:pic>
    </p:spTree>
    <p:extLst>
      <p:ext uri="{BB962C8B-B14F-4D97-AF65-F5344CB8AC3E}">
        <p14:creationId xmlns:p14="http://schemas.microsoft.com/office/powerpoint/2010/main" val="694656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103455"/>
          </a:xfrm>
        </p:spPr>
        <p:txBody>
          <a:bodyPr>
            <a:noAutofit/>
          </a:bodyPr>
          <a:lstStyle/>
          <a:p>
            <a:pPr algn="ctr"/>
            <a:r>
              <a:rPr lang="en-US" sz="3200" dirty="0">
                <a:latin typeface="+mn-lt"/>
              </a:rPr>
              <a:t>Lab Goals</a:t>
            </a:r>
          </a:p>
        </p:txBody>
      </p:sp>
      <p:sp>
        <p:nvSpPr>
          <p:cNvPr id="3" name="Content Placeholder 2"/>
          <p:cNvSpPr>
            <a:spLocks noGrp="1"/>
          </p:cNvSpPr>
          <p:nvPr>
            <p:ph idx="1"/>
          </p:nvPr>
        </p:nvSpPr>
        <p:spPr>
          <a:xfrm>
            <a:off x="613019" y="1825625"/>
            <a:ext cx="8007349" cy="4840898"/>
          </a:xfrm>
        </p:spPr>
        <p:txBody>
          <a:bodyPr>
            <a:noAutofit/>
          </a:bodyPr>
          <a:lstStyle/>
          <a:p>
            <a:pPr>
              <a:spcBef>
                <a:spcPts val="0"/>
              </a:spcBef>
              <a:spcAft>
                <a:spcPts val="1200"/>
              </a:spcAft>
            </a:pPr>
            <a:r>
              <a:rPr lang="en-US" sz="2400" dirty="0"/>
              <a:t>Understand how the </a:t>
            </a:r>
            <a:r>
              <a:rPr lang="en-US" sz="2400" b="1" dirty="0">
                <a:solidFill>
                  <a:srgbClr val="0070C0"/>
                </a:solidFill>
              </a:rPr>
              <a:t>suffix sort </a:t>
            </a:r>
            <a:r>
              <a:rPr lang="en-US" sz="2400" dirty="0"/>
              <a:t>can help find the </a:t>
            </a:r>
            <a:r>
              <a:rPr lang="en-US" sz="2400" b="1" dirty="0"/>
              <a:t>longest repeated substring</a:t>
            </a:r>
            <a:r>
              <a:rPr lang="en-US" sz="2400" dirty="0"/>
              <a:t> (LRSS) in a sequence</a:t>
            </a:r>
          </a:p>
          <a:p>
            <a:pPr>
              <a:spcBef>
                <a:spcPts val="0"/>
              </a:spcBef>
              <a:spcAft>
                <a:spcPts val="1200"/>
              </a:spcAft>
            </a:pPr>
            <a:r>
              <a:rPr lang="en-US" sz="2400" dirty="0"/>
              <a:t>Consider the use of this algorithm in the realm of </a:t>
            </a:r>
            <a:r>
              <a:rPr lang="en-US" sz="2400" b="1" dirty="0">
                <a:solidFill>
                  <a:srgbClr val="FF0000"/>
                </a:solidFill>
              </a:rPr>
              <a:t>bioinformatics</a:t>
            </a:r>
            <a:r>
              <a:rPr lang="en-US" sz="2400" dirty="0"/>
              <a:t> and genetic sequence analysis</a:t>
            </a:r>
          </a:p>
          <a:p>
            <a:pPr>
              <a:spcBef>
                <a:spcPts val="0"/>
              </a:spcBef>
              <a:spcAft>
                <a:spcPts val="1200"/>
              </a:spcAft>
            </a:pPr>
            <a:r>
              <a:rPr lang="en-US" sz="2400" dirty="0"/>
              <a:t>Consider some interesting research questions that stem from using this algorithm to </a:t>
            </a:r>
            <a:r>
              <a:rPr lang="en-US" sz="2400" b="1" dirty="0"/>
              <a:t>explore DNA homologs</a:t>
            </a:r>
          </a:p>
          <a:p>
            <a:pPr>
              <a:spcBef>
                <a:spcPts val="0"/>
              </a:spcBef>
              <a:spcAft>
                <a:spcPts val="1200"/>
              </a:spcAft>
            </a:pPr>
            <a:r>
              <a:rPr lang="en-US" sz="2400" dirty="0"/>
              <a:t>Finding </a:t>
            </a:r>
            <a:r>
              <a:rPr lang="en-US" sz="2400" b="1" dirty="0">
                <a:solidFill>
                  <a:srgbClr val="00B050"/>
                </a:solidFill>
              </a:rPr>
              <a:t>Open Reading Frames </a:t>
            </a:r>
            <a:r>
              <a:rPr lang="en-US" sz="2400" dirty="0"/>
              <a:t>enables us to identify biologically active protein sequences encoded in DNA</a:t>
            </a:r>
          </a:p>
          <a:p>
            <a:pPr>
              <a:spcBef>
                <a:spcPts val="0"/>
              </a:spcBef>
              <a:spcAft>
                <a:spcPts val="1200"/>
              </a:spcAft>
            </a:pPr>
            <a:endParaRPr lang="en-US" sz="2400" dirty="0"/>
          </a:p>
        </p:txBody>
      </p:sp>
      <p:sp>
        <p:nvSpPr>
          <p:cNvPr id="4" name="Slide Number Placeholder 3"/>
          <p:cNvSpPr>
            <a:spLocks noGrp="1"/>
          </p:cNvSpPr>
          <p:nvPr>
            <p:ph type="sldNum" sz="quarter" idx="12"/>
          </p:nvPr>
        </p:nvSpPr>
        <p:spPr/>
        <p:txBody>
          <a:bodyPr/>
          <a:lstStyle/>
          <a:p>
            <a:fld id="{650AD656-6FF9-465D-B7B0-1CD0DD39CD23}" type="slidenum">
              <a:rPr lang="en-US" smtClean="0"/>
              <a:t>2</a:t>
            </a:fld>
            <a:endParaRPr lang="en-US" dirty="0"/>
          </a:p>
        </p:txBody>
      </p:sp>
    </p:spTree>
    <p:extLst>
      <p:ext uri="{BB962C8B-B14F-4D97-AF65-F5344CB8AC3E}">
        <p14:creationId xmlns:p14="http://schemas.microsoft.com/office/powerpoint/2010/main" val="1239064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103455"/>
          </a:xfrm>
        </p:spPr>
        <p:txBody>
          <a:bodyPr>
            <a:noAutofit/>
          </a:bodyPr>
          <a:lstStyle/>
          <a:p>
            <a:pPr algn="ctr"/>
            <a:r>
              <a:rPr lang="en-US" sz="3200" dirty="0">
                <a:latin typeface="+mn-lt"/>
              </a:rPr>
              <a:t>What is the Longest Repeated Substring?</a:t>
            </a:r>
          </a:p>
        </p:txBody>
      </p:sp>
      <p:sp>
        <p:nvSpPr>
          <p:cNvPr id="4" name="Slide Number Placeholder 3"/>
          <p:cNvSpPr>
            <a:spLocks noGrp="1"/>
          </p:cNvSpPr>
          <p:nvPr>
            <p:ph type="sldNum" sz="quarter" idx="12"/>
          </p:nvPr>
        </p:nvSpPr>
        <p:spPr/>
        <p:txBody>
          <a:bodyPr/>
          <a:lstStyle/>
          <a:p>
            <a:fld id="{650AD656-6FF9-465D-B7B0-1CD0DD39CD23}" type="slidenum">
              <a:rPr lang="en-US" smtClean="0"/>
              <a:t>3</a:t>
            </a:fld>
            <a:endParaRPr lang="en-US" dirty="0"/>
          </a:p>
        </p:txBody>
      </p:sp>
      <p:pic>
        <p:nvPicPr>
          <p:cNvPr id="6" name="Picture 5"/>
          <p:cNvPicPr>
            <a:picLocks noChangeAspect="1"/>
          </p:cNvPicPr>
          <p:nvPr/>
        </p:nvPicPr>
        <p:blipFill>
          <a:blip r:embed="rId3"/>
          <a:stretch>
            <a:fillRect/>
          </a:stretch>
        </p:blipFill>
        <p:spPr>
          <a:xfrm>
            <a:off x="1568321" y="2544700"/>
            <a:ext cx="6007358" cy="1370807"/>
          </a:xfrm>
          <a:prstGeom prst="rect">
            <a:avLst/>
          </a:prstGeom>
        </p:spPr>
      </p:pic>
    </p:spTree>
    <p:extLst>
      <p:ext uri="{BB962C8B-B14F-4D97-AF65-F5344CB8AC3E}">
        <p14:creationId xmlns:p14="http://schemas.microsoft.com/office/powerpoint/2010/main" val="3841139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103455"/>
          </a:xfrm>
        </p:spPr>
        <p:txBody>
          <a:bodyPr>
            <a:noAutofit/>
          </a:bodyPr>
          <a:lstStyle/>
          <a:p>
            <a:pPr algn="ctr"/>
            <a:r>
              <a:rPr lang="en-US" sz="3200" dirty="0">
                <a:latin typeface="+mn-lt"/>
              </a:rPr>
              <a:t>Step 1 - Form the Suffixes list</a:t>
            </a:r>
          </a:p>
        </p:txBody>
      </p:sp>
      <p:sp>
        <p:nvSpPr>
          <p:cNvPr id="4" name="Slide Number Placeholder 3"/>
          <p:cNvSpPr>
            <a:spLocks noGrp="1"/>
          </p:cNvSpPr>
          <p:nvPr>
            <p:ph type="sldNum" sz="quarter" idx="12"/>
          </p:nvPr>
        </p:nvSpPr>
        <p:spPr/>
        <p:txBody>
          <a:bodyPr/>
          <a:lstStyle/>
          <a:p>
            <a:fld id="{650AD656-6FF9-465D-B7B0-1CD0DD39CD23}" type="slidenum">
              <a:rPr lang="en-US" smtClean="0"/>
              <a:t>4</a:t>
            </a:fld>
            <a:endParaRPr lang="en-US" dirty="0"/>
          </a:p>
        </p:txBody>
      </p:sp>
      <p:pic>
        <p:nvPicPr>
          <p:cNvPr id="3" name="Picture 2"/>
          <p:cNvPicPr>
            <a:picLocks noChangeAspect="1"/>
          </p:cNvPicPr>
          <p:nvPr/>
        </p:nvPicPr>
        <p:blipFill>
          <a:blip r:embed="rId3"/>
          <a:stretch>
            <a:fillRect/>
          </a:stretch>
        </p:blipFill>
        <p:spPr>
          <a:xfrm>
            <a:off x="2087125" y="1625129"/>
            <a:ext cx="4969750" cy="4913784"/>
          </a:xfrm>
          <a:prstGeom prst="rect">
            <a:avLst/>
          </a:prstGeom>
        </p:spPr>
      </p:pic>
    </p:spTree>
    <p:extLst>
      <p:ext uri="{BB962C8B-B14F-4D97-AF65-F5344CB8AC3E}">
        <p14:creationId xmlns:p14="http://schemas.microsoft.com/office/powerpoint/2010/main" val="3583917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103455"/>
          </a:xfrm>
        </p:spPr>
        <p:txBody>
          <a:bodyPr>
            <a:noAutofit/>
          </a:bodyPr>
          <a:lstStyle/>
          <a:p>
            <a:pPr algn="ctr"/>
            <a:r>
              <a:rPr lang="en-US" sz="3200" dirty="0">
                <a:latin typeface="+mn-lt"/>
              </a:rPr>
              <a:t>Step 2 – Sort the Suffixes list</a:t>
            </a:r>
          </a:p>
        </p:txBody>
      </p:sp>
      <p:sp>
        <p:nvSpPr>
          <p:cNvPr id="4" name="Slide Number Placeholder 3"/>
          <p:cNvSpPr>
            <a:spLocks noGrp="1"/>
          </p:cNvSpPr>
          <p:nvPr>
            <p:ph type="sldNum" sz="quarter" idx="12"/>
          </p:nvPr>
        </p:nvSpPr>
        <p:spPr/>
        <p:txBody>
          <a:bodyPr/>
          <a:lstStyle/>
          <a:p>
            <a:fld id="{650AD656-6FF9-465D-B7B0-1CD0DD39CD23}" type="slidenum">
              <a:rPr lang="en-US" smtClean="0"/>
              <a:t>5</a:t>
            </a:fld>
            <a:endParaRPr lang="en-US" dirty="0"/>
          </a:p>
        </p:txBody>
      </p:sp>
      <p:pic>
        <p:nvPicPr>
          <p:cNvPr id="5" name="Picture 4"/>
          <p:cNvPicPr>
            <a:picLocks noChangeAspect="1"/>
          </p:cNvPicPr>
          <p:nvPr/>
        </p:nvPicPr>
        <p:blipFill>
          <a:blip r:embed="rId3"/>
          <a:stretch>
            <a:fillRect/>
          </a:stretch>
        </p:blipFill>
        <p:spPr>
          <a:xfrm>
            <a:off x="2086937" y="1664196"/>
            <a:ext cx="4970126" cy="4692155"/>
          </a:xfrm>
          <a:prstGeom prst="rect">
            <a:avLst/>
          </a:prstGeom>
        </p:spPr>
      </p:pic>
    </p:spTree>
    <p:extLst>
      <p:ext uri="{BB962C8B-B14F-4D97-AF65-F5344CB8AC3E}">
        <p14:creationId xmlns:p14="http://schemas.microsoft.com/office/powerpoint/2010/main" val="3761470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103455"/>
          </a:xfrm>
        </p:spPr>
        <p:txBody>
          <a:bodyPr>
            <a:noAutofit/>
          </a:bodyPr>
          <a:lstStyle/>
          <a:p>
            <a:pPr algn="ctr"/>
            <a:r>
              <a:rPr lang="en-US" sz="3200" dirty="0">
                <a:latin typeface="+mn-lt"/>
              </a:rPr>
              <a:t>Step 3 – Scan the Suffixes list</a:t>
            </a:r>
          </a:p>
        </p:txBody>
      </p:sp>
      <p:sp>
        <p:nvSpPr>
          <p:cNvPr id="4" name="Slide Number Placeholder 3"/>
          <p:cNvSpPr>
            <a:spLocks noGrp="1"/>
          </p:cNvSpPr>
          <p:nvPr>
            <p:ph type="sldNum" sz="quarter" idx="12"/>
          </p:nvPr>
        </p:nvSpPr>
        <p:spPr/>
        <p:txBody>
          <a:bodyPr/>
          <a:lstStyle/>
          <a:p>
            <a:fld id="{650AD656-6FF9-465D-B7B0-1CD0DD39CD23}" type="slidenum">
              <a:rPr lang="en-US" smtClean="0"/>
              <a:t>6</a:t>
            </a:fld>
            <a:endParaRPr lang="en-US" dirty="0"/>
          </a:p>
        </p:txBody>
      </p:sp>
      <p:pic>
        <p:nvPicPr>
          <p:cNvPr id="5" name="Picture 4"/>
          <p:cNvPicPr>
            <a:picLocks noChangeAspect="1"/>
          </p:cNvPicPr>
          <p:nvPr/>
        </p:nvPicPr>
        <p:blipFill>
          <a:blip r:embed="rId3"/>
          <a:stretch>
            <a:fillRect/>
          </a:stretch>
        </p:blipFill>
        <p:spPr>
          <a:xfrm>
            <a:off x="2086937" y="1664196"/>
            <a:ext cx="4970126" cy="4692155"/>
          </a:xfrm>
          <a:prstGeom prst="rect">
            <a:avLst/>
          </a:prstGeom>
        </p:spPr>
      </p:pic>
      <p:sp>
        <p:nvSpPr>
          <p:cNvPr id="6" name="Rectangle 5"/>
          <p:cNvSpPr/>
          <p:nvPr/>
        </p:nvSpPr>
        <p:spPr>
          <a:xfrm>
            <a:off x="2813538" y="2094523"/>
            <a:ext cx="468924" cy="554892"/>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413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103455"/>
          </a:xfrm>
        </p:spPr>
        <p:txBody>
          <a:bodyPr>
            <a:noAutofit/>
          </a:bodyPr>
          <a:lstStyle/>
          <a:p>
            <a:pPr algn="ctr"/>
            <a:r>
              <a:rPr lang="en-US" sz="3200" dirty="0">
                <a:latin typeface="+mn-lt"/>
              </a:rPr>
              <a:t>Step 3 – Scan the Suffixes list</a:t>
            </a:r>
          </a:p>
        </p:txBody>
      </p:sp>
      <p:sp>
        <p:nvSpPr>
          <p:cNvPr id="4" name="Slide Number Placeholder 3"/>
          <p:cNvSpPr>
            <a:spLocks noGrp="1"/>
          </p:cNvSpPr>
          <p:nvPr>
            <p:ph type="sldNum" sz="quarter" idx="12"/>
          </p:nvPr>
        </p:nvSpPr>
        <p:spPr/>
        <p:txBody>
          <a:bodyPr/>
          <a:lstStyle/>
          <a:p>
            <a:fld id="{650AD656-6FF9-465D-B7B0-1CD0DD39CD23}" type="slidenum">
              <a:rPr lang="en-US" smtClean="0"/>
              <a:t>7</a:t>
            </a:fld>
            <a:endParaRPr lang="en-US" dirty="0"/>
          </a:p>
        </p:txBody>
      </p:sp>
      <p:pic>
        <p:nvPicPr>
          <p:cNvPr id="5" name="Picture 4"/>
          <p:cNvPicPr>
            <a:picLocks noChangeAspect="1"/>
          </p:cNvPicPr>
          <p:nvPr/>
        </p:nvPicPr>
        <p:blipFill>
          <a:blip r:embed="rId3"/>
          <a:stretch>
            <a:fillRect/>
          </a:stretch>
        </p:blipFill>
        <p:spPr>
          <a:xfrm>
            <a:off x="2086937" y="1664196"/>
            <a:ext cx="4970126" cy="4692155"/>
          </a:xfrm>
          <a:prstGeom prst="rect">
            <a:avLst/>
          </a:prstGeom>
        </p:spPr>
      </p:pic>
      <p:sp>
        <p:nvSpPr>
          <p:cNvPr id="6" name="Rectangle 5"/>
          <p:cNvSpPr/>
          <p:nvPr/>
        </p:nvSpPr>
        <p:spPr>
          <a:xfrm>
            <a:off x="2836985" y="2328984"/>
            <a:ext cx="703384" cy="554892"/>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3777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103455"/>
          </a:xfrm>
        </p:spPr>
        <p:txBody>
          <a:bodyPr>
            <a:noAutofit/>
          </a:bodyPr>
          <a:lstStyle/>
          <a:p>
            <a:pPr algn="ctr"/>
            <a:r>
              <a:rPr lang="en-US" sz="3200" dirty="0">
                <a:latin typeface="+mn-lt"/>
              </a:rPr>
              <a:t>Step 3 – Scan the Suffixes list</a:t>
            </a:r>
          </a:p>
        </p:txBody>
      </p:sp>
      <p:sp>
        <p:nvSpPr>
          <p:cNvPr id="4" name="Slide Number Placeholder 3"/>
          <p:cNvSpPr>
            <a:spLocks noGrp="1"/>
          </p:cNvSpPr>
          <p:nvPr>
            <p:ph type="sldNum" sz="quarter" idx="12"/>
          </p:nvPr>
        </p:nvSpPr>
        <p:spPr/>
        <p:txBody>
          <a:bodyPr/>
          <a:lstStyle/>
          <a:p>
            <a:fld id="{650AD656-6FF9-465D-B7B0-1CD0DD39CD23}" type="slidenum">
              <a:rPr lang="en-US" smtClean="0"/>
              <a:t>8</a:t>
            </a:fld>
            <a:endParaRPr lang="en-US" dirty="0"/>
          </a:p>
        </p:txBody>
      </p:sp>
      <p:pic>
        <p:nvPicPr>
          <p:cNvPr id="5" name="Picture 4"/>
          <p:cNvPicPr>
            <a:picLocks noChangeAspect="1"/>
          </p:cNvPicPr>
          <p:nvPr/>
        </p:nvPicPr>
        <p:blipFill>
          <a:blip r:embed="rId3"/>
          <a:stretch>
            <a:fillRect/>
          </a:stretch>
        </p:blipFill>
        <p:spPr>
          <a:xfrm>
            <a:off x="2086937" y="1664196"/>
            <a:ext cx="4970126" cy="4692155"/>
          </a:xfrm>
          <a:prstGeom prst="rect">
            <a:avLst/>
          </a:prstGeom>
        </p:spPr>
      </p:pic>
      <p:sp>
        <p:nvSpPr>
          <p:cNvPr id="6" name="Rectangle 5"/>
          <p:cNvSpPr/>
          <p:nvPr/>
        </p:nvSpPr>
        <p:spPr>
          <a:xfrm>
            <a:off x="2805723" y="2891692"/>
            <a:ext cx="1227016" cy="554892"/>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3894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103455"/>
          </a:xfrm>
        </p:spPr>
        <p:txBody>
          <a:bodyPr>
            <a:noAutofit/>
          </a:bodyPr>
          <a:lstStyle/>
          <a:p>
            <a:pPr algn="ctr"/>
            <a:r>
              <a:rPr lang="en-US" sz="3200" dirty="0">
                <a:latin typeface="+mn-lt"/>
              </a:rPr>
              <a:t>Step 3 – Scan the Suffixes list</a:t>
            </a:r>
          </a:p>
        </p:txBody>
      </p:sp>
      <p:sp>
        <p:nvSpPr>
          <p:cNvPr id="4" name="Slide Number Placeholder 3"/>
          <p:cNvSpPr>
            <a:spLocks noGrp="1"/>
          </p:cNvSpPr>
          <p:nvPr>
            <p:ph type="sldNum" sz="quarter" idx="12"/>
          </p:nvPr>
        </p:nvSpPr>
        <p:spPr/>
        <p:txBody>
          <a:bodyPr/>
          <a:lstStyle/>
          <a:p>
            <a:fld id="{650AD656-6FF9-465D-B7B0-1CD0DD39CD23}" type="slidenum">
              <a:rPr lang="en-US" smtClean="0"/>
              <a:t>9</a:t>
            </a:fld>
            <a:endParaRPr lang="en-US" dirty="0"/>
          </a:p>
        </p:txBody>
      </p:sp>
      <p:pic>
        <p:nvPicPr>
          <p:cNvPr id="5" name="Picture 4"/>
          <p:cNvPicPr>
            <a:picLocks noChangeAspect="1"/>
          </p:cNvPicPr>
          <p:nvPr/>
        </p:nvPicPr>
        <p:blipFill>
          <a:blip r:embed="rId3"/>
          <a:stretch>
            <a:fillRect/>
          </a:stretch>
        </p:blipFill>
        <p:spPr>
          <a:xfrm>
            <a:off x="2086937" y="1664196"/>
            <a:ext cx="4970126" cy="4692155"/>
          </a:xfrm>
          <a:prstGeom prst="rect">
            <a:avLst/>
          </a:prstGeom>
        </p:spPr>
      </p:pic>
      <p:sp>
        <p:nvSpPr>
          <p:cNvPr id="6" name="Rectangle 5"/>
          <p:cNvSpPr/>
          <p:nvPr/>
        </p:nvSpPr>
        <p:spPr>
          <a:xfrm>
            <a:off x="2774462" y="3455381"/>
            <a:ext cx="539261" cy="55489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4617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103455"/>
          </a:xfrm>
        </p:spPr>
        <p:txBody>
          <a:bodyPr>
            <a:noAutofit/>
          </a:bodyPr>
          <a:lstStyle/>
          <a:p>
            <a:pPr algn="ctr"/>
            <a:r>
              <a:rPr lang="en-US" sz="3200" dirty="0">
                <a:latin typeface="+mn-lt"/>
              </a:rPr>
              <a:t>Step 3 – Scan the Suffixes list</a:t>
            </a:r>
          </a:p>
        </p:txBody>
      </p:sp>
      <p:sp>
        <p:nvSpPr>
          <p:cNvPr id="4" name="Slide Number Placeholder 3"/>
          <p:cNvSpPr>
            <a:spLocks noGrp="1"/>
          </p:cNvSpPr>
          <p:nvPr>
            <p:ph type="sldNum" sz="quarter" idx="12"/>
          </p:nvPr>
        </p:nvSpPr>
        <p:spPr/>
        <p:txBody>
          <a:bodyPr/>
          <a:lstStyle/>
          <a:p>
            <a:fld id="{650AD656-6FF9-465D-B7B0-1CD0DD39CD23}" type="slidenum">
              <a:rPr lang="en-US" smtClean="0"/>
              <a:t>10</a:t>
            </a:fld>
            <a:endParaRPr lang="en-US" dirty="0"/>
          </a:p>
        </p:txBody>
      </p:sp>
      <p:pic>
        <p:nvPicPr>
          <p:cNvPr id="5" name="Picture 4"/>
          <p:cNvPicPr>
            <a:picLocks noChangeAspect="1"/>
          </p:cNvPicPr>
          <p:nvPr/>
        </p:nvPicPr>
        <p:blipFill>
          <a:blip r:embed="rId3"/>
          <a:stretch>
            <a:fillRect/>
          </a:stretch>
        </p:blipFill>
        <p:spPr>
          <a:xfrm>
            <a:off x="2086937" y="1664196"/>
            <a:ext cx="4970126" cy="4692155"/>
          </a:xfrm>
          <a:prstGeom prst="rect">
            <a:avLst/>
          </a:prstGeom>
        </p:spPr>
      </p:pic>
      <p:sp>
        <p:nvSpPr>
          <p:cNvPr id="6" name="Rectangle 5"/>
          <p:cNvSpPr/>
          <p:nvPr/>
        </p:nvSpPr>
        <p:spPr>
          <a:xfrm>
            <a:off x="2758831" y="3955565"/>
            <a:ext cx="336061" cy="55489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7407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103455"/>
          </a:xfrm>
        </p:spPr>
        <p:txBody>
          <a:bodyPr>
            <a:noAutofit/>
          </a:bodyPr>
          <a:lstStyle/>
          <a:p>
            <a:pPr algn="ctr"/>
            <a:r>
              <a:rPr lang="en-US" sz="3200" dirty="0">
                <a:latin typeface="+mn-lt"/>
              </a:rPr>
              <a:t>Step 3 – Scan the Suffixes list</a:t>
            </a:r>
          </a:p>
        </p:txBody>
      </p:sp>
      <p:sp>
        <p:nvSpPr>
          <p:cNvPr id="4" name="Slide Number Placeholder 3"/>
          <p:cNvSpPr>
            <a:spLocks noGrp="1"/>
          </p:cNvSpPr>
          <p:nvPr>
            <p:ph type="sldNum" sz="quarter" idx="12"/>
          </p:nvPr>
        </p:nvSpPr>
        <p:spPr/>
        <p:txBody>
          <a:bodyPr/>
          <a:lstStyle/>
          <a:p>
            <a:fld id="{650AD656-6FF9-465D-B7B0-1CD0DD39CD23}" type="slidenum">
              <a:rPr lang="en-US" smtClean="0"/>
              <a:t>11</a:t>
            </a:fld>
            <a:endParaRPr lang="en-US" dirty="0"/>
          </a:p>
        </p:txBody>
      </p:sp>
      <p:pic>
        <p:nvPicPr>
          <p:cNvPr id="5" name="Picture 4"/>
          <p:cNvPicPr>
            <a:picLocks noChangeAspect="1"/>
          </p:cNvPicPr>
          <p:nvPr/>
        </p:nvPicPr>
        <p:blipFill>
          <a:blip r:embed="rId3"/>
          <a:stretch>
            <a:fillRect/>
          </a:stretch>
        </p:blipFill>
        <p:spPr>
          <a:xfrm>
            <a:off x="2086937" y="1664196"/>
            <a:ext cx="4970126" cy="4692155"/>
          </a:xfrm>
          <a:prstGeom prst="rect">
            <a:avLst/>
          </a:prstGeom>
        </p:spPr>
      </p:pic>
      <p:sp>
        <p:nvSpPr>
          <p:cNvPr id="6" name="Rectangle 5"/>
          <p:cNvSpPr/>
          <p:nvPr/>
        </p:nvSpPr>
        <p:spPr>
          <a:xfrm>
            <a:off x="2751016" y="5612427"/>
            <a:ext cx="547076" cy="55489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5030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103455"/>
          </a:xfrm>
        </p:spPr>
        <p:txBody>
          <a:bodyPr>
            <a:noAutofit/>
          </a:bodyPr>
          <a:lstStyle/>
          <a:p>
            <a:pPr algn="ctr"/>
            <a:r>
              <a:rPr lang="en-US" sz="3200" dirty="0">
                <a:latin typeface="+mn-lt"/>
              </a:rPr>
              <a:t>Step 3 – Scan the Suffixes list</a:t>
            </a:r>
          </a:p>
        </p:txBody>
      </p:sp>
      <p:sp>
        <p:nvSpPr>
          <p:cNvPr id="4" name="Slide Number Placeholder 3"/>
          <p:cNvSpPr>
            <a:spLocks noGrp="1"/>
          </p:cNvSpPr>
          <p:nvPr>
            <p:ph type="sldNum" sz="quarter" idx="12"/>
          </p:nvPr>
        </p:nvSpPr>
        <p:spPr/>
        <p:txBody>
          <a:bodyPr/>
          <a:lstStyle/>
          <a:p>
            <a:fld id="{650AD656-6FF9-465D-B7B0-1CD0DD39CD23}" type="slidenum">
              <a:rPr lang="en-US" smtClean="0"/>
              <a:t>12</a:t>
            </a:fld>
            <a:endParaRPr lang="en-US" dirty="0"/>
          </a:p>
        </p:txBody>
      </p:sp>
      <p:pic>
        <p:nvPicPr>
          <p:cNvPr id="5" name="Picture 4"/>
          <p:cNvPicPr>
            <a:picLocks noChangeAspect="1"/>
          </p:cNvPicPr>
          <p:nvPr/>
        </p:nvPicPr>
        <p:blipFill>
          <a:blip r:embed="rId3"/>
          <a:stretch>
            <a:fillRect/>
          </a:stretch>
        </p:blipFill>
        <p:spPr>
          <a:xfrm>
            <a:off x="2086937" y="1664196"/>
            <a:ext cx="4970126" cy="4692155"/>
          </a:xfrm>
          <a:prstGeom prst="rect">
            <a:avLst/>
          </a:prstGeom>
        </p:spPr>
      </p:pic>
      <p:sp>
        <p:nvSpPr>
          <p:cNvPr id="6" name="Rectangle 5"/>
          <p:cNvSpPr/>
          <p:nvPr/>
        </p:nvSpPr>
        <p:spPr>
          <a:xfrm>
            <a:off x="2805723" y="2891692"/>
            <a:ext cx="1227016" cy="554892"/>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4"/>
          <a:stretch>
            <a:fillRect/>
          </a:stretch>
        </p:blipFill>
        <p:spPr>
          <a:xfrm>
            <a:off x="4629439" y="3592879"/>
            <a:ext cx="4257143" cy="942857"/>
          </a:xfrm>
          <a:prstGeom prst="rect">
            <a:avLst/>
          </a:prstGeom>
        </p:spPr>
      </p:pic>
      <p:sp>
        <p:nvSpPr>
          <p:cNvPr id="7" name="Down Arrow 6"/>
          <p:cNvSpPr/>
          <p:nvPr/>
        </p:nvSpPr>
        <p:spPr>
          <a:xfrm rot="18799919">
            <a:off x="4037006" y="3335308"/>
            <a:ext cx="593969" cy="58767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0504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52F8EB5-6D1C-45B8-B9E4-7494A0635C3F}"/>
              </a:ext>
            </a:extLst>
          </p:cNvPr>
          <p:cNvPicPr>
            <a:picLocks noChangeAspect="1"/>
          </p:cNvPicPr>
          <p:nvPr/>
        </p:nvPicPr>
        <p:blipFill>
          <a:blip r:embed="rId3"/>
          <a:stretch>
            <a:fillRect/>
          </a:stretch>
        </p:blipFill>
        <p:spPr>
          <a:xfrm>
            <a:off x="5318522" y="3376859"/>
            <a:ext cx="2695167" cy="2227513"/>
          </a:xfrm>
          <a:prstGeom prst="rect">
            <a:avLst/>
          </a:prstGeom>
          <a:ln>
            <a:solidFill>
              <a:schemeClr val="tx1"/>
            </a:solidFill>
          </a:ln>
        </p:spPr>
      </p:pic>
      <p:pic>
        <p:nvPicPr>
          <p:cNvPr id="5" name="Picture 4">
            <a:extLst>
              <a:ext uri="{FF2B5EF4-FFF2-40B4-BE49-F238E27FC236}">
                <a16:creationId xmlns:a16="http://schemas.microsoft.com/office/drawing/2014/main" id="{72D352DF-7A3E-43F1-8696-F16C2CAFEFB2}"/>
              </a:ext>
            </a:extLst>
          </p:cNvPr>
          <p:cNvPicPr>
            <a:picLocks noChangeAspect="1"/>
          </p:cNvPicPr>
          <p:nvPr/>
        </p:nvPicPr>
        <p:blipFill>
          <a:blip r:embed="rId4"/>
          <a:stretch>
            <a:fillRect/>
          </a:stretch>
        </p:blipFill>
        <p:spPr>
          <a:xfrm>
            <a:off x="286106" y="1800428"/>
            <a:ext cx="3991725" cy="4320158"/>
          </a:xfrm>
          <a:prstGeom prst="rect">
            <a:avLst/>
          </a:prstGeom>
          <a:ln>
            <a:solidFill>
              <a:schemeClr val="tx1"/>
            </a:solidFill>
          </a:ln>
        </p:spPr>
      </p:pic>
      <p:sp>
        <p:nvSpPr>
          <p:cNvPr id="4" name="Slide Number Placeholder 3"/>
          <p:cNvSpPr>
            <a:spLocks noGrp="1"/>
          </p:cNvSpPr>
          <p:nvPr>
            <p:ph type="sldNum" sz="quarter" idx="12"/>
          </p:nvPr>
        </p:nvSpPr>
        <p:spPr/>
        <p:txBody>
          <a:bodyPr/>
          <a:lstStyle/>
          <a:p>
            <a:fld id="{650AD656-6FF9-465D-B7B0-1CD0DD39CD23}" type="slidenum">
              <a:rPr lang="en-US" smtClean="0"/>
              <a:t>13</a:t>
            </a:fld>
            <a:endParaRPr lang="en-US" dirty="0"/>
          </a:p>
        </p:txBody>
      </p:sp>
      <p:sp>
        <p:nvSpPr>
          <p:cNvPr id="11" name="Title 1"/>
          <p:cNvSpPr>
            <a:spLocks noGrp="1"/>
          </p:cNvSpPr>
          <p:nvPr>
            <p:ph type="title"/>
          </p:nvPr>
        </p:nvSpPr>
        <p:spPr>
          <a:xfrm>
            <a:off x="628650" y="365126"/>
            <a:ext cx="7886700" cy="1103455"/>
          </a:xfrm>
        </p:spPr>
        <p:txBody>
          <a:bodyPr>
            <a:noAutofit/>
          </a:bodyPr>
          <a:lstStyle/>
          <a:p>
            <a:pPr algn="ctr"/>
            <a:r>
              <a:rPr lang="en-US" sz="3200" b="1" dirty="0">
                <a:solidFill>
                  <a:srgbClr val="0070C0"/>
                </a:solidFill>
                <a:latin typeface="+mn-lt"/>
              </a:rPr>
              <a:t>Open</a:t>
            </a:r>
            <a:r>
              <a:rPr lang="en-US" sz="3200" dirty="0">
                <a:latin typeface="+mn-lt"/>
              </a:rPr>
              <a:t> </a:t>
            </a:r>
            <a:r>
              <a:rPr lang="en-US" sz="3200" dirty="0" err="1">
                <a:latin typeface="+mn-lt"/>
              </a:rPr>
              <a:t>start_dna_homologs.ipynb</a:t>
            </a:r>
            <a:endParaRPr lang="en-US" sz="3200" dirty="0">
              <a:latin typeface="+mn-lt"/>
            </a:endParaRPr>
          </a:p>
        </p:txBody>
      </p:sp>
      <p:grpSp>
        <p:nvGrpSpPr>
          <p:cNvPr id="9" name="Group 8">
            <a:extLst>
              <a:ext uri="{FF2B5EF4-FFF2-40B4-BE49-F238E27FC236}">
                <a16:creationId xmlns:a16="http://schemas.microsoft.com/office/drawing/2014/main" id="{DE96F44E-2B18-4263-A3F4-B9E20ECCE5CA}"/>
              </a:ext>
            </a:extLst>
          </p:cNvPr>
          <p:cNvGrpSpPr/>
          <p:nvPr/>
        </p:nvGrpSpPr>
        <p:grpSpPr>
          <a:xfrm>
            <a:off x="1898059" y="2375365"/>
            <a:ext cx="1076632" cy="369332"/>
            <a:chOff x="4968362" y="2079211"/>
            <a:chExt cx="1076632" cy="369332"/>
          </a:xfrm>
        </p:grpSpPr>
        <p:cxnSp>
          <p:nvCxnSpPr>
            <p:cNvPr id="12" name="Straight Arrow Connector 11">
              <a:extLst>
                <a:ext uri="{FF2B5EF4-FFF2-40B4-BE49-F238E27FC236}">
                  <a16:creationId xmlns:a16="http://schemas.microsoft.com/office/drawing/2014/main" id="{50736C14-A7DD-4D92-80FB-C560AC4478E5}"/>
                </a:ext>
              </a:extLst>
            </p:cNvPr>
            <p:cNvCxnSpPr>
              <a:cxnSpLocks/>
            </p:cNvCxnSpPr>
            <p:nvPr/>
          </p:nvCxnSpPr>
          <p:spPr>
            <a:xfrm flipH="1">
              <a:off x="4968362" y="2263877"/>
              <a:ext cx="69317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FD81381-078A-471A-89E6-D3C30DE94701}"/>
                </a:ext>
              </a:extLst>
            </p:cNvPr>
            <p:cNvSpPr txBox="1"/>
            <p:nvPr/>
          </p:nvSpPr>
          <p:spPr>
            <a:xfrm>
              <a:off x="5661536" y="2079211"/>
              <a:ext cx="383458" cy="369332"/>
            </a:xfrm>
            <a:prstGeom prst="rect">
              <a:avLst/>
            </a:prstGeom>
            <a:noFill/>
          </p:spPr>
          <p:txBody>
            <a:bodyPr wrap="square" rtlCol="0">
              <a:spAutoFit/>
            </a:bodyPr>
            <a:lstStyle/>
            <a:p>
              <a:r>
                <a:rPr lang="en-US" dirty="0">
                  <a:ln>
                    <a:solidFill>
                      <a:srgbClr val="FF0000"/>
                    </a:solidFill>
                  </a:ln>
                  <a:solidFill>
                    <a:srgbClr val="FF0000"/>
                  </a:solidFill>
                  <a:sym typeface="Wingdings" panose="05000000000000000000" pitchFamily="2" charset="2"/>
                </a:rPr>
                <a:t></a:t>
              </a:r>
              <a:endParaRPr lang="en-US" dirty="0">
                <a:ln>
                  <a:solidFill>
                    <a:srgbClr val="FF0000"/>
                  </a:solidFill>
                </a:ln>
                <a:solidFill>
                  <a:srgbClr val="FF0000"/>
                </a:solidFill>
              </a:endParaRPr>
            </a:p>
          </p:txBody>
        </p:sp>
      </p:grpSp>
      <p:grpSp>
        <p:nvGrpSpPr>
          <p:cNvPr id="14" name="Group 13">
            <a:extLst>
              <a:ext uri="{FF2B5EF4-FFF2-40B4-BE49-F238E27FC236}">
                <a16:creationId xmlns:a16="http://schemas.microsoft.com/office/drawing/2014/main" id="{C17BC60A-29B9-4893-85D2-9CA8E77DDF5A}"/>
              </a:ext>
            </a:extLst>
          </p:cNvPr>
          <p:cNvGrpSpPr/>
          <p:nvPr/>
        </p:nvGrpSpPr>
        <p:grpSpPr>
          <a:xfrm>
            <a:off x="3249992" y="2809658"/>
            <a:ext cx="1076632" cy="369332"/>
            <a:chOff x="4704120" y="2356972"/>
            <a:chExt cx="1076632" cy="369332"/>
          </a:xfrm>
        </p:grpSpPr>
        <p:cxnSp>
          <p:nvCxnSpPr>
            <p:cNvPr id="15" name="Straight Arrow Connector 14">
              <a:extLst>
                <a:ext uri="{FF2B5EF4-FFF2-40B4-BE49-F238E27FC236}">
                  <a16:creationId xmlns:a16="http://schemas.microsoft.com/office/drawing/2014/main" id="{AA0A07F7-1ED3-4039-BEC9-86697EF65DF3}"/>
                </a:ext>
              </a:extLst>
            </p:cNvPr>
            <p:cNvCxnSpPr>
              <a:cxnSpLocks/>
            </p:cNvCxnSpPr>
            <p:nvPr/>
          </p:nvCxnSpPr>
          <p:spPr>
            <a:xfrm flipH="1">
              <a:off x="4704120" y="2541638"/>
              <a:ext cx="69317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849F950-FD05-4FE7-98A5-1F52B7D8F16B}"/>
                </a:ext>
              </a:extLst>
            </p:cNvPr>
            <p:cNvSpPr txBox="1"/>
            <p:nvPr/>
          </p:nvSpPr>
          <p:spPr>
            <a:xfrm>
              <a:off x="5397294" y="2356972"/>
              <a:ext cx="383458" cy="369332"/>
            </a:xfrm>
            <a:prstGeom prst="rect">
              <a:avLst/>
            </a:prstGeom>
            <a:noFill/>
          </p:spPr>
          <p:txBody>
            <a:bodyPr wrap="square" rtlCol="0">
              <a:spAutoFit/>
            </a:bodyPr>
            <a:lstStyle/>
            <a:p>
              <a:r>
                <a:rPr lang="en-US" dirty="0">
                  <a:ln>
                    <a:solidFill>
                      <a:srgbClr val="FF0000"/>
                    </a:solidFill>
                  </a:ln>
                  <a:solidFill>
                    <a:srgbClr val="FF0000"/>
                  </a:solidFill>
                  <a:sym typeface="Wingdings" panose="05000000000000000000" pitchFamily="2" charset="2"/>
                </a:rPr>
                <a:t></a:t>
              </a:r>
              <a:endParaRPr lang="en-US" dirty="0">
                <a:ln>
                  <a:solidFill>
                    <a:srgbClr val="FF0000"/>
                  </a:solidFill>
                </a:ln>
                <a:solidFill>
                  <a:srgbClr val="FF0000"/>
                </a:solidFill>
              </a:endParaRPr>
            </a:p>
          </p:txBody>
        </p:sp>
      </p:grpSp>
      <p:grpSp>
        <p:nvGrpSpPr>
          <p:cNvPr id="17" name="Group 16">
            <a:extLst>
              <a:ext uri="{FF2B5EF4-FFF2-40B4-BE49-F238E27FC236}">
                <a16:creationId xmlns:a16="http://schemas.microsoft.com/office/drawing/2014/main" id="{BAE43632-AC1E-4459-BBF7-B190C50F9606}"/>
              </a:ext>
            </a:extLst>
          </p:cNvPr>
          <p:cNvGrpSpPr/>
          <p:nvPr/>
        </p:nvGrpSpPr>
        <p:grpSpPr>
          <a:xfrm>
            <a:off x="2941900" y="4605117"/>
            <a:ext cx="1064340" cy="369332"/>
            <a:chOff x="3647644" y="5421073"/>
            <a:chExt cx="1064340" cy="369332"/>
          </a:xfrm>
        </p:grpSpPr>
        <p:sp>
          <p:nvSpPr>
            <p:cNvPr id="18" name="TextBox 17">
              <a:extLst>
                <a:ext uri="{FF2B5EF4-FFF2-40B4-BE49-F238E27FC236}">
                  <a16:creationId xmlns:a16="http://schemas.microsoft.com/office/drawing/2014/main" id="{F9CD1A74-A8A6-408A-8071-89EAB098F654}"/>
                </a:ext>
              </a:extLst>
            </p:cNvPr>
            <p:cNvSpPr txBox="1"/>
            <p:nvPr/>
          </p:nvSpPr>
          <p:spPr>
            <a:xfrm>
              <a:off x="4328526" y="5421073"/>
              <a:ext cx="383458" cy="369332"/>
            </a:xfrm>
            <a:prstGeom prst="rect">
              <a:avLst/>
            </a:prstGeom>
            <a:noFill/>
          </p:spPr>
          <p:txBody>
            <a:bodyPr wrap="square" rtlCol="0">
              <a:spAutoFit/>
            </a:bodyPr>
            <a:lstStyle/>
            <a:p>
              <a:r>
                <a:rPr lang="en-US" dirty="0">
                  <a:ln>
                    <a:solidFill>
                      <a:srgbClr val="FF0000"/>
                    </a:solidFill>
                  </a:ln>
                  <a:solidFill>
                    <a:srgbClr val="FF0000"/>
                  </a:solidFill>
                  <a:sym typeface="Wingdings" panose="05000000000000000000" pitchFamily="2" charset="2"/>
                </a:rPr>
                <a:t></a:t>
              </a:r>
              <a:endParaRPr lang="en-US" dirty="0">
                <a:ln>
                  <a:solidFill>
                    <a:srgbClr val="FF0000"/>
                  </a:solidFill>
                </a:ln>
                <a:solidFill>
                  <a:srgbClr val="FF0000"/>
                </a:solidFill>
              </a:endParaRPr>
            </a:p>
          </p:txBody>
        </p:sp>
        <p:cxnSp>
          <p:nvCxnSpPr>
            <p:cNvPr id="19" name="Straight Arrow Connector 18">
              <a:extLst>
                <a:ext uri="{FF2B5EF4-FFF2-40B4-BE49-F238E27FC236}">
                  <a16:creationId xmlns:a16="http://schemas.microsoft.com/office/drawing/2014/main" id="{AEA4A090-DD6F-4C80-957A-B931B2F047BC}"/>
                </a:ext>
              </a:extLst>
            </p:cNvPr>
            <p:cNvCxnSpPr>
              <a:cxnSpLocks/>
            </p:cNvCxnSpPr>
            <p:nvPr/>
          </p:nvCxnSpPr>
          <p:spPr>
            <a:xfrm flipH="1">
              <a:off x="3647644" y="5594437"/>
              <a:ext cx="69317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181FE6B6-08F1-47C7-98BE-180F0F636C56}"/>
              </a:ext>
            </a:extLst>
          </p:cNvPr>
          <p:cNvGrpSpPr/>
          <p:nvPr/>
        </p:nvGrpSpPr>
        <p:grpSpPr>
          <a:xfrm>
            <a:off x="2041941" y="3458980"/>
            <a:ext cx="899959" cy="369332"/>
            <a:chOff x="3647644" y="4910075"/>
            <a:chExt cx="899959" cy="369332"/>
          </a:xfrm>
        </p:grpSpPr>
        <p:sp>
          <p:nvSpPr>
            <p:cNvPr id="21" name="TextBox 20">
              <a:extLst>
                <a:ext uri="{FF2B5EF4-FFF2-40B4-BE49-F238E27FC236}">
                  <a16:creationId xmlns:a16="http://schemas.microsoft.com/office/drawing/2014/main" id="{E76E2FDA-2347-4BFE-8C90-12E63EC6213C}"/>
                </a:ext>
              </a:extLst>
            </p:cNvPr>
            <p:cNvSpPr txBox="1"/>
            <p:nvPr/>
          </p:nvSpPr>
          <p:spPr>
            <a:xfrm>
              <a:off x="4164145" y="4910075"/>
              <a:ext cx="383458" cy="369332"/>
            </a:xfrm>
            <a:prstGeom prst="rect">
              <a:avLst/>
            </a:prstGeom>
            <a:noFill/>
          </p:spPr>
          <p:txBody>
            <a:bodyPr wrap="square" rtlCol="0">
              <a:spAutoFit/>
            </a:bodyPr>
            <a:lstStyle/>
            <a:p>
              <a:r>
                <a:rPr lang="en-US" dirty="0">
                  <a:ln>
                    <a:solidFill>
                      <a:srgbClr val="FF0000"/>
                    </a:solidFill>
                  </a:ln>
                  <a:solidFill>
                    <a:srgbClr val="FF0000"/>
                  </a:solidFill>
                  <a:sym typeface="Wingdings" panose="05000000000000000000" pitchFamily="2" charset="2"/>
                </a:rPr>
                <a:t></a:t>
              </a:r>
              <a:endParaRPr lang="en-US" dirty="0">
                <a:ln>
                  <a:solidFill>
                    <a:srgbClr val="FF0000"/>
                  </a:solidFill>
                </a:ln>
                <a:solidFill>
                  <a:srgbClr val="FF0000"/>
                </a:solidFill>
              </a:endParaRPr>
            </a:p>
          </p:txBody>
        </p:sp>
        <p:cxnSp>
          <p:nvCxnSpPr>
            <p:cNvPr id="22" name="Straight Arrow Connector 21">
              <a:extLst>
                <a:ext uri="{FF2B5EF4-FFF2-40B4-BE49-F238E27FC236}">
                  <a16:creationId xmlns:a16="http://schemas.microsoft.com/office/drawing/2014/main" id="{570E31FD-CA9A-4FA3-9D22-C6A1F8AAD439}"/>
                </a:ext>
              </a:extLst>
            </p:cNvPr>
            <p:cNvCxnSpPr>
              <a:cxnSpLocks/>
            </p:cNvCxnSpPr>
            <p:nvPr/>
          </p:nvCxnSpPr>
          <p:spPr>
            <a:xfrm flipH="1">
              <a:off x="3647644" y="5094741"/>
              <a:ext cx="53124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302B1555-8B3A-4994-9913-0810A7970ECA}"/>
              </a:ext>
            </a:extLst>
          </p:cNvPr>
          <p:cNvGrpSpPr/>
          <p:nvPr/>
        </p:nvGrpSpPr>
        <p:grpSpPr>
          <a:xfrm>
            <a:off x="7490204" y="3754088"/>
            <a:ext cx="839245" cy="369332"/>
            <a:chOff x="3647644" y="5356391"/>
            <a:chExt cx="839245" cy="369332"/>
          </a:xfrm>
        </p:grpSpPr>
        <p:sp>
          <p:nvSpPr>
            <p:cNvPr id="24" name="TextBox 23">
              <a:extLst>
                <a:ext uri="{FF2B5EF4-FFF2-40B4-BE49-F238E27FC236}">
                  <a16:creationId xmlns:a16="http://schemas.microsoft.com/office/drawing/2014/main" id="{71345CA3-3210-4098-9D6E-62D765401CA4}"/>
                </a:ext>
              </a:extLst>
            </p:cNvPr>
            <p:cNvSpPr txBox="1"/>
            <p:nvPr/>
          </p:nvSpPr>
          <p:spPr>
            <a:xfrm>
              <a:off x="4103431" y="5356391"/>
              <a:ext cx="383458" cy="369332"/>
            </a:xfrm>
            <a:prstGeom prst="rect">
              <a:avLst/>
            </a:prstGeom>
            <a:noFill/>
          </p:spPr>
          <p:txBody>
            <a:bodyPr wrap="square" rtlCol="0">
              <a:spAutoFit/>
            </a:bodyPr>
            <a:lstStyle/>
            <a:p>
              <a:r>
                <a:rPr lang="en-US" dirty="0">
                  <a:ln>
                    <a:solidFill>
                      <a:srgbClr val="FF0000"/>
                    </a:solidFill>
                  </a:ln>
                  <a:solidFill>
                    <a:srgbClr val="FF0000"/>
                  </a:solidFill>
                  <a:sym typeface="Wingdings" panose="05000000000000000000" pitchFamily="2" charset="2"/>
                </a:rPr>
                <a:t></a:t>
              </a:r>
              <a:endParaRPr lang="en-US" dirty="0">
                <a:ln>
                  <a:solidFill>
                    <a:srgbClr val="FF0000"/>
                  </a:solidFill>
                </a:ln>
                <a:solidFill>
                  <a:srgbClr val="FF0000"/>
                </a:solidFill>
              </a:endParaRPr>
            </a:p>
          </p:txBody>
        </p:sp>
        <p:cxnSp>
          <p:nvCxnSpPr>
            <p:cNvPr id="25" name="Straight Arrow Connector 24">
              <a:extLst>
                <a:ext uri="{FF2B5EF4-FFF2-40B4-BE49-F238E27FC236}">
                  <a16:creationId xmlns:a16="http://schemas.microsoft.com/office/drawing/2014/main" id="{1B7D241F-50BE-4BF9-83C9-743C1CEE5C20}"/>
                </a:ext>
              </a:extLst>
            </p:cNvPr>
            <p:cNvCxnSpPr>
              <a:cxnSpLocks/>
            </p:cNvCxnSpPr>
            <p:nvPr/>
          </p:nvCxnSpPr>
          <p:spPr>
            <a:xfrm flipH="1" flipV="1">
              <a:off x="3647644" y="5541057"/>
              <a:ext cx="455787" cy="276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25C990C3-BE62-4C90-9227-A0FC6AF2A2ED}"/>
              </a:ext>
            </a:extLst>
          </p:cNvPr>
          <p:cNvGrpSpPr/>
          <p:nvPr/>
        </p:nvGrpSpPr>
        <p:grpSpPr>
          <a:xfrm>
            <a:off x="7363724" y="4593815"/>
            <a:ext cx="814541" cy="369332"/>
            <a:chOff x="2157212" y="5378555"/>
            <a:chExt cx="814541" cy="369332"/>
          </a:xfrm>
        </p:grpSpPr>
        <p:sp>
          <p:nvSpPr>
            <p:cNvPr id="27" name="TextBox 26">
              <a:extLst>
                <a:ext uri="{FF2B5EF4-FFF2-40B4-BE49-F238E27FC236}">
                  <a16:creationId xmlns:a16="http://schemas.microsoft.com/office/drawing/2014/main" id="{3E22DC8F-C585-4B79-9360-FEBDD33BC019}"/>
                </a:ext>
              </a:extLst>
            </p:cNvPr>
            <p:cNvSpPr txBox="1"/>
            <p:nvPr/>
          </p:nvSpPr>
          <p:spPr>
            <a:xfrm>
              <a:off x="2588295" y="5378555"/>
              <a:ext cx="383458" cy="369332"/>
            </a:xfrm>
            <a:prstGeom prst="rect">
              <a:avLst/>
            </a:prstGeom>
            <a:noFill/>
          </p:spPr>
          <p:txBody>
            <a:bodyPr wrap="square" rtlCol="0">
              <a:spAutoFit/>
            </a:bodyPr>
            <a:lstStyle/>
            <a:p>
              <a:r>
                <a:rPr lang="en-US" dirty="0">
                  <a:ln>
                    <a:solidFill>
                      <a:srgbClr val="FF0000"/>
                    </a:solidFill>
                  </a:ln>
                  <a:solidFill>
                    <a:srgbClr val="FF0000"/>
                  </a:solidFill>
                  <a:sym typeface="Wingdings" panose="05000000000000000000" pitchFamily="2" charset="2"/>
                </a:rPr>
                <a:t></a:t>
              </a:r>
              <a:endParaRPr lang="en-US" dirty="0">
                <a:ln>
                  <a:solidFill>
                    <a:srgbClr val="FF0000"/>
                  </a:solidFill>
                </a:ln>
                <a:solidFill>
                  <a:srgbClr val="FF0000"/>
                </a:solidFill>
              </a:endParaRPr>
            </a:p>
          </p:txBody>
        </p:sp>
        <p:cxnSp>
          <p:nvCxnSpPr>
            <p:cNvPr id="28" name="Straight Arrow Connector 27">
              <a:extLst>
                <a:ext uri="{FF2B5EF4-FFF2-40B4-BE49-F238E27FC236}">
                  <a16:creationId xmlns:a16="http://schemas.microsoft.com/office/drawing/2014/main" id="{BD618A4F-99EB-4ECA-BF5A-1FD557F1DAAC}"/>
                </a:ext>
              </a:extLst>
            </p:cNvPr>
            <p:cNvCxnSpPr>
              <a:cxnSpLocks/>
            </p:cNvCxnSpPr>
            <p:nvPr/>
          </p:nvCxnSpPr>
          <p:spPr>
            <a:xfrm flipH="1">
              <a:off x="2157212" y="5545146"/>
              <a:ext cx="46058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9622BB95-DFB1-4DE2-B054-F1074BBAD78A}"/>
              </a:ext>
            </a:extLst>
          </p:cNvPr>
          <p:cNvGrpSpPr/>
          <p:nvPr/>
        </p:nvGrpSpPr>
        <p:grpSpPr>
          <a:xfrm>
            <a:off x="6904396" y="5040049"/>
            <a:ext cx="1064340" cy="369332"/>
            <a:chOff x="3647644" y="5421073"/>
            <a:chExt cx="1064340" cy="369332"/>
          </a:xfrm>
        </p:grpSpPr>
        <p:sp>
          <p:nvSpPr>
            <p:cNvPr id="34" name="TextBox 33">
              <a:extLst>
                <a:ext uri="{FF2B5EF4-FFF2-40B4-BE49-F238E27FC236}">
                  <a16:creationId xmlns:a16="http://schemas.microsoft.com/office/drawing/2014/main" id="{D4D4075B-E770-4E37-AAEF-286855AB460F}"/>
                </a:ext>
              </a:extLst>
            </p:cNvPr>
            <p:cNvSpPr txBox="1"/>
            <p:nvPr/>
          </p:nvSpPr>
          <p:spPr>
            <a:xfrm>
              <a:off x="4328526" y="5421073"/>
              <a:ext cx="383458" cy="369332"/>
            </a:xfrm>
            <a:prstGeom prst="rect">
              <a:avLst/>
            </a:prstGeom>
            <a:noFill/>
          </p:spPr>
          <p:txBody>
            <a:bodyPr wrap="square" rtlCol="0">
              <a:spAutoFit/>
            </a:bodyPr>
            <a:lstStyle/>
            <a:p>
              <a:r>
                <a:rPr lang="en-US" dirty="0">
                  <a:ln>
                    <a:solidFill>
                      <a:srgbClr val="FF0000"/>
                    </a:solidFill>
                  </a:ln>
                  <a:solidFill>
                    <a:srgbClr val="FF0000"/>
                  </a:solidFill>
                  <a:sym typeface="Wingdings" panose="05000000000000000000" pitchFamily="2" charset="2"/>
                </a:rPr>
                <a:t></a:t>
              </a:r>
              <a:endParaRPr lang="en-US" dirty="0">
                <a:ln>
                  <a:solidFill>
                    <a:srgbClr val="FF0000"/>
                  </a:solidFill>
                </a:ln>
                <a:solidFill>
                  <a:srgbClr val="FF0000"/>
                </a:solidFill>
              </a:endParaRPr>
            </a:p>
          </p:txBody>
        </p:sp>
        <p:cxnSp>
          <p:nvCxnSpPr>
            <p:cNvPr id="35" name="Straight Arrow Connector 34">
              <a:extLst>
                <a:ext uri="{FF2B5EF4-FFF2-40B4-BE49-F238E27FC236}">
                  <a16:creationId xmlns:a16="http://schemas.microsoft.com/office/drawing/2014/main" id="{3DEA4D85-E54A-4A7D-AD56-438D3F546C7B}"/>
                </a:ext>
              </a:extLst>
            </p:cNvPr>
            <p:cNvCxnSpPr>
              <a:cxnSpLocks/>
            </p:cNvCxnSpPr>
            <p:nvPr/>
          </p:nvCxnSpPr>
          <p:spPr>
            <a:xfrm flipH="1">
              <a:off x="3647644" y="5594437"/>
              <a:ext cx="69317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103112D0-5C54-4E4C-BB34-FD0714A34B51}"/>
              </a:ext>
            </a:extLst>
          </p:cNvPr>
          <p:cNvGrpSpPr/>
          <p:nvPr/>
        </p:nvGrpSpPr>
        <p:grpSpPr>
          <a:xfrm>
            <a:off x="4007970" y="5190561"/>
            <a:ext cx="1064340" cy="369332"/>
            <a:chOff x="3647644" y="5421073"/>
            <a:chExt cx="1064340" cy="369332"/>
          </a:xfrm>
        </p:grpSpPr>
        <p:sp>
          <p:nvSpPr>
            <p:cNvPr id="37" name="TextBox 36">
              <a:extLst>
                <a:ext uri="{FF2B5EF4-FFF2-40B4-BE49-F238E27FC236}">
                  <a16:creationId xmlns:a16="http://schemas.microsoft.com/office/drawing/2014/main" id="{4EB6ABB2-0E0A-4CA7-92C3-9F919EF913B7}"/>
                </a:ext>
              </a:extLst>
            </p:cNvPr>
            <p:cNvSpPr txBox="1"/>
            <p:nvPr/>
          </p:nvSpPr>
          <p:spPr>
            <a:xfrm>
              <a:off x="4328526" y="5421073"/>
              <a:ext cx="383458" cy="369332"/>
            </a:xfrm>
            <a:prstGeom prst="rect">
              <a:avLst/>
            </a:prstGeom>
            <a:noFill/>
          </p:spPr>
          <p:txBody>
            <a:bodyPr wrap="square" rtlCol="0">
              <a:spAutoFit/>
            </a:bodyPr>
            <a:lstStyle/>
            <a:p>
              <a:r>
                <a:rPr lang="en-US" dirty="0">
                  <a:ln>
                    <a:solidFill>
                      <a:srgbClr val="FF0000"/>
                    </a:solidFill>
                  </a:ln>
                  <a:solidFill>
                    <a:srgbClr val="FF0000"/>
                  </a:solidFill>
                  <a:sym typeface="Wingdings" panose="05000000000000000000" pitchFamily="2" charset="2"/>
                </a:rPr>
                <a:t></a:t>
              </a:r>
              <a:endParaRPr lang="en-US" dirty="0">
                <a:ln>
                  <a:solidFill>
                    <a:srgbClr val="FF0000"/>
                  </a:solidFill>
                </a:ln>
                <a:solidFill>
                  <a:srgbClr val="FF0000"/>
                </a:solidFill>
              </a:endParaRPr>
            </a:p>
          </p:txBody>
        </p:sp>
        <p:cxnSp>
          <p:nvCxnSpPr>
            <p:cNvPr id="38" name="Straight Arrow Connector 37">
              <a:extLst>
                <a:ext uri="{FF2B5EF4-FFF2-40B4-BE49-F238E27FC236}">
                  <a16:creationId xmlns:a16="http://schemas.microsoft.com/office/drawing/2014/main" id="{ADAC29AB-426A-41C5-ADD9-359D7B247D4E}"/>
                </a:ext>
              </a:extLst>
            </p:cNvPr>
            <p:cNvCxnSpPr>
              <a:cxnSpLocks/>
            </p:cNvCxnSpPr>
            <p:nvPr/>
          </p:nvCxnSpPr>
          <p:spPr>
            <a:xfrm flipH="1">
              <a:off x="3647644" y="5594437"/>
              <a:ext cx="69317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9AE64856-06C8-4EE2-A6BE-A4D70562E24A}"/>
              </a:ext>
            </a:extLst>
          </p:cNvPr>
          <p:cNvGrpSpPr/>
          <p:nvPr/>
        </p:nvGrpSpPr>
        <p:grpSpPr>
          <a:xfrm>
            <a:off x="2045215" y="5828597"/>
            <a:ext cx="1064340" cy="369332"/>
            <a:chOff x="3647644" y="5421073"/>
            <a:chExt cx="1064340" cy="369332"/>
          </a:xfrm>
        </p:grpSpPr>
        <p:sp>
          <p:nvSpPr>
            <p:cNvPr id="40" name="TextBox 39">
              <a:extLst>
                <a:ext uri="{FF2B5EF4-FFF2-40B4-BE49-F238E27FC236}">
                  <a16:creationId xmlns:a16="http://schemas.microsoft.com/office/drawing/2014/main" id="{291BD521-2FFA-4353-9F7D-9BE61ED57933}"/>
                </a:ext>
              </a:extLst>
            </p:cNvPr>
            <p:cNvSpPr txBox="1"/>
            <p:nvPr/>
          </p:nvSpPr>
          <p:spPr>
            <a:xfrm>
              <a:off x="4328526" y="5421073"/>
              <a:ext cx="383458" cy="369332"/>
            </a:xfrm>
            <a:prstGeom prst="rect">
              <a:avLst/>
            </a:prstGeom>
            <a:noFill/>
          </p:spPr>
          <p:txBody>
            <a:bodyPr wrap="square" rtlCol="0">
              <a:spAutoFit/>
            </a:bodyPr>
            <a:lstStyle/>
            <a:p>
              <a:r>
                <a:rPr lang="en-US" dirty="0">
                  <a:ln>
                    <a:solidFill>
                      <a:srgbClr val="FF0000"/>
                    </a:solidFill>
                  </a:ln>
                  <a:solidFill>
                    <a:srgbClr val="FF0000"/>
                  </a:solidFill>
                  <a:sym typeface="Wingdings" panose="05000000000000000000" pitchFamily="2" charset="2"/>
                </a:rPr>
                <a:t></a:t>
              </a:r>
              <a:endParaRPr lang="en-US" dirty="0">
                <a:ln>
                  <a:solidFill>
                    <a:srgbClr val="FF0000"/>
                  </a:solidFill>
                </a:ln>
                <a:solidFill>
                  <a:srgbClr val="FF0000"/>
                </a:solidFill>
              </a:endParaRPr>
            </a:p>
          </p:txBody>
        </p:sp>
        <p:cxnSp>
          <p:nvCxnSpPr>
            <p:cNvPr id="41" name="Straight Arrow Connector 40">
              <a:extLst>
                <a:ext uri="{FF2B5EF4-FFF2-40B4-BE49-F238E27FC236}">
                  <a16:creationId xmlns:a16="http://schemas.microsoft.com/office/drawing/2014/main" id="{F0C01B21-D86E-42AF-8A2D-4D81ED1D90A2}"/>
                </a:ext>
              </a:extLst>
            </p:cNvPr>
            <p:cNvCxnSpPr>
              <a:cxnSpLocks/>
            </p:cNvCxnSpPr>
            <p:nvPr/>
          </p:nvCxnSpPr>
          <p:spPr>
            <a:xfrm flipH="1">
              <a:off x="3647644" y="5594437"/>
              <a:ext cx="69317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2" name="Rectangle 41">
            <a:extLst>
              <a:ext uri="{FF2B5EF4-FFF2-40B4-BE49-F238E27FC236}">
                <a16:creationId xmlns:a16="http://schemas.microsoft.com/office/drawing/2014/main" id="{041AE113-A6FC-41FF-9490-FCE7E112AC10}"/>
              </a:ext>
            </a:extLst>
          </p:cNvPr>
          <p:cNvSpPr/>
          <p:nvPr/>
        </p:nvSpPr>
        <p:spPr>
          <a:xfrm>
            <a:off x="2097397" y="5040049"/>
            <a:ext cx="1222196" cy="20053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97A2952-331D-409A-9642-BDB37B3D7A8A}"/>
              </a:ext>
            </a:extLst>
          </p:cNvPr>
          <p:cNvSpPr/>
          <p:nvPr/>
        </p:nvSpPr>
        <p:spPr>
          <a:xfrm>
            <a:off x="5673776" y="3443110"/>
            <a:ext cx="509667" cy="20053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Connector: Elbow 44">
            <a:extLst>
              <a:ext uri="{FF2B5EF4-FFF2-40B4-BE49-F238E27FC236}">
                <a16:creationId xmlns:a16="http://schemas.microsoft.com/office/drawing/2014/main" id="{5711C743-06E0-4E9B-A41A-11DB3211E2FB}"/>
              </a:ext>
            </a:extLst>
          </p:cNvPr>
          <p:cNvCxnSpPr>
            <a:cxnSpLocks/>
            <a:stCxn id="42" idx="3"/>
            <a:endCxn id="43" idx="0"/>
          </p:cNvCxnSpPr>
          <p:nvPr/>
        </p:nvCxnSpPr>
        <p:spPr>
          <a:xfrm flipV="1">
            <a:off x="3319593" y="3443110"/>
            <a:ext cx="2609017" cy="1697207"/>
          </a:xfrm>
          <a:prstGeom prst="bentConnector4">
            <a:avLst>
              <a:gd name="adj1" fmla="val 45116"/>
              <a:gd name="adj2" fmla="val 113469"/>
            </a:avLst>
          </a:prstGeom>
          <a:ln w="38100">
            <a:solidFill>
              <a:srgbClr val="7030A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6745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righ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righ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righ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anim calcmode="lin" valueType="num">
                                      <p:cBhvr>
                                        <p:cTn id="27" dur="500" fill="hold"/>
                                        <p:tgtEl>
                                          <p:spTgt spid="42"/>
                                        </p:tgtEl>
                                        <p:attrNameLst>
                                          <p:attrName>ppt_w</p:attrName>
                                        </p:attrNameLst>
                                      </p:cBhvr>
                                      <p:tavLst>
                                        <p:tav tm="0">
                                          <p:val>
                                            <p:fltVal val="0"/>
                                          </p:val>
                                        </p:tav>
                                        <p:tav tm="100000">
                                          <p:val>
                                            <p:strVal val="#ppt_w"/>
                                          </p:val>
                                        </p:tav>
                                      </p:tavLst>
                                    </p:anim>
                                    <p:anim calcmode="lin" valueType="num">
                                      <p:cBhvr>
                                        <p:cTn id="28" dur="500" fill="hold"/>
                                        <p:tgtEl>
                                          <p:spTgt spid="42"/>
                                        </p:tgtEl>
                                        <p:attrNameLst>
                                          <p:attrName>ppt_h</p:attrName>
                                        </p:attrNameLst>
                                      </p:cBhvr>
                                      <p:tavLst>
                                        <p:tav tm="0">
                                          <p:val>
                                            <p:fltVal val="0"/>
                                          </p:val>
                                        </p:tav>
                                        <p:tav tm="100000">
                                          <p:val>
                                            <p:strVal val="#ppt_h"/>
                                          </p:val>
                                        </p:tav>
                                      </p:tavLst>
                                    </p:anim>
                                    <p:animEffect transition="in" filter="fade">
                                      <p:cBhvr>
                                        <p:cTn id="29" dur="500"/>
                                        <p:tgtEl>
                                          <p:spTgt spid="42"/>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wipe(left)">
                                      <p:cBhvr>
                                        <p:cTn id="33" dur="500"/>
                                        <p:tgtEl>
                                          <p:spTgt spid="45"/>
                                        </p:tgtEl>
                                      </p:cBhvr>
                                    </p:animEffect>
                                  </p:childTnLst>
                                </p:cTn>
                              </p:par>
                            </p:childTnLst>
                          </p:cTn>
                        </p:par>
                        <p:par>
                          <p:cTn id="34" fill="hold">
                            <p:stCondLst>
                              <p:cond delay="1000"/>
                            </p:stCondLst>
                            <p:childTnLst>
                              <p:par>
                                <p:cTn id="35" presetID="22" presetClass="entr" presetSubtype="1" fill="hold" nodeType="after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up)">
                                      <p:cBhvr>
                                        <p:cTn id="37" dur="500"/>
                                        <p:tgtEl>
                                          <p:spTgt spid="6"/>
                                        </p:tgtEl>
                                      </p:cBhvr>
                                    </p:animEffect>
                                  </p:childTnLst>
                                </p:cTn>
                              </p:par>
                            </p:childTnLst>
                          </p:cTn>
                        </p:par>
                        <p:par>
                          <p:cTn id="38" fill="hold">
                            <p:stCondLst>
                              <p:cond delay="1500"/>
                            </p:stCondLst>
                            <p:childTnLst>
                              <p:par>
                                <p:cTn id="39" presetID="53" presetClass="entr" presetSubtype="16" fill="hold" grpId="0" nodeType="afterEffect">
                                  <p:stCondLst>
                                    <p:cond delay="0"/>
                                  </p:stCondLst>
                                  <p:childTnLst>
                                    <p:set>
                                      <p:cBhvr>
                                        <p:cTn id="40" dur="1" fill="hold">
                                          <p:stCondLst>
                                            <p:cond delay="0"/>
                                          </p:stCondLst>
                                        </p:cTn>
                                        <p:tgtEl>
                                          <p:spTgt spid="43"/>
                                        </p:tgtEl>
                                        <p:attrNameLst>
                                          <p:attrName>style.visibility</p:attrName>
                                        </p:attrNameLst>
                                      </p:cBhvr>
                                      <p:to>
                                        <p:strVal val="visible"/>
                                      </p:to>
                                    </p:set>
                                    <p:anim calcmode="lin" valueType="num">
                                      <p:cBhvr>
                                        <p:cTn id="41" dur="500" fill="hold"/>
                                        <p:tgtEl>
                                          <p:spTgt spid="43"/>
                                        </p:tgtEl>
                                        <p:attrNameLst>
                                          <p:attrName>ppt_w</p:attrName>
                                        </p:attrNameLst>
                                      </p:cBhvr>
                                      <p:tavLst>
                                        <p:tav tm="0">
                                          <p:val>
                                            <p:fltVal val="0"/>
                                          </p:val>
                                        </p:tav>
                                        <p:tav tm="100000">
                                          <p:val>
                                            <p:strVal val="#ppt_w"/>
                                          </p:val>
                                        </p:tav>
                                      </p:tavLst>
                                    </p:anim>
                                    <p:anim calcmode="lin" valueType="num">
                                      <p:cBhvr>
                                        <p:cTn id="42" dur="500" fill="hold"/>
                                        <p:tgtEl>
                                          <p:spTgt spid="43"/>
                                        </p:tgtEl>
                                        <p:attrNameLst>
                                          <p:attrName>ppt_h</p:attrName>
                                        </p:attrNameLst>
                                      </p:cBhvr>
                                      <p:tavLst>
                                        <p:tav tm="0">
                                          <p:val>
                                            <p:fltVal val="0"/>
                                          </p:val>
                                        </p:tav>
                                        <p:tav tm="100000">
                                          <p:val>
                                            <p:strVal val="#ppt_h"/>
                                          </p:val>
                                        </p:tav>
                                      </p:tavLst>
                                    </p:anim>
                                    <p:animEffect transition="in" filter="fade">
                                      <p:cBhvr>
                                        <p:cTn id="43" dur="500"/>
                                        <p:tgtEl>
                                          <p:spTgt spid="4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nodeType="click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wipe(right)">
                                      <p:cBhvr>
                                        <p:cTn id="48" dur="500"/>
                                        <p:tgtEl>
                                          <p:spTgt spid="2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nodeType="click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wipe(right)">
                                      <p:cBhvr>
                                        <p:cTn id="53" dur="50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2" fill="hold" nodeType="click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wipe(right)">
                                      <p:cBhvr>
                                        <p:cTn id="58" dur="500"/>
                                        <p:tgtEl>
                                          <p:spTgt spid="3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2" fill="hold" nodeType="click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wipe(right)">
                                      <p:cBhvr>
                                        <p:cTn id="63" dur="500"/>
                                        <p:tgtEl>
                                          <p:spTgt spid="36"/>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2" fill="hold" nodeType="clickEffect">
                                  <p:stCondLst>
                                    <p:cond delay="0"/>
                                  </p:stCondLst>
                                  <p:childTnLst>
                                    <p:set>
                                      <p:cBhvr>
                                        <p:cTn id="67" dur="1" fill="hold">
                                          <p:stCondLst>
                                            <p:cond delay="0"/>
                                          </p:stCondLst>
                                        </p:cTn>
                                        <p:tgtEl>
                                          <p:spTgt spid="39"/>
                                        </p:tgtEl>
                                        <p:attrNameLst>
                                          <p:attrName>style.visibility</p:attrName>
                                        </p:attrNameLst>
                                      </p:cBhvr>
                                      <p:to>
                                        <p:strVal val="visible"/>
                                      </p:to>
                                    </p:set>
                                    <p:animEffect transition="in" filter="wipe(right)">
                                      <p:cBhvr>
                                        <p:cTn id="6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FADEF5F-D0AF-4060-B6C1-997937AC31CF}"/>
              </a:ext>
            </a:extLst>
          </p:cNvPr>
          <p:cNvPicPr>
            <a:picLocks noChangeAspect="1"/>
          </p:cNvPicPr>
          <p:nvPr/>
        </p:nvPicPr>
        <p:blipFill>
          <a:blip r:embed="rId3"/>
          <a:stretch>
            <a:fillRect/>
          </a:stretch>
        </p:blipFill>
        <p:spPr>
          <a:xfrm>
            <a:off x="2042084" y="1661908"/>
            <a:ext cx="5827391" cy="2579109"/>
          </a:xfrm>
          <a:prstGeom prst="rect">
            <a:avLst/>
          </a:prstGeom>
          <a:ln>
            <a:solidFill>
              <a:schemeClr val="tx1"/>
            </a:solidFill>
          </a:ln>
        </p:spPr>
      </p:pic>
      <p:sp>
        <p:nvSpPr>
          <p:cNvPr id="4" name="Slide Number Placeholder 3"/>
          <p:cNvSpPr>
            <a:spLocks noGrp="1"/>
          </p:cNvSpPr>
          <p:nvPr>
            <p:ph type="sldNum" sz="quarter" idx="12"/>
          </p:nvPr>
        </p:nvSpPr>
        <p:spPr/>
        <p:txBody>
          <a:bodyPr/>
          <a:lstStyle/>
          <a:p>
            <a:fld id="{650AD656-6FF9-465D-B7B0-1CD0DD39CD23}" type="slidenum">
              <a:rPr lang="en-US" smtClean="0"/>
              <a:t>14</a:t>
            </a:fld>
            <a:endParaRPr lang="en-US" dirty="0"/>
          </a:p>
        </p:txBody>
      </p:sp>
      <p:sp>
        <p:nvSpPr>
          <p:cNvPr id="11" name="Title 1"/>
          <p:cNvSpPr>
            <a:spLocks noGrp="1"/>
          </p:cNvSpPr>
          <p:nvPr>
            <p:ph type="title"/>
          </p:nvPr>
        </p:nvSpPr>
        <p:spPr>
          <a:xfrm>
            <a:off x="628650" y="365126"/>
            <a:ext cx="7886700" cy="1103455"/>
          </a:xfrm>
        </p:spPr>
        <p:txBody>
          <a:bodyPr>
            <a:noAutofit/>
          </a:bodyPr>
          <a:lstStyle/>
          <a:p>
            <a:pPr algn="ctr"/>
            <a:r>
              <a:rPr lang="en-US" sz="3200" b="1" dirty="0">
                <a:solidFill>
                  <a:srgbClr val="00B050"/>
                </a:solidFill>
                <a:latin typeface="+mn-lt"/>
              </a:rPr>
              <a:t>Run</a:t>
            </a:r>
            <a:r>
              <a:rPr lang="en-US" sz="3200" dirty="0">
                <a:latin typeface="+mn-lt"/>
              </a:rPr>
              <a:t> Cell 01 – Find LRSS</a:t>
            </a:r>
          </a:p>
        </p:txBody>
      </p:sp>
      <p:grpSp>
        <p:nvGrpSpPr>
          <p:cNvPr id="9" name="Group 8">
            <a:extLst>
              <a:ext uri="{FF2B5EF4-FFF2-40B4-BE49-F238E27FC236}">
                <a16:creationId xmlns:a16="http://schemas.microsoft.com/office/drawing/2014/main" id="{DE96F44E-2B18-4263-A3F4-B9E20ECCE5CA}"/>
              </a:ext>
            </a:extLst>
          </p:cNvPr>
          <p:cNvGrpSpPr/>
          <p:nvPr/>
        </p:nvGrpSpPr>
        <p:grpSpPr>
          <a:xfrm>
            <a:off x="5325769" y="2059220"/>
            <a:ext cx="1076632" cy="369332"/>
            <a:chOff x="4968362" y="2079211"/>
            <a:chExt cx="1076632" cy="369332"/>
          </a:xfrm>
        </p:grpSpPr>
        <p:cxnSp>
          <p:nvCxnSpPr>
            <p:cNvPr id="12" name="Straight Arrow Connector 11">
              <a:extLst>
                <a:ext uri="{FF2B5EF4-FFF2-40B4-BE49-F238E27FC236}">
                  <a16:creationId xmlns:a16="http://schemas.microsoft.com/office/drawing/2014/main" id="{50736C14-A7DD-4D92-80FB-C560AC4478E5}"/>
                </a:ext>
              </a:extLst>
            </p:cNvPr>
            <p:cNvCxnSpPr>
              <a:cxnSpLocks/>
            </p:cNvCxnSpPr>
            <p:nvPr/>
          </p:nvCxnSpPr>
          <p:spPr>
            <a:xfrm flipH="1">
              <a:off x="4968362" y="2263877"/>
              <a:ext cx="69317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FD81381-078A-471A-89E6-D3C30DE94701}"/>
                </a:ext>
              </a:extLst>
            </p:cNvPr>
            <p:cNvSpPr txBox="1"/>
            <p:nvPr/>
          </p:nvSpPr>
          <p:spPr>
            <a:xfrm>
              <a:off x="5661536" y="2079211"/>
              <a:ext cx="383458" cy="369332"/>
            </a:xfrm>
            <a:prstGeom prst="rect">
              <a:avLst/>
            </a:prstGeom>
            <a:noFill/>
          </p:spPr>
          <p:txBody>
            <a:bodyPr wrap="square" rtlCol="0">
              <a:spAutoFit/>
            </a:bodyPr>
            <a:lstStyle/>
            <a:p>
              <a:r>
                <a:rPr lang="en-US" dirty="0">
                  <a:ln>
                    <a:solidFill>
                      <a:srgbClr val="FF0000"/>
                    </a:solidFill>
                  </a:ln>
                  <a:solidFill>
                    <a:srgbClr val="FF0000"/>
                  </a:solidFill>
                  <a:sym typeface="Wingdings" panose="05000000000000000000" pitchFamily="2" charset="2"/>
                </a:rPr>
                <a:t></a:t>
              </a:r>
              <a:endParaRPr lang="en-US" dirty="0">
                <a:ln>
                  <a:solidFill>
                    <a:srgbClr val="FF0000"/>
                  </a:solidFill>
                </a:ln>
                <a:solidFill>
                  <a:srgbClr val="FF0000"/>
                </a:solidFill>
              </a:endParaRPr>
            </a:p>
          </p:txBody>
        </p:sp>
      </p:grpSp>
      <p:grpSp>
        <p:nvGrpSpPr>
          <p:cNvPr id="14" name="Group 13">
            <a:extLst>
              <a:ext uri="{FF2B5EF4-FFF2-40B4-BE49-F238E27FC236}">
                <a16:creationId xmlns:a16="http://schemas.microsoft.com/office/drawing/2014/main" id="{C17BC60A-29B9-4893-85D2-9CA8E77DDF5A}"/>
              </a:ext>
            </a:extLst>
          </p:cNvPr>
          <p:cNvGrpSpPr/>
          <p:nvPr/>
        </p:nvGrpSpPr>
        <p:grpSpPr>
          <a:xfrm>
            <a:off x="2924682" y="3871685"/>
            <a:ext cx="1076632" cy="369332"/>
            <a:chOff x="4704120" y="2356972"/>
            <a:chExt cx="1076632" cy="369332"/>
          </a:xfrm>
        </p:grpSpPr>
        <p:cxnSp>
          <p:nvCxnSpPr>
            <p:cNvPr id="15" name="Straight Arrow Connector 14">
              <a:extLst>
                <a:ext uri="{FF2B5EF4-FFF2-40B4-BE49-F238E27FC236}">
                  <a16:creationId xmlns:a16="http://schemas.microsoft.com/office/drawing/2014/main" id="{AA0A07F7-1ED3-4039-BEC9-86697EF65DF3}"/>
                </a:ext>
              </a:extLst>
            </p:cNvPr>
            <p:cNvCxnSpPr>
              <a:cxnSpLocks/>
            </p:cNvCxnSpPr>
            <p:nvPr/>
          </p:nvCxnSpPr>
          <p:spPr>
            <a:xfrm flipH="1">
              <a:off x="4704120" y="2541638"/>
              <a:ext cx="69317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849F950-FD05-4FE7-98A5-1F52B7D8F16B}"/>
                </a:ext>
              </a:extLst>
            </p:cNvPr>
            <p:cNvSpPr txBox="1"/>
            <p:nvPr/>
          </p:nvSpPr>
          <p:spPr>
            <a:xfrm>
              <a:off x="5397294" y="2356972"/>
              <a:ext cx="383458" cy="369332"/>
            </a:xfrm>
            <a:prstGeom prst="rect">
              <a:avLst/>
            </a:prstGeom>
            <a:noFill/>
          </p:spPr>
          <p:txBody>
            <a:bodyPr wrap="square" rtlCol="0">
              <a:spAutoFit/>
            </a:bodyPr>
            <a:lstStyle/>
            <a:p>
              <a:r>
                <a:rPr lang="en-US" dirty="0">
                  <a:ln>
                    <a:solidFill>
                      <a:srgbClr val="FF0000"/>
                    </a:solidFill>
                  </a:ln>
                  <a:solidFill>
                    <a:srgbClr val="FF0000"/>
                  </a:solidFill>
                  <a:sym typeface="Wingdings" panose="05000000000000000000" pitchFamily="2" charset="2"/>
                </a:rPr>
                <a:t></a:t>
              </a:r>
              <a:endParaRPr lang="en-US" dirty="0">
                <a:ln>
                  <a:solidFill>
                    <a:srgbClr val="FF0000"/>
                  </a:solidFill>
                </a:ln>
                <a:solidFill>
                  <a:srgbClr val="FF0000"/>
                </a:solidFill>
              </a:endParaRPr>
            </a:p>
          </p:txBody>
        </p:sp>
      </p:grpSp>
      <p:grpSp>
        <p:nvGrpSpPr>
          <p:cNvPr id="55" name="Group 54">
            <a:extLst>
              <a:ext uri="{FF2B5EF4-FFF2-40B4-BE49-F238E27FC236}">
                <a16:creationId xmlns:a16="http://schemas.microsoft.com/office/drawing/2014/main" id="{2DA482D9-F6BB-4735-9D7E-731BED962C5E}"/>
              </a:ext>
            </a:extLst>
          </p:cNvPr>
          <p:cNvGrpSpPr/>
          <p:nvPr/>
        </p:nvGrpSpPr>
        <p:grpSpPr>
          <a:xfrm>
            <a:off x="1982634" y="4769048"/>
            <a:ext cx="6007358" cy="1370807"/>
            <a:chOff x="1568320" y="1856255"/>
            <a:chExt cx="6007358" cy="1370807"/>
          </a:xfrm>
        </p:grpSpPr>
        <p:pic>
          <p:nvPicPr>
            <p:cNvPr id="57" name="Picture 56">
              <a:extLst>
                <a:ext uri="{FF2B5EF4-FFF2-40B4-BE49-F238E27FC236}">
                  <a16:creationId xmlns:a16="http://schemas.microsoft.com/office/drawing/2014/main" id="{DFBC194B-7FFD-4D67-AE34-8855501D82FB}"/>
                </a:ext>
              </a:extLst>
            </p:cNvPr>
            <p:cNvPicPr>
              <a:picLocks noChangeAspect="1"/>
            </p:cNvPicPr>
            <p:nvPr/>
          </p:nvPicPr>
          <p:blipFill>
            <a:blip r:embed="rId4"/>
            <a:stretch>
              <a:fillRect/>
            </a:stretch>
          </p:blipFill>
          <p:spPr>
            <a:xfrm>
              <a:off x="1568320" y="1856255"/>
              <a:ext cx="6007358" cy="1370807"/>
            </a:xfrm>
            <a:prstGeom prst="rect">
              <a:avLst/>
            </a:prstGeom>
          </p:spPr>
        </p:pic>
        <p:sp>
          <p:nvSpPr>
            <p:cNvPr id="58" name="Rectangle 57">
              <a:extLst>
                <a:ext uri="{FF2B5EF4-FFF2-40B4-BE49-F238E27FC236}">
                  <a16:creationId xmlns:a16="http://schemas.microsoft.com/office/drawing/2014/main" id="{600D124C-F5CF-412F-B192-443D7D37F621}"/>
                </a:ext>
              </a:extLst>
            </p:cNvPr>
            <p:cNvSpPr/>
            <p:nvPr/>
          </p:nvSpPr>
          <p:spPr>
            <a:xfrm>
              <a:off x="2728685" y="2764711"/>
              <a:ext cx="1465944" cy="3413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4BB43F11-601F-43CF-A1F4-30B55CAEB64B}"/>
                </a:ext>
              </a:extLst>
            </p:cNvPr>
            <p:cNvSpPr/>
            <p:nvPr/>
          </p:nvSpPr>
          <p:spPr>
            <a:xfrm>
              <a:off x="5115896" y="2757454"/>
              <a:ext cx="1465944" cy="3413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05388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500"/>
                                        <p:tgtEl>
                                          <p:spTgt spid="9"/>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right)">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wipe(up)">
                                      <p:cBhvr>
                                        <p:cTn id="20"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091D18-345C-4FDC-995D-FF167BB888AE}"/>
              </a:ext>
            </a:extLst>
          </p:cNvPr>
          <p:cNvPicPr>
            <a:picLocks noChangeAspect="1"/>
          </p:cNvPicPr>
          <p:nvPr/>
        </p:nvPicPr>
        <p:blipFill>
          <a:blip r:embed="rId3"/>
          <a:stretch>
            <a:fillRect/>
          </a:stretch>
        </p:blipFill>
        <p:spPr>
          <a:xfrm>
            <a:off x="1653608" y="1737817"/>
            <a:ext cx="5836779" cy="4719865"/>
          </a:xfrm>
          <a:prstGeom prst="rect">
            <a:avLst/>
          </a:prstGeom>
          <a:ln>
            <a:solidFill>
              <a:schemeClr val="tx1"/>
            </a:solidFill>
          </a:ln>
        </p:spPr>
      </p:pic>
      <p:sp>
        <p:nvSpPr>
          <p:cNvPr id="4" name="Slide Number Placeholder 3"/>
          <p:cNvSpPr>
            <a:spLocks noGrp="1"/>
          </p:cNvSpPr>
          <p:nvPr>
            <p:ph type="sldNum" sz="quarter" idx="12"/>
          </p:nvPr>
        </p:nvSpPr>
        <p:spPr/>
        <p:txBody>
          <a:bodyPr/>
          <a:lstStyle/>
          <a:p>
            <a:fld id="{650AD656-6FF9-465D-B7B0-1CD0DD39CD23}" type="slidenum">
              <a:rPr lang="en-US" smtClean="0"/>
              <a:t>15</a:t>
            </a:fld>
            <a:endParaRPr lang="en-US" dirty="0"/>
          </a:p>
        </p:txBody>
      </p:sp>
      <p:sp>
        <p:nvSpPr>
          <p:cNvPr id="11" name="Title 1"/>
          <p:cNvSpPr>
            <a:spLocks noGrp="1"/>
          </p:cNvSpPr>
          <p:nvPr>
            <p:ph type="title"/>
          </p:nvPr>
        </p:nvSpPr>
        <p:spPr>
          <a:xfrm>
            <a:off x="628650" y="365126"/>
            <a:ext cx="7886700" cy="1103455"/>
          </a:xfrm>
        </p:spPr>
        <p:txBody>
          <a:bodyPr>
            <a:noAutofit/>
          </a:bodyPr>
          <a:lstStyle/>
          <a:p>
            <a:pPr algn="ctr"/>
            <a:r>
              <a:rPr lang="en-US" sz="3200" b="1" dirty="0">
                <a:solidFill>
                  <a:srgbClr val="0070C0"/>
                </a:solidFill>
                <a:latin typeface="+mn-lt"/>
              </a:rPr>
              <a:t>Sequence Homology</a:t>
            </a:r>
            <a:endParaRPr lang="en-US" sz="3200" dirty="0">
              <a:latin typeface="+mn-lt"/>
            </a:endParaRPr>
          </a:p>
        </p:txBody>
      </p:sp>
      <p:sp>
        <p:nvSpPr>
          <p:cNvPr id="9" name="TextBox 8"/>
          <p:cNvSpPr txBox="1"/>
          <p:nvPr/>
        </p:nvSpPr>
        <p:spPr>
          <a:xfrm>
            <a:off x="1268265" y="1242742"/>
            <a:ext cx="6607467" cy="369332"/>
          </a:xfrm>
          <a:prstGeom prst="rect">
            <a:avLst/>
          </a:prstGeom>
          <a:noFill/>
        </p:spPr>
        <p:txBody>
          <a:bodyPr wrap="square" rtlCol="0">
            <a:spAutoFit/>
          </a:bodyPr>
          <a:lstStyle/>
          <a:p>
            <a:pPr algn="ctr"/>
            <a:r>
              <a:rPr lang="en-US" dirty="0">
                <a:hlinkClick r:id="rId4"/>
              </a:rPr>
              <a:t>http://www.fruitfly.org/sequence/download.html</a:t>
            </a:r>
            <a:endParaRPr lang="en-US" dirty="0"/>
          </a:p>
        </p:txBody>
      </p:sp>
      <p:sp>
        <p:nvSpPr>
          <p:cNvPr id="14" name="Rectangle 13"/>
          <p:cNvSpPr/>
          <p:nvPr/>
        </p:nvSpPr>
        <p:spPr>
          <a:xfrm>
            <a:off x="3373304" y="3986524"/>
            <a:ext cx="2851358" cy="400110"/>
          </a:xfrm>
          <a:prstGeom prst="rect">
            <a:avLst/>
          </a:prstGeom>
          <a:solidFill>
            <a:schemeClr val="bg1"/>
          </a:solidFill>
          <a:ln w="28575">
            <a:solidFill>
              <a:srgbClr val="FF0000"/>
            </a:solidFill>
          </a:ln>
        </p:spPr>
        <p:txBody>
          <a:bodyPr wrap="none">
            <a:spAutoFit/>
          </a:bodyPr>
          <a:lstStyle/>
          <a:p>
            <a:r>
              <a:rPr lang="en-US" sz="2000" b="1" dirty="0">
                <a:solidFill>
                  <a:srgbClr val="FF0000"/>
                </a:solidFill>
              </a:rPr>
              <a:t>Drosophila melanogaster</a:t>
            </a:r>
          </a:p>
        </p:txBody>
      </p:sp>
      <p:sp>
        <p:nvSpPr>
          <p:cNvPr id="8" name="Rectangle 7"/>
          <p:cNvSpPr/>
          <p:nvPr/>
        </p:nvSpPr>
        <p:spPr>
          <a:xfrm>
            <a:off x="4321428" y="1827759"/>
            <a:ext cx="955110" cy="2728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405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50AD656-6FF9-465D-B7B0-1CD0DD39CD23}" type="slidenum">
              <a:rPr lang="en-US" smtClean="0"/>
              <a:t>16</a:t>
            </a:fld>
            <a:endParaRPr lang="en-US" dirty="0"/>
          </a:p>
        </p:txBody>
      </p:sp>
      <p:sp>
        <p:nvSpPr>
          <p:cNvPr id="11" name="Title 1"/>
          <p:cNvSpPr>
            <a:spLocks noGrp="1"/>
          </p:cNvSpPr>
          <p:nvPr>
            <p:ph type="title"/>
          </p:nvPr>
        </p:nvSpPr>
        <p:spPr>
          <a:xfrm>
            <a:off x="628650" y="365126"/>
            <a:ext cx="7886700" cy="1103455"/>
          </a:xfrm>
        </p:spPr>
        <p:txBody>
          <a:bodyPr>
            <a:noAutofit/>
          </a:bodyPr>
          <a:lstStyle/>
          <a:p>
            <a:pPr algn="ctr"/>
            <a:r>
              <a:rPr lang="en-US" sz="3200" b="1" dirty="0">
                <a:solidFill>
                  <a:srgbClr val="00B050"/>
                </a:solidFill>
                <a:latin typeface="+mn-lt"/>
              </a:rPr>
              <a:t>Run</a:t>
            </a:r>
            <a:r>
              <a:rPr lang="en-US" sz="3200" dirty="0">
                <a:latin typeface="+mn-lt"/>
              </a:rPr>
              <a:t> Cell 02 – Find LRSS in Fruit Fly Gene</a:t>
            </a:r>
          </a:p>
        </p:txBody>
      </p:sp>
      <p:pic>
        <p:nvPicPr>
          <p:cNvPr id="3" name="Picture 2">
            <a:extLst>
              <a:ext uri="{FF2B5EF4-FFF2-40B4-BE49-F238E27FC236}">
                <a16:creationId xmlns:a16="http://schemas.microsoft.com/office/drawing/2014/main" id="{9E40B78D-6CA0-4E20-A60E-0B41BFC5D225}"/>
              </a:ext>
            </a:extLst>
          </p:cNvPr>
          <p:cNvPicPr>
            <a:picLocks noChangeAspect="1"/>
          </p:cNvPicPr>
          <p:nvPr/>
        </p:nvPicPr>
        <p:blipFill>
          <a:blip r:embed="rId3"/>
          <a:stretch>
            <a:fillRect/>
          </a:stretch>
        </p:blipFill>
        <p:spPr>
          <a:xfrm>
            <a:off x="1780838" y="1970663"/>
            <a:ext cx="5582324" cy="2916674"/>
          </a:xfrm>
          <a:prstGeom prst="rect">
            <a:avLst/>
          </a:prstGeom>
          <a:ln>
            <a:solidFill>
              <a:schemeClr val="tx1"/>
            </a:solidFill>
          </a:ln>
        </p:spPr>
      </p:pic>
      <p:grpSp>
        <p:nvGrpSpPr>
          <p:cNvPr id="9" name="Group 8">
            <a:extLst>
              <a:ext uri="{FF2B5EF4-FFF2-40B4-BE49-F238E27FC236}">
                <a16:creationId xmlns:a16="http://schemas.microsoft.com/office/drawing/2014/main" id="{DE96F44E-2B18-4263-A3F4-B9E20ECCE5CA}"/>
              </a:ext>
            </a:extLst>
          </p:cNvPr>
          <p:cNvGrpSpPr/>
          <p:nvPr/>
        </p:nvGrpSpPr>
        <p:grpSpPr>
          <a:xfrm>
            <a:off x="4821225" y="2774125"/>
            <a:ext cx="1076632" cy="369332"/>
            <a:chOff x="4968362" y="2079211"/>
            <a:chExt cx="1076632" cy="369332"/>
          </a:xfrm>
        </p:grpSpPr>
        <p:cxnSp>
          <p:nvCxnSpPr>
            <p:cNvPr id="12" name="Straight Arrow Connector 11">
              <a:extLst>
                <a:ext uri="{FF2B5EF4-FFF2-40B4-BE49-F238E27FC236}">
                  <a16:creationId xmlns:a16="http://schemas.microsoft.com/office/drawing/2014/main" id="{50736C14-A7DD-4D92-80FB-C560AC4478E5}"/>
                </a:ext>
              </a:extLst>
            </p:cNvPr>
            <p:cNvCxnSpPr>
              <a:cxnSpLocks/>
            </p:cNvCxnSpPr>
            <p:nvPr/>
          </p:nvCxnSpPr>
          <p:spPr>
            <a:xfrm flipH="1">
              <a:off x="4968362" y="2263877"/>
              <a:ext cx="69317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FD81381-078A-471A-89E6-D3C30DE94701}"/>
                </a:ext>
              </a:extLst>
            </p:cNvPr>
            <p:cNvSpPr txBox="1"/>
            <p:nvPr/>
          </p:nvSpPr>
          <p:spPr>
            <a:xfrm>
              <a:off x="5661536" y="2079211"/>
              <a:ext cx="383458" cy="369332"/>
            </a:xfrm>
            <a:prstGeom prst="rect">
              <a:avLst/>
            </a:prstGeom>
            <a:noFill/>
          </p:spPr>
          <p:txBody>
            <a:bodyPr wrap="square" rtlCol="0">
              <a:spAutoFit/>
            </a:bodyPr>
            <a:lstStyle/>
            <a:p>
              <a:r>
                <a:rPr lang="en-US" dirty="0">
                  <a:ln>
                    <a:solidFill>
                      <a:srgbClr val="FF0000"/>
                    </a:solidFill>
                  </a:ln>
                  <a:solidFill>
                    <a:srgbClr val="FF0000"/>
                  </a:solidFill>
                  <a:sym typeface="Wingdings" panose="05000000000000000000" pitchFamily="2" charset="2"/>
                </a:rPr>
                <a:t></a:t>
              </a:r>
              <a:endParaRPr lang="en-US" dirty="0">
                <a:ln>
                  <a:solidFill>
                    <a:srgbClr val="FF0000"/>
                  </a:solidFill>
                </a:ln>
                <a:solidFill>
                  <a:srgbClr val="FF0000"/>
                </a:solidFill>
              </a:endParaRPr>
            </a:p>
          </p:txBody>
        </p:sp>
      </p:grpSp>
      <p:grpSp>
        <p:nvGrpSpPr>
          <p:cNvPr id="14" name="Group 13">
            <a:extLst>
              <a:ext uri="{FF2B5EF4-FFF2-40B4-BE49-F238E27FC236}">
                <a16:creationId xmlns:a16="http://schemas.microsoft.com/office/drawing/2014/main" id="{C17BC60A-29B9-4893-85D2-9CA8E77DDF5A}"/>
              </a:ext>
            </a:extLst>
          </p:cNvPr>
          <p:cNvGrpSpPr/>
          <p:nvPr/>
        </p:nvGrpSpPr>
        <p:grpSpPr>
          <a:xfrm>
            <a:off x="5545221" y="3387193"/>
            <a:ext cx="1076632" cy="369332"/>
            <a:chOff x="4704120" y="2356972"/>
            <a:chExt cx="1076632" cy="369332"/>
          </a:xfrm>
        </p:grpSpPr>
        <p:cxnSp>
          <p:nvCxnSpPr>
            <p:cNvPr id="15" name="Straight Arrow Connector 14">
              <a:extLst>
                <a:ext uri="{FF2B5EF4-FFF2-40B4-BE49-F238E27FC236}">
                  <a16:creationId xmlns:a16="http://schemas.microsoft.com/office/drawing/2014/main" id="{AA0A07F7-1ED3-4039-BEC9-86697EF65DF3}"/>
                </a:ext>
              </a:extLst>
            </p:cNvPr>
            <p:cNvCxnSpPr>
              <a:cxnSpLocks/>
            </p:cNvCxnSpPr>
            <p:nvPr/>
          </p:nvCxnSpPr>
          <p:spPr>
            <a:xfrm flipH="1">
              <a:off x="4704120" y="2541638"/>
              <a:ext cx="69317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849F950-FD05-4FE7-98A5-1F52B7D8F16B}"/>
                </a:ext>
              </a:extLst>
            </p:cNvPr>
            <p:cNvSpPr txBox="1"/>
            <p:nvPr/>
          </p:nvSpPr>
          <p:spPr>
            <a:xfrm>
              <a:off x="5397294" y="2356972"/>
              <a:ext cx="383458" cy="369332"/>
            </a:xfrm>
            <a:prstGeom prst="rect">
              <a:avLst/>
            </a:prstGeom>
            <a:noFill/>
          </p:spPr>
          <p:txBody>
            <a:bodyPr wrap="square" rtlCol="0">
              <a:spAutoFit/>
            </a:bodyPr>
            <a:lstStyle/>
            <a:p>
              <a:r>
                <a:rPr lang="en-US" dirty="0">
                  <a:ln>
                    <a:solidFill>
                      <a:srgbClr val="FF0000"/>
                    </a:solidFill>
                  </a:ln>
                  <a:solidFill>
                    <a:srgbClr val="FF0000"/>
                  </a:solidFill>
                  <a:sym typeface="Wingdings" panose="05000000000000000000" pitchFamily="2" charset="2"/>
                </a:rPr>
                <a:t></a:t>
              </a:r>
              <a:endParaRPr lang="en-US" dirty="0">
                <a:ln>
                  <a:solidFill>
                    <a:srgbClr val="FF0000"/>
                  </a:solidFill>
                </a:ln>
                <a:solidFill>
                  <a:srgbClr val="FF0000"/>
                </a:solidFill>
              </a:endParaRPr>
            </a:p>
          </p:txBody>
        </p:sp>
      </p:grpSp>
      <p:sp>
        <p:nvSpPr>
          <p:cNvPr id="17" name="Rectangle 16">
            <a:extLst>
              <a:ext uri="{FF2B5EF4-FFF2-40B4-BE49-F238E27FC236}">
                <a16:creationId xmlns:a16="http://schemas.microsoft.com/office/drawing/2014/main" id="{B30EAC0A-D578-490B-8FAE-DFAF1474845C}"/>
              </a:ext>
            </a:extLst>
          </p:cNvPr>
          <p:cNvSpPr/>
          <p:nvPr/>
        </p:nvSpPr>
        <p:spPr>
          <a:xfrm>
            <a:off x="2041393" y="4604976"/>
            <a:ext cx="1049072" cy="20478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3017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right)">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a:fillRect/>
          </a:stretch>
        </p:blipFill>
        <p:spPr>
          <a:xfrm>
            <a:off x="307549" y="976944"/>
            <a:ext cx="4035477" cy="5315369"/>
          </a:xfrm>
          <a:prstGeom prst="rect">
            <a:avLst/>
          </a:prstGeom>
          <a:ln>
            <a:solidFill>
              <a:schemeClr val="tx1"/>
            </a:solidFill>
          </a:ln>
        </p:spPr>
      </p:pic>
      <p:pic>
        <p:nvPicPr>
          <p:cNvPr id="15" name="Picture 14">
            <a:extLst>
              <a:ext uri="{FF2B5EF4-FFF2-40B4-BE49-F238E27FC236}">
                <a16:creationId xmlns:a16="http://schemas.microsoft.com/office/drawing/2014/main" id="{0CFD894A-B517-4176-887F-3E9E4D0E37EA}"/>
              </a:ext>
            </a:extLst>
          </p:cNvPr>
          <p:cNvPicPr>
            <a:picLocks noChangeAspect="1"/>
          </p:cNvPicPr>
          <p:nvPr/>
        </p:nvPicPr>
        <p:blipFill>
          <a:blip r:embed="rId4"/>
          <a:stretch>
            <a:fillRect/>
          </a:stretch>
        </p:blipFill>
        <p:spPr>
          <a:xfrm>
            <a:off x="213705" y="2735492"/>
            <a:ext cx="4223164" cy="478916"/>
          </a:xfrm>
          <a:prstGeom prst="rect">
            <a:avLst/>
          </a:prstGeom>
          <a:ln>
            <a:solidFill>
              <a:schemeClr val="tx1"/>
            </a:solidFill>
          </a:ln>
        </p:spPr>
      </p:pic>
      <p:sp>
        <p:nvSpPr>
          <p:cNvPr id="4" name="Slide Number Placeholder 3"/>
          <p:cNvSpPr>
            <a:spLocks noGrp="1"/>
          </p:cNvSpPr>
          <p:nvPr>
            <p:ph type="sldNum" sz="quarter" idx="12"/>
          </p:nvPr>
        </p:nvSpPr>
        <p:spPr/>
        <p:txBody>
          <a:bodyPr/>
          <a:lstStyle/>
          <a:p>
            <a:fld id="{650AD656-6FF9-465D-B7B0-1CD0DD39CD23}" type="slidenum">
              <a:rPr lang="en-US" smtClean="0"/>
              <a:t>17</a:t>
            </a:fld>
            <a:endParaRPr lang="en-US" dirty="0"/>
          </a:p>
        </p:txBody>
      </p:sp>
      <p:sp>
        <p:nvSpPr>
          <p:cNvPr id="6" name="TextBox 5"/>
          <p:cNvSpPr txBox="1"/>
          <p:nvPr/>
        </p:nvSpPr>
        <p:spPr>
          <a:xfrm>
            <a:off x="1268267" y="430725"/>
            <a:ext cx="6607467" cy="369332"/>
          </a:xfrm>
          <a:prstGeom prst="rect">
            <a:avLst/>
          </a:prstGeom>
          <a:noFill/>
        </p:spPr>
        <p:txBody>
          <a:bodyPr wrap="square" rtlCol="0">
            <a:spAutoFit/>
          </a:bodyPr>
          <a:lstStyle/>
          <a:p>
            <a:pPr algn="ctr"/>
            <a:r>
              <a:rPr lang="en-US" dirty="0">
                <a:hlinkClick r:id="rId5"/>
              </a:rPr>
              <a:t>https://en.wikipedia.org/wiki/Sequence_homology</a:t>
            </a:r>
            <a:r>
              <a:rPr lang="en-US" dirty="0"/>
              <a:t> </a:t>
            </a:r>
          </a:p>
        </p:txBody>
      </p:sp>
      <p:grpSp>
        <p:nvGrpSpPr>
          <p:cNvPr id="5" name="Group 4"/>
          <p:cNvGrpSpPr/>
          <p:nvPr/>
        </p:nvGrpSpPr>
        <p:grpSpPr>
          <a:xfrm>
            <a:off x="4639866" y="1299029"/>
            <a:ext cx="4153614" cy="4812488"/>
            <a:chOff x="4639866" y="1123857"/>
            <a:chExt cx="4153614" cy="4812488"/>
          </a:xfrm>
        </p:grpSpPr>
        <p:pic>
          <p:nvPicPr>
            <p:cNvPr id="9" name="Picture 8"/>
            <p:cNvPicPr>
              <a:picLocks noChangeAspect="1"/>
            </p:cNvPicPr>
            <p:nvPr/>
          </p:nvPicPr>
          <p:blipFill>
            <a:blip r:embed="rId6"/>
            <a:stretch>
              <a:fillRect/>
            </a:stretch>
          </p:blipFill>
          <p:spPr>
            <a:xfrm>
              <a:off x="4639866" y="1123857"/>
              <a:ext cx="3952525" cy="4812488"/>
            </a:xfrm>
            <a:prstGeom prst="rect">
              <a:avLst/>
            </a:prstGeom>
          </p:spPr>
        </p:pic>
        <p:sp>
          <p:nvSpPr>
            <p:cNvPr id="10" name="Rectangle 9"/>
            <p:cNvSpPr/>
            <p:nvPr/>
          </p:nvSpPr>
          <p:spPr>
            <a:xfrm>
              <a:off x="4639866" y="1123857"/>
              <a:ext cx="2080248" cy="26951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p:cNvGrpSpPr/>
            <p:nvPr/>
          </p:nvGrpSpPr>
          <p:grpSpPr>
            <a:xfrm>
              <a:off x="7002780" y="2263140"/>
              <a:ext cx="1790700" cy="3673205"/>
              <a:chOff x="7002780" y="2263140"/>
              <a:chExt cx="1790700" cy="3673205"/>
            </a:xfrm>
          </p:grpSpPr>
          <p:sp>
            <p:nvSpPr>
              <p:cNvPr id="2" name="Line Callout 3 1"/>
              <p:cNvSpPr/>
              <p:nvPr/>
            </p:nvSpPr>
            <p:spPr>
              <a:xfrm>
                <a:off x="7002780" y="2263140"/>
                <a:ext cx="1790700" cy="594360"/>
              </a:xfrm>
              <a:prstGeom prst="borderCallout3">
                <a:avLst>
                  <a:gd name="adj1" fmla="val 50801"/>
                  <a:gd name="adj2" fmla="val 6561"/>
                  <a:gd name="adj3" fmla="val 66186"/>
                  <a:gd name="adj4" fmla="val -15816"/>
                  <a:gd name="adj5" fmla="val 65385"/>
                  <a:gd name="adj6" fmla="val -42199"/>
                  <a:gd name="adj7" fmla="val 38604"/>
                  <a:gd name="adj8" fmla="val -60248"/>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Circadian Clock</a:t>
                </a:r>
              </a:p>
            </p:txBody>
          </p:sp>
          <p:sp>
            <p:nvSpPr>
              <p:cNvPr id="12" name="Line Callout 3 11"/>
              <p:cNvSpPr/>
              <p:nvPr/>
            </p:nvSpPr>
            <p:spPr>
              <a:xfrm>
                <a:off x="7002780" y="3699603"/>
                <a:ext cx="1790700" cy="594360"/>
              </a:xfrm>
              <a:prstGeom prst="borderCallout3">
                <a:avLst>
                  <a:gd name="adj1" fmla="val 50801"/>
                  <a:gd name="adj2" fmla="val 6561"/>
                  <a:gd name="adj3" fmla="val 66186"/>
                  <a:gd name="adj4" fmla="val -15816"/>
                  <a:gd name="adj5" fmla="val 65385"/>
                  <a:gd name="adj6" fmla="val -42199"/>
                  <a:gd name="adj7" fmla="val 38604"/>
                  <a:gd name="adj8" fmla="val -60248"/>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Tumor Suppressor</a:t>
                </a:r>
              </a:p>
            </p:txBody>
          </p:sp>
          <p:sp>
            <p:nvSpPr>
              <p:cNvPr id="13" name="Line Callout 3 12"/>
              <p:cNvSpPr/>
              <p:nvPr/>
            </p:nvSpPr>
            <p:spPr>
              <a:xfrm>
                <a:off x="7002780" y="5341985"/>
                <a:ext cx="1790700" cy="594360"/>
              </a:xfrm>
              <a:prstGeom prst="borderCallout3">
                <a:avLst>
                  <a:gd name="adj1" fmla="val 50801"/>
                  <a:gd name="adj2" fmla="val 6561"/>
                  <a:gd name="adj3" fmla="val 68750"/>
                  <a:gd name="adj4" fmla="val -6454"/>
                  <a:gd name="adj5" fmla="val 69231"/>
                  <a:gd name="adj6" fmla="val -19646"/>
                  <a:gd name="adj7" fmla="val 51425"/>
                  <a:gd name="adj8" fmla="val -23227"/>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DNA Double Strand Repair</a:t>
                </a:r>
              </a:p>
            </p:txBody>
          </p:sp>
        </p:grpSp>
      </p:grpSp>
      <p:cxnSp>
        <p:nvCxnSpPr>
          <p:cNvPr id="11" name="Straight Arrow Connector 10"/>
          <p:cNvCxnSpPr>
            <a:cxnSpLocks/>
          </p:cNvCxnSpPr>
          <p:nvPr/>
        </p:nvCxnSpPr>
        <p:spPr>
          <a:xfrm flipV="1">
            <a:off x="1416570" y="1495586"/>
            <a:ext cx="3155430" cy="153708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8449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outVertic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BEBA973-0D05-41A2-AA13-744C61EB6D17}" type="slidenum">
              <a:rPr lang="en-US" smtClean="0"/>
              <a:t>18</a:t>
            </a:fld>
            <a:endParaRPr lang="en-US"/>
          </a:p>
        </p:txBody>
      </p:sp>
      <p:pic>
        <p:nvPicPr>
          <p:cNvPr id="7" name="Picture 6"/>
          <p:cNvPicPr>
            <a:picLocks noChangeAspect="1"/>
          </p:cNvPicPr>
          <p:nvPr/>
        </p:nvPicPr>
        <p:blipFill>
          <a:blip r:embed="rId3"/>
          <a:stretch>
            <a:fillRect/>
          </a:stretch>
        </p:blipFill>
        <p:spPr>
          <a:xfrm>
            <a:off x="968606" y="1881414"/>
            <a:ext cx="7302039" cy="2757261"/>
          </a:xfrm>
          <a:prstGeom prst="rect">
            <a:avLst/>
          </a:prstGeom>
        </p:spPr>
      </p:pic>
      <p:sp>
        <p:nvSpPr>
          <p:cNvPr id="8" name="Rectangle 7"/>
          <p:cNvSpPr/>
          <p:nvPr/>
        </p:nvSpPr>
        <p:spPr>
          <a:xfrm>
            <a:off x="3105150" y="3381375"/>
            <a:ext cx="2733675" cy="4095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259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103455"/>
          </a:xfrm>
        </p:spPr>
        <p:txBody>
          <a:bodyPr>
            <a:noAutofit/>
          </a:bodyPr>
          <a:lstStyle/>
          <a:p>
            <a:pPr algn="ctr"/>
            <a:r>
              <a:rPr lang="en-US" sz="3200" dirty="0">
                <a:latin typeface="+mn-lt"/>
              </a:rPr>
              <a:t>LRAT and Skin Cancer</a:t>
            </a:r>
          </a:p>
        </p:txBody>
      </p:sp>
      <p:sp>
        <p:nvSpPr>
          <p:cNvPr id="3" name="Content Placeholder 2"/>
          <p:cNvSpPr>
            <a:spLocks noGrp="1"/>
          </p:cNvSpPr>
          <p:nvPr>
            <p:ph idx="1"/>
          </p:nvPr>
        </p:nvSpPr>
        <p:spPr>
          <a:xfrm>
            <a:off x="5223061" y="1585622"/>
            <a:ext cx="3657467" cy="3732526"/>
          </a:xfrm>
        </p:spPr>
        <p:txBody>
          <a:bodyPr>
            <a:noAutofit/>
          </a:bodyPr>
          <a:lstStyle/>
          <a:p>
            <a:pPr>
              <a:spcBef>
                <a:spcPts val="0"/>
              </a:spcBef>
              <a:spcAft>
                <a:spcPts val="1200"/>
              </a:spcAft>
            </a:pPr>
            <a:r>
              <a:rPr lang="en-US" sz="2400" dirty="0">
                <a:ea typeface="Cambria Math" panose="02040503050406030204" pitchFamily="18" charset="0"/>
              </a:rPr>
              <a:t>Cancer is invasive</a:t>
            </a:r>
            <a:endParaRPr lang="en-US" sz="2400" dirty="0"/>
          </a:p>
          <a:p>
            <a:pPr>
              <a:spcBef>
                <a:spcPts val="0"/>
              </a:spcBef>
              <a:spcAft>
                <a:spcPts val="1200"/>
              </a:spcAft>
            </a:pPr>
            <a:r>
              <a:rPr lang="en-US" sz="2400" dirty="0">
                <a:ea typeface="Cambria Math" panose="02040503050406030204" pitchFamily="18" charset="0"/>
              </a:rPr>
              <a:t>Cytoskeleton filaments</a:t>
            </a:r>
            <a:endParaRPr lang="en-US" sz="2400" dirty="0"/>
          </a:p>
          <a:p>
            <a:pPr>
              <a:spcBef>
                <a:spcPts val="0"/>
              </a:spcBef>
              <a:spcAft>
                <a:spcPts val="1200"/>
              </a:spcAft>
            </a:pPr>
            <a:r>
              <a:rPr lang="en-US" sz="2400" dirty="0">
                <a:ea typeface="Cambria Math" panose="02040503050406030204" pitchFamily="18" charset="0"/>
              </a:rPr>
              <a:t>K5 is a gene</a:t>
            </a:r>
            <a:endParaRPr lang="en-US" sz="2400" dirty="0"/>
          </a:p>
          <a:p>
            <a:pPr>
              <a:spcBef>
                <a:spcPts val="0"/>
              </a:spcBef>
              <a:spcAft>
                <a:spcPts val="1200"/>
              </a:spcAft>
            </a:pPr>
            <a:r>
              <a:rPr lang="en-US" sz="2400" dirty="0">
                <a:ea typeface="Cambria Math" panose="02040503050406030204" pitchFamily="18" charset="0"/>
              </a:rPr>
              <a:t>Retinoic Acid regulates K5</a:t>
            </a:r>
            <a:endParaRPr lang="en-US" sz="2400" dirty="0"/>
          </a:p>
          <a:p>
            <a:pPr>
              <a:spcBef>
                <a:spcPts val="0"/>
              </a:spcBef>
              <a:spcAft>
                <a:spcPts val="1200"/>
              </a:spcAft>
            </a:pPr>
            <a:r>
              <a:rPr lang="en-US" sz="2400" dirty="0"/>
              <a:t>Retinol is Vitamin A</a:t>
            </a:r>
          </a:p>
          <a:p>
            <a:pPr>
              <a:spcBef>
                <a:spcPts val="0"/>
              </a:spcBef>
              <a:spcAft>
                <a:spcPts val="1200"/>
              </a:spcAft>
            </a:pPr>
            <a:r>
              <a:rPr lang="en-US" sz="2400" dirty="0"/>
              <a:t>LRAT moderates Retinol</a:t>
            </a:r>
          </a:p>
          <a:p>
            <a:pPr>
              <a:spcBef>
                <a:spcPts val="0"/>
              </a:spcBef>
              <a:spcAft>
                <a:spcPts val="1200"/>
              </a:spcAft>
            </a:pPr>
            <a:r>
              <a:rPr lang="en-US" sz="2400" dirty="0"/>
              <a:t>LRAT controls cell stiffness?</a:t>
            </a:r>
          </a:p>
          <a:p>
            <a:pPr>
              <a:spcBef>
                <a:spcPts val="0"/>
              </a:spcBef>
              <a:spcAft>
                <a:spcPts val="1200"/>
              </a:spcAft>
            </a:pPr>
            <a:endParaRPr lang="en-US" sz="2400" dirty="0"/>
          </a:p>
          <a:p>
            <a:pPr>
              <a:spcBef>
                <a:spcPts val="0"/>
              </a:spcBef>
              <a:spcAft>
                <a:spcPts val="1200"/>
              </a:spcAft>
            </a:pPr>
            <a:endParaRPr lang="en-US" sz="2400" dirty="0"/>
          </a:p>
          <a:p>
            <a:pPr>
              <a:spcBef>
                <a:spcPts val="0"/>
              </a:spcBef>
              <a:spcAft>
                <a:spcPts val="1200"/>
              </a:spcAft>
            </a:pPr>
            <a:endParaRPr lang="en-US" sz="2400" dirty="0"/>
          </a:p>
          <a:p>
            <a:pPr>
              <a:spcBef>
                <a:spcPts val="0"/>
              </a:spcBef>
              <a:spcAft>
                <a:spcPts val="1200"/>
              </a:spcAft>
            </a:pPr>
            <a:endParaRPr lang="en-US" sz="2400" dirty="0"/>
          </a:p>
        </p:txBody>
      </p:sp>
      <p:sp>
        <p:nvSpPr>
          <p:cNvPr id="4" name="Slide Number Placeholder 3"/>
          <p:cNvSpPr>
            <a:spLocks noGrp="1"/>
          </p:cNvSpPr>
          <p:nvPr>
            <p:ph type="sldNum" sz="quarter" idx="12"/>
          </p:nvPr>
        </p:nvSpPr>
        <p:spPr/>
        <p:txBody>
          <a:bodyPr/>
          <a:lstStyle/>
          <a:p>
            <a:fld id="{650AD656-6FF9-465D-B7B0-1CD0DD39CD23}" type="slidenum">
              <a:rPr lang="en-US" smtClean="0"/>
              <a:t>19</a:t>
            </a:fld>
            <a:endParaRPr lang="en-US" dirty="0"/>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442671" y="1585621"/>
                <a:ext cx="4501288" cy="34618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1200"/>
                  </a:spcAft>
                </a:pPr>
                <a:r>
                  <a:rPr lang="en-US" sz="2400" dirty="0">
                    <a:ea typeface="Cambria Math" panose="02040503050406030204" pitchFamily="18" charset="0"/>
                  </a:rPr>
                  <a:t>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dirty="0"/>
                  <a:t> Cell membrane </a:t>
                </a:r>
                <a14:m>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m:t>
                    </m:r>
                  </m:oMath>
                </a14:m>
                <a:r>
                  <a:rPr lang="en-US" sz="2400" dirty="0"/>
                  <a:t> cancer </a:t>
                </a:r>
              </a:p>
              <a:p>
                <a:pPr>
                  <a:spcBef>
                    <a:spcPts val="0"/>
                  </a:spcBef>
                  <a:spcAft>
                    <a:spcPts val="1200"/>
                  </a:spcAft>
                </a:pPr>
                <a:r>
                  <a:rPr lang="en-US" sz="2400" dirty="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m:t>
                    </m:r>
                  </m:oMath>
                </a14:m>
                <a:r>
                  <a:rPr lang="en-US" sz="2400" dirty="0"/>
                  <a:t> Keratin</a:t>
                </a:r>
                <a14:m>
                  <m:oMath xmlns:m="http://schemas.openxmlformats.org/officeDocument/2006/math">
                    <m:r>
                      <a:rPr lang="en-US" sz="2400"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m:t>
                    </m:r>
                    <m:r>
                      <m:rPr>
                        <m:nor/>
                      </m:rPr>
                      <a:rPr lang="en-US" sz="2400" dirty="0"/>
                      <m:t>Cell</m:t>
                    </m:r>
                    <m:r>
                      <m:rPr>
                        <m:nor/>
                      </m:rPr>
                      <a:rPr lang="en-US" sz="2400" dirty="0"/>
                      <m:t> </m:t>
                    </m:r>
                    <m:r>
                      <m:rPr>
                        <m:nor/>
                      </m:rPr>
                      <a:rPr lang="en-US" sz="2400" b="0" i="0" dirty="0" smtClean="0"/>
                      <m:t>membrane</m:t>
                    </m:r>
                  </m:oMath>
                </a14:m>
                <a:endParaRPr lang="en-US" sz="2400" dirty="0"/>
              </a:p>
              <a:p>
                <a:pPr>
                  <a:spcBef>
                    <a:spcPts val="0"/>
                  </a:spcBef>
                  <a:spcAft>
                    <a:spcPts val="1200"/>
                  </a:spcAft>
                </a:pPr>
                <a:r>
                  <a:rPr lang="en-US" sz="2400" dirty="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m:t>
                    </m:r>
                  </m:oMath>
                </a14:m>
                <a:r>
                  <a:rPr lang="en-US" sz="2400" dirty="0"/>
                  <a:t> K5</a:t>
                </a:r>
                <a14:m>
                  <m:oMath xmlns:m="http://schemas.openxmlformats.org/officeDocument/2006/math">
                    <m:r>
                      <a:rPr lang="en-US" sz="240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 ↓</m:t>
                    </m:r>
                    <m:r>
                      <m:rPr>
                        <m:nor/>
                      </m:rPr>
                      <a:rPr lang="en-US" sz="2400" dirty="0" smtClean="0"/>
                      <m:t>Keratin</m:t>
                    </m:r>
                  </m:oMath>
                </a14:m>
                <a:endParaRPr lang="en-US" sz="2400" dirty="0"/>
              </a:p>
              <a:p>
                <a:pPr>
                  <a:spcBef>
                    <a:spcPts val="0"/>
                  </a:spcBef>
                  <a:spcAft>
                    <a:spcPts val="1200"/>
                  </a:spcAft>
                </a:pPr>
                <a:r>
                  <a:rPr lang="en-US" sz="2400" dirty="0">
                    <a:ea typeface="Cambria Math" panose="02040503050406030204" pitchFamily="18" charset="0"/>
                  </a:rPr>
                  <a:t>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dirty="0"/>
                  <a:t> RA</a:t>
                </a:r>
                <a14:m>
                  <m:oMath xmlns:m="http://schemas.openxmlformats.org/officeDocument/2006/math">
                    <m:r>
                      <a:rPr lang="en-US" sz="240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 ↓</m:t>
                    </m:r>
                    <m:r>
                      <m:rPr>
                        <m:nor/>
                      </m:rPr>
                      <a:rPr lang="en-US" sz="2400" dirty="0" smtClean="0"/>
                      <m:t>K</m:t>
                    </m:r>
                    <m:r>
                      <m:rPr>
                        <m:nor/>
                      </m:rPr>
                      <a:rPr lang="en-US" sz="2400" dirty="0" smtClean="0"/>
                      <m:t>5</m:t>
                    </m:r>
                  </m:oMath>
                </a14:m>
                <a:endParaRPr lang="en-US" sz="2400" dirty="0"/>
              </a:p>
              <a:p>
                <a:pPr>
                  <a:spcBef>
                    <a:spcPts val="0"/>
                  </a:spcBef>
                  <a:spcAft>
                    <a:spcPts val="1200"/>
                  </a:spcAft>
                </a:pPr>
                <a:r>
                  <a:rPr lang="en-US" sz="2400" dirty="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m:t>
                    </m:r>
                  </m:oMath>
                </a14:m>
                <a:r>
                  <a:rPr lang="en-US" sz="2400" dirty="0"/>
                  <a:t> Retinol</a:t>
                </a:r>
                <a14:m>
                  <m:oMath xmlns:m="http://schemas.openxmlformats.org/officeDocument/2006/math">
                    <m:r>
                      <a:rPr lang="en-US" sz="240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m:t>
                    </m:r>
                    <m:r>
                      <m:rPr>
                        <m:nor/>
                      </m:rPr>
                      <a:rPr lang="en-US" sz="2400" dirty="0"/>
                      <m:t>RA</m:t>
                    </m:r>
                  </m:oMath>
                </a14:m>
                <a:endParaRPr lang="en-US" sz="2400" dirty="0"/>
              </a:p>
              <a:p>
                <a:pPr>
                  <a:spcBef>
                    <a:spcPts val="0"/>
                  </a:spcBef>
                  <a:spcAft>
                    <a:spcPts val="1200"/>
                  </a:spcAft>
                </a:pPr>
                <a:r>
                  <a:rPr lang="en-US" sz="2400" dirty="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m:t>
                    </m:r>
                  </m:oMath>
                </a14:m>
                <a:r>
                  <a:rPr lang="en-US" sz="2400" dirty="0"/>
                  <a:t> LRAT</a:t>
                </a:r>
                <a14:m>
                  <m:oMath xmlns:m="http://schemas.openxmlformats.org/officeDocument/2006/math">
                    <m:r>
                      <a:rPr lang="en-US" sz="240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m:t>
                    </m:r>
                    <m:r>
                      <m:rPr>
                        <m:nor/>
                      </m:rPr>
                      <a:rPr lang="en-US" sz="2400" dirty="0"/>
                      <m:t>Retinol</m:t>
                    </m:r>
                  </m:oMath>
                </a14:m>
                <a:endParaRPr lang="en-US" sz="2400" dirty="0"/>
              </a:p>
              <a:p>
                <a:pPr>
                  <a:spcBef>
                    <a:spcPts val="0"/>
                  </a:spcBef>
                  <a:spcAft>
                    <a:spcPts val="1200"/>
                  </a:spcAft>
                </a:pPr>
                <a:r>
                  <a:rPr lang="en-US" sz="2400" dirty="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m:t>
                    </m:r>
                  </m:oMath>
                </a14:m>
                <a:r>
                  <a:rPr lang="en-US" sz="2400" dirty="0"/>
                  <a:t> LRAT</a:t>
                </a:r>
                <a14:m>
                  <m:oMath xmlns:m="http://schemas.openxmlformats.org/officeDocument/2006/math">
                    <m:r>
                      <a:rPr lang="en-US" sz="240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 ↑</m:t>
                    </m:r>
                    <m:r>
                      <m:rPr>
                        <m:nor/>
                      </m:rPr>
                      <a:rPr lang="en-US" sz="2400" b="0" i="0" dirty="0" smtClean="0"/>
                      <m:t>skin</m:t>
                    </m:r>
                    <m:r>
                      <m:rPr>
                        <m:nor/>
                      </m:rPr>
                      <a:rPr lang="en-US" sz="2400" b="0" i="0" dirty="0" smtClean="0"/>
                      <m:t> </m:t>
                    </m:r>
                    <m:r>
                      <m:rPr>
                        <m:nor/>
                      </m:rPr>
                      <a:rPr lang="en-US" sz="2400" b="0" i="0" dirty="0" smtClean="0"/>
                      <m:t>cancer</m:t>
                    </m:r>
                  </m:oMath>
                </a14:m>
                <a:endParaRPr lang="en-US" sz="2400" dirty="0"/>
              </a:p>
              <a:p>
                <a:pPr>
                  <a:spcBef>
                    <a:spcPts val="0"/>
                  </a:spcBef>
                  <a:spcAft>
                    <a:spcPts val="1200"/>
                  </a:spcAft>
                </a:pPr>
                <a:endParaRPr lang="en-US" sz="2400" dirty="0"/>
              </a:p>
              <a:p>
                <a:pPr>
                  <a:spcBef>
                    <a:spcPts val="0"/>
                  </a:spcBef>
                  <a:spcAft>
                    <a:spcPts val="1200"/>
                  </a:spcAft>
                </a:pPr>
                <a:endParaRPr lang="en-US" sz="2400" dirty="0"/>
              </a:p>
              <a:p>
                <a:pPr>
                  <a:spcBef>
                    <a:spcPts val="0"/>
                  </a:spcBef>
                  <a:spcAft>
                    <a:spcPts val="1200"/>
                  </a:spcAft>
                </a:pPr>
                <a:endParaRPr lang="en-US" sz="2400" dirty="0"/>
              </a:p>
              <a:p>
                <a:pPr>
                  <a:spcBef>
                    <a:spcPts val="0"/>
                  </a:spcBef>
                  <a:spcAft>
                    <a:spcPts val="1200"/>
                  </a:spcAft>
                </a:pPr>
                <a:endParaRPr lang="en-US" sz="2400" dirty="0"/>
              </a:p>
              <a:p>
                <a:pPr>
                  <a:spcBef>
                    <a:spcPts val="0"/>
                  </a:spcBef>
                  <a:spcAft>
                    <a:spcPts val="1200"/>
                  </a:spcAft>
                </a:pPr>
                <a:endParaRPr lang="en-US" sz="2400" dirty="0"/>
              </a:p>
              <a:p>
                <a:pPr>
                  <a:spcBef>
                    <a:spcPts val="0"/>
                  </a:spcBef>
                  <a:spcAft>
                    <a:spcPts val="1200"/>
                  </a:spcAft>
                </a:pPr>
                <a:endParaRPr lang="en-US" sz="2400" dirty="0"/>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442671" y="1585621"/>
                <a:ext cx="4501288" cy="3461864"/>
              </a:xfrm>
              <a:prstGeom prst="rect">
                <a:avLst/>
              </a:prstGeom>
              <a:blipFill>
                <a:blip r:embed="rId3"/>
                <a:stretch>
                  <a:fillRect l="-1897" t="-2465"/>
                </a:stretch>
              </a:blipFill>
            </p:spPr>
            <p:txBody>
              <a:bodyPr/>
              <a:lstStyle/>
              <a:p>
                <a:r>
                  <a:rPr lang="en-US">
                    <a:noFill/>
                  </a:rPr>
                  <a:t> </a:t>
                </a:r>
              </a:p>
            </p:txBody>
          </p:sp>
        </mc:Fallback>
      </mc:AlternateContent>
    </p:spTree>
    <p:extLst>
      <p:ext uri="{BB962C8B-B14F-4D97-AF65-F5344CB8AC3E}">
        <p14:creationId xmlns:p14="http://schemas.microsoft.com/office/powerpoint/2010/main" val="3161571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07144" y="1202674"/>
            <a:ext cx="7329712" cy="5262979"/>
          </a:xfrm>
          <a:prstGeom prst="rect">
            <a:avLst/>
          </a:prstGeom>
        </p:spPr>
        <p:txBody>
          <a:bodyPr wrap="square">
            <a:spAutoFit/>
          </a:bodyPr>
          <a:lstStyle/>
          <a:p>
            <a:r>
              <a:rPr lang="en-US" sz="1050" dirty="0">
                <a:latin typeface="Consolas" panose="020B0609020204030204" pitchFamily="49" charset="0"/>
              </a:rPr>
              <a:t>TCTGCTCCTCGGGCGGCCTTGAGCAGTGCCTAACGTTGAGCGTGAGGCTCGTGCTCCGGGTCTCGCGGGCGGCCGCCTCGGGCGTCGAGTCCCGGAGATTGGACAGACACCAGAGCCTGGGGACCGCGGAGTGACCGGGTGGGGCTGGAGGGCGGCGCCGCGCCTTCTGGGGAGACGCGGAGGTATCAGGACCTGGGCTATGCTCCTGATTTTATACAGACTGCCATGGCTCCAGATATAAAAGACCAAATAAAAAGATAAGAATTGCTGGCAACATATGCACTAAACTTCGTTTTGAAAAATCCCCTTGATGCCGATCACTGAGAAGTGATCCACAGGATGAAGAACCCCATGCTGGAGGTGGTGTCTTTACTACTGGAGAAGCTGCTCCTCATCTCCAACTTCACGCTCTTTAGTTCGGGCGCCGCGGGCGAAGACAAAGGGAGGAACAGTTTTTATGAAACCAGCTCTTTCCACCGAGGCGACGTGCTGGAGGTGCCCCGGACCCACCTGACCCACTATGGCATCTACCTAGGAGACAACCGTGTTGCCCACATGATGCCCGACATCCTGTTGGCCCTGACAGACGACATGGGGCGCACGCAGAAGGTGGTCTCCAACAAGCGTCTCATCCTGGGCGTTATTGTCAAAGTGGCCAGCATCCGCGTGGACACAGTGGAGGACTTCGCCTACGGAGCTAACATCCTGGTCAATCACCTGGACGAGTCCCTCCAGAAAAAGGCACTGCTCAACGAGGAGGTGGCGCGGAGGGCTGAAAAGCTGCTGGGCTTTACCCCCTACAGCCTGCTGTGGAACAACTGCGAGCACTTCGTGACCTACTGCAGATATGGCACCCCGATCAGTCCCCAGTCCGACAAGTTTTGTGAGACTGTGAAGATAATTATTCGTGATCAGAGAAGTGTTCTTGCTTCAGCAGTCTTGGGATTGGCGTCTATAGTCTGTACGGGCTTGGTATCATACACTACCCTTCCTGCAATTTTTATTCCATTCTTCCTATGGATGGCTGGCTAACTTCATACCCCCATGTCAGTGTGTGTATTCTGTATGTAAATATGTTTATATTTATAGAGCATCAATCAATATAAGCATTATTGAGAAAAATGTGACCCGTAACACTGTGTTCTGGATAAAAATGTGATTAGGAATCACGCAAAGTGCTTACTGTGTAAGCCCAAGAACAAAGGCTTTCTGAATCTTCTCAGGCAGTTCAGATTTAAAGCACCATCCAAACCTTGGAAATACGACAGGGTGTGGTAGAATTCAGCAATATGAGAAAACCAGCCCCTAAAATGATAGCCACAAGAGATTAATTGTGTTTTTTTTTCTCCTGTAATCCTTGTACTGTTCGGCTGAATTTGAAGATTGGAAGACTTATATTGAGACCAGTAACTTTACTGTAAATTTACTTTGTTTCATTGAAAAAACAAATTGATAAACATATTAAACTGGAAGAATTTTCTTTATTCAAATGAAAACATGTTTGATGACTGGTCAAAAAATAAGCTCATAATCTATTTTTTTCATGTAGTATATAAGTCAAGAATGTTTTATTGTCATTATGTGAAACCAATATTGGCAAATAGTACTTTAATGATGAAGTAAATGACCAGAAATTATAGAAATCTGTGTTTTCCTGTAAAAATAGCACTATAGTATCACTTGAACAATTTGATTTGGCTTTACTTACTAGGAAGCCTGGAATTCATTATTTTTTTCCTTTTATGTGCCACTGTGGCTACTTTAAATCACTCTGAGAGGTAAATGGATATAGGATTGAAGTTATGTGGGTATTTGGCATGTGTGTGTGAAATAAATATGTAGATAGTCACATATACACAGACTGAGAGATAAATTGTTCTTGATTGCTTTATTATCATCATACTAGTGTGTTCATTATAGAGTATCTGTAGAGGTGAATGTAAAAGTAAGTCCAATCTATTTTCTTATGTCATTGAATTTGTAGTGTTAACTTGCATATATGTTATTGGATGGGTTGTCTTTTAAAGCATTTACTAATGTACTCTGAAATTTTTAAAAGCCTTCAGATTTGTTTTCTAGTCACTTTTTTCCATATCATTTCTAATTATAGTTTATATCCTTAAAAGAAGGATGCCACAGTAGTATGTAAAACCCAAACAAGTAGAACCCAAGCAAATAAAATTATTTAAAATAATTTTAAAGTGGCTTAGTACTGCCAGTCATGTAAATTGATTCTGCTGAGGGTCTTATAAGAATTGAGATATAACAATGGTAAAACAAGCATTCAAGCACTTTTACAAAATTACCAAATTCTTAAAATGAAGCCACAGCTAGACTTGCATTTCAGGTATTAAAATTGCTTTCTTAACTGTCAAGAATCACAAAATAACAAATCATATTATGAGTGAATATGGGGAGGGCGGGGCCAATCAGTCAATGATAATCTGAACAAATTTTAAGAGCAGATTTTAGATTAATAATGTTTTATCACCACTAATTTGCCCACAACAAACTCAGTATTTAATTTTTCAAATTAAATATTAAATTATTTAAGTATTTTAAATAATTAAAACATTAAATGGCAACACCATAGAATATAGGTGTTCTCTGGACCTATTCTAACCACTTAAAATTATCTTAAGTATGCATACATAAAAGCAACCACTATGAGAACTACCGTGTTAGTGGTTTTTCACTTACTGTATATTACCCTTGTAGGAATAGTTTAAGGAAATTCATTTCTTAAAAATATAGTGTCCTCAAATAATTAATTTTTTTGCAAACTTTAGTTATTACAGGCAGCAAAAACCACTGTCTGAAACTAAATCTGTGTTCAAAGATGAAGACCCCTCATTAAAAGCCAAGGACGTTCTTAAGATTGGAACTGACATAATTAGTCTTGACTTACTTCATTAAAGCAAGATTCAATTCCT</a:t>
            </a:r>
          </a:p>
        </p:txBody>
      </p:sp>
      <p:sp>
        <p:nvSpPr>
          <p:cNvPr id="7" name="Title 4"/>
          <p:cNvSpPr>
            <a:spLocks noGrp="1"/>
          </p:cNvSpPr>
          <p:nvPr>
            <p:ph type="title"/>
          </p:nvPr>
        </p:nvSpPr>
        <p:spPr>
          <a:xfrm>
            <a:off x="628650" y="365126"/>
            <a:ext cx="7886700" cy="570539"/>
          </a:xfrm>
        </p:spPr>
        <p:txBody>
          <a:bodyPr>
            <a:normAutofit/>
          </a:bodyPr>
          <a:lstStyle/>
          <a:p>
            <a:pPr algn="ctr"/>
            <a:r>
              <a:rPr lang="en-US" sz="3200" dirty="0">
                <a:latin typeface="+mn-lt"/>
              </a:rPr>
              <a:t>LRAT</a:t>
            </a:r>
          </a:p>
        </p:txBody>
      </p:sp>
      <p:sp>
        <p:nvSpPr>
          <p:cNvPr id="8" name="Slide Number Placeholder 7"/>
          <p:cNvSpPr>
            <a:spLocks noGrp="1"/>
          </p:cNvSpPr>
          <p:nvPr>
            <p:ph type="sldNum" sz="quarter" idx="12"/>
          </p:nvPr>
        </p:nvSpPr>
        <p:spPr/>
        <p:txBody>
          <a:bodyPr/>
          <a:lstStyle/>
          <a:p>
            <a:fld id="{1BEBA973-0D05-41A2-AA13-744C61EB6D17}" type="slidenum">
              <a:rPr lang="en-US" smtClean="0"/>
              <a:t>20</a:t>
            </a:fld>
            <a:endParaRPr lang="en-US"/>
          </a:p>
        </p:txBody>
      </p:sp>
    </p:spTree>
    <p:extLst>
      <p:ext uri="{BB962C8B-B14F-4D97-AF65-F5344CB8AC3E}">
        <p14:creationId xmlns:p14="http://schemas.microsoft.com/office/powerpoint/2010/main" val="1279356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28650" y="1021699"/>
            <a:ext cx="7962900" cy="5603826"/>
          </a:xfrm>
          <a:prstGeom prst="rect">
            <a:avLst/>
          </a:prstGeom>
          <a:ln>
            <a:solidFill>
              <a:schemeClr val="tx1"/>
            </a:solidFill>
          </a:ln>
        </p:spPr>
        <p:txBody>
          <a:bodyPr wrap="square">
            <a:noAutofit/>
          </a:bodyPr>
          <a:lstStyle/>
          <a:p>
            <a:r>
              <a:rPr lang="en-US" sz="700" dirty="0">
                <a:latin typeface="Consolas" panose="020B0609020204030204" pitchFamily="49" charset="0"/>
              </a:rPr>
              <a:t>GTCGACCTCCATCACGGCCTATAAGAGTGAGGGGGAGTCAGCGGAGTTCTCCTTCCCACTCAACCTTGGAGAGGAAAGCCTGCAGGGAGAGTTGAGATGGAAGGCAGAGAAGGCTCCTTCTTCCCAGTCCTGGATCACCTTCTCCCTAAAGAACCAAAAGGTGTCTGTGCAGAAGTCTACTAGCAACCCCAAGTTCCAGCTGTCCGAAACGCTCCCACTCACCCTTCAGATACCCCAGGTCTCCCTTCAGTTTGCTGGTTCTGGCAACCTGACCCTGACTCTGGACAGAGGGATACTGTATCAGGAAGTGAACCTGGTGGTGATGAAAGTGACTCAGCCCGACAGCAACACTTTGACCTGTGAGGTGATGGGACCCACCTCACCCAAGATGAGACTGATCTTGAAGCAGGAGAATCAGGAGGCCAGGGTCTCCAGGCAGGAGAAAGTGATTCAAGTGCAGGCCCCTGAAGCAGGGGTGTGGCAATGTCTACTGAGTGAAGGTGAAGAGGTCAAGATGGACTCCAAGATCCAGGTTTTATCCAAAGGGTTGAATTCCGGCAGCCTGCACCACATCCTGGACGCCCAGAAGATGCTGTGGAACCACAGGGACAGGAACCTGCCTCCTCTGGCCCCTCTGGGCCCCCACCACCATCACCACCATTGAGTCTAGACACGTGATTAATTAAGGATCCCCCGACCTCGACCTCTGGCTAATAAAGGAAATTTATTTTCATTGCAATAGTGTGTTGGAATTTTTTGTGTCTCTCACTCGGAAGGACATATGGGAGGGCAAATCATTTGGTCGAGATCCCTCGGAGATCTCTAGCTAGAGGATCGATCCCCGCCCCGGACGAACTAAACCTGACTACGACATCTCTGCCCCTTCTTCGCGGGGCAGTGCATGTAATCCCTTCAGTTGGTTGGTACAACTTGCCAACTGGGCCCTGTTCCACATGTGACACGGGGGGGGACCAAACACAAAGGGGTTCTCTGACTGTAGTTGACATCCTTATAAATGGATGTGCACATTTGCCAACACTGAGTGGCTTTCATCCTGGAGCAGACTTTGCAGTCTGTGGACTGCAACACAACATTGCCTTTATGTGTAACTCTTGGCTGAAGCTCTTACACCAATGCTGGGGGACATGTACCTCCCAGGGGCCCAGGAAGACTACGGGAGGCTACACCAACGTCAATCAGAGGGGCCTGTGTAGCTACCGATAAGCGGACCCTCAAGAGGGCATTAGCAATAGTGTTTATAAGGCCCCCTTGTTAACCCTAAACGGGTAGCATATGCTTCCCGGGTAGTAGTATATACTATCCAGACTAACCCTAATTCAATAGCATATGTTACCCAACGGGAAGCATATGCTATCGAATTAGGGTTAGTAAAAGGGTCCTAAGGAACAGCGATATCTCCCACCCCATGAGCTGTCACGGTTTTATTTACATGGGGTCAGGATTCCACGAGGGTAGTGAACCATTTTAGTCACAAGGGCAGTGGCTGAAGATCAAGGAGCGGGCAGTGAACTCTCCTGAATCTTCGCCTGCTTCTTCATTCTCCTTCGTTTAGCTAATAGAATAACTGCTGAGTTGTGAACAGTAAGGTGTATGTGAGGTGCTCGAAAACAAGGTTTCAGGTGACGCCCCCAGAATAAAATTTGGACGGGGGGTTCAGTGGTGGCATTGTGCTATGACACCAATATAACCCTCACAAACCCCTTGGGCAATAAATACTAGTGTAGGAATGAAACATTCTGAATATCTTTAACAATAGAAATCCATGGGGTGGGGACAAGCCGTAAAGACTGGATGTCCATCTCACACGAATTTATGGCTATGGGCAACACATAATCCTAGTGCAATATGATACTGGGGTTATTAAGATGTGTCCCAGGCAGGGACCAAGACAGGTGAACCATGTTGTTACACTCTATTTGTAACAAGGGGAAAGAGAGTGGACGCCGACAGCAGCGGACTCCACTGGTTGTCTCTAACACCCCCGAAAATTAAACGGGGCTCCACGCCAATGGGGCCCATAAACAAAGACAAGTGGCCACTCTTTTTTTTGAAATTGTGGAGTGGGGGCACGCGTCAGCCCCCACACGCCGCCCTGCGGTTTTGGACTGTAAAATAAGGGTGTAATAACTTGGCTGATTGTAACCCCGCTAACCACTGCGGTCAAACCACTTGCCCACAAAACCACTAATGGCACCCCGGGGAATACCTGCATAAGTAGGTGGGCGGGCCAAGATAGGGGCGCGATTGCTGCGATCTGGAGGACAAATTACACACACTTGCGCCTGAGCGCCAAGCACAGGGTTGTTGGTCCTCATATTCACGAGGTCGCTGAGAGCACGGTGGGCTAATGTTGCCATGGGTAGCATATACTACCCAAATATCTGGATAGCATATGCTATCCTAATCTATATCTGGGTAGCATAGGCTATCCTAATCTATATCTGGGTAGCATATGCTATCCTAATCTATATCTGGGTAGTATATGCTATCCTAATTTATATCTGGGTAGCATAGGCTATCCTAATCTATATCTGGGTAGCATATGCTATCCTAATCTATATCTGGGTAGTATATGCTATCCTAATCTGTATCCGGGTAGCATATGCTATCCTAATAGAGATTAGGGTAGTATATGCTATCCTAATTTATATCTGGGTAGCATATACTACCCAAATATCTGGATAGCATATGCTATCCTAATCTATATCTGGGTAGCATATGCTATCCTAATCTATATCTGGGTAGCATAGGCTATCCTAATCTATATCTGGGTAGCATATGCTATCCTAATCTATATCTGGGTAGTATATGCTATCCTAATTTATATCTGGGTAGCATAGGCTATCCTAATCTATATCTGGGTAGCATATGCTATCCTAATCTATATCTGGGTAGTATATGCTATCCTAATCTGTATCCGGGTAGCATATGCTATCCTCATGATAAGCTGTCAAACATGAGAATTTTCTTGAAGACGAAAGGGCCTCGTGATACGCCTATTTTTATAGGTTAATGTCATGATAATAATGGTTTCTTAGACGTCAGGTGGCACTTTTCGGGGAAATGTGCGCGGAACCCCTATTTGTTTATTTTTCTAAATACATTCAAATATGTATCCGCTCATGAGACAATAACCCTGATAAATGCTTCAATAATATTGAAAAAGGAAGAGTATGAGTATTCAACATTTCCGTGTCGCCCTTATTCCCTTTTTTGCGGCATTTTGCCTTCCTGTTTTTGCTCACCCAGAAACGCTGGTGAAAGTAAAAGATGCTGAAGATCAGTTGGGTGCACGAGTGGGTTACATCGAACTGGATCTCAACAGCGGTAAGATCCTTGAGAGTTTTCGCCCCGAAGAACGTTTTCCAATGATGAGCACTTTTAAAGTTCTGCTATGTGGCGCGGTATTATCCCGTGTTGACGCCGGGCAAGAGCAACTCGGTCGCCGCATACACTATTCTCAGAATGACTTGGTTGAGTACTCACCAGTCACAGAAAAGCATCTTACGGATGGCATGACAGTAAGAGAATTATGCAGTGCTGCCATAACCATGAGTGATAACACTGCGGCCAACTTACTTCTGACAACGATCGGAGGACCGAAGGAGCTAACCGCTTTTTTGCACAACATGGGGGATCATGTAACTCGCCTTGATCGTTGGGAACCGGAGCTGAATGAAGCCATACCAAACGACGAGCGTGACACCACGATGCCTGCAGCAATGGCAACAACGTTGCGCAAACTATTAACTGGCGAACTACTTACTCTAGCTTCCCGGCAACAATTAATAGACTGGATGGAGGCGGATAAAGTTGCAGGACCACTTCTGCGCTCGGCCCTTCCGGCTGGCTGGTTTATTGCTGATAAATCTGGAGCCGGTGAGCGTGGGTCTCGCGGTATCATTGCAGCACTGGGGCCAGATGGTAAGCCCTCCCGTATCGTAGTTATCTACACGACGGGGAGTCAGGCAACTATGGATGAACGAAATAGACAGATCGCTGAGATAGGTGCCTCACTGATTAAGCATTGGTAACTGTCAGACCAAGTTTACTCATATATACTTTAGATTGATTTAAAACTTCATTTTTAATTTAAAAGGATCTAGGTGAAGATCCTTTTTGATAATCTCATGACCAAAATCCCTTAACGTGAGTTTTCGTTCCACTGAGCGTCAGACCCCGTAGAAAAGATCAAAGGATCTTCTTGAGATCCTTTTTTTCTGCGCGTAATCTGCTGCTTGCAAACAAAAAAACCACCGCTACCAGCGGTGGTTTGTTTGCCGGATCAAGAGCTACCAACTCTTTTTCCGAAGGTAACTGGCTTCAGCAGAGCGCAGATACCAAATACTGTTCTTCTAGTGTAGCCGTAGTTAGGCCACCACTTCAAGAACTCTGTAGCACCGCCTACATACCTCGCTCTGCTAATCCTGTTACCAGTGGCTGCTGCCAGTGGCGATAAGTCGTGTCTTACCGGGTTGGACTCAAGACGATAGTTACCGGATAAGGCGCAGCGGTCGGGCTGAACGGGGGGTTCGTGCACACAGCCCAGCTTGGAGCGAACGACCTACACCGAACTGAGATACCTACAGCGTGAGCTATGAGAAAGCGCCACGCTTCCCGAAGGGAGAAAGGCGGACAGGTATCCGGTAAGCGGCAGGGTCGGAACAGGAGAGCGCACGAGGGAGCTTCCAGGGGGAAACGCCTGGTATCTTTATAGTCCTGTCGGGTTTCGCCACCTCTGACTTGAGCGTCGATTTTTGTGATGCTCGTCAGGGGGGCGGAGCCTATGGAAAAACGCCAGCAACGCGGCCTTTTTACGGTTCCTGGCCTTTTGCTGGCCTTTTGCTCACATGTTCTTTCCTGCGTTATCCCCTGATTCTGTGGATAACCGTATTACCGCCTTTGAGTGAGCTGATACCGCTCGCCGCAGCCGAACGACCGAGCGCAGCGAGTCAGTGAGCGAGGAAGCGGAAGAGCGCCCAATACGCAAACCGCCTCTCCCCGCGCGTTGGCCGATTCATTAATGCAGCTGGCACGACAGGTTTCCCGACTGGAAAGCGGGCAGTGAGCGCAACGCAATTAATGTGAGTTAGCTCACTCATTAGGCACCCCAGGCTTTACACTTTATGCTTCCGGCTCGTATGTTGTGTGGAATTGTGAGCGGATAACAATTTCACACAGGAAACAGCTATGACCATGATTACGCCAAGCTCTAGCTAGAGGTCGACCAATTCTCATGTTTGACAGCTTATCATCGCAGATCCGGGCAACGTTGTTGCCATTGCTGCAGGCGCAGAACTGGTAGGTATGGAAGATCTATACATTGAATCAATATTGGCAATTAGCCATATTAGTCATTGGTTATATAGCATAAATCAATATTGGCTATTGGCCATTGCATACGTTGTATCTATATCATAATATGTACATTTATATTGGCTCATGTCCAATATGACCGCCATGTTGACATTGATTATTGACTAGTTATTAATAGTAATCAATTACGGGGTCATTAGTTCATAGCCCATATATGGAGTTCCGCGTTACATAACTTACGGTAAATGGCCCGCCTGGCTGACCGCCCAACGACCCCCGCCCATTGACGTCAATAATGACGTATGTTCCCATAGTAACGCCAATAGGGACTTTCCATTGACGTCAATGGGTGGAGTATTTACGGTAAACTGCCCACTTGGCAGTACATCAAGTGTATCATATGCCAAGTCCGCCCCCTATTGACGTCAATGACGGTAAATGGCCCGCCTGGCATTATGCCCAGTACATGACCTTACGGGACTTTCCTACTTGGCAGTACATCTACGTATTAGTCATCGCTATTACCATGGTGATGCGGTTTTGGCAGTACACCAATGGGCGTGGATAGCGGTTTGACTCACGGGGATTTCCAAGTCTCCACCCCATTGACGTCAATGGGAGTTTGTTTTGGCACCAAAATCAACGGGACTTTCCAAAATGTCGTAATAACCCCGCCCCGTTGACGCAAATGGGCGGTAGGCGTGTACGGTGGGAGGTCTATATAAGCAGAGCTCGTTTAGTGAACCGTCAGATCCTCACTCTCTTCCGCATCGCTGTCTGCGAGGGCCAGCTGTTGGGCTCGCGGTTGAGGACAAACTCTTCGCGGTCTTTCCAGTACTCTTGGATCGGAAACCCGTCGGCCTCCGAACGGTACTCCGCCACCGAGGGACCTGAGCGAGTCCGCATCGACCGGATCGGAAAACCTCTCGAGAAAGGCGTCTAACCAGTCACAGTCGCAAGGTAGGCTGAGCACCGTGGCGGGCGGCAGCGGGTGGCGGTCGGGGTTGTTTCTGGCGGAGGTGCTGCTGATGATGTAATTAAAGTAGGCGGTCTTGAGACGGCGGATGGTCGAGGTGAGGTGTGGCAGGCTTGAGATCCAGCTGTTGGGGTGAGTACTCCCTCTCAAAAGCGGGCATTACTTCTGCGCTAAGATTGTCAGTTTCCAAAAACGAGGAGGATTTGATATTCACCTGGCCCGATCTGGCCATACACTTGAGTGACAATGACATCCACTTTGCCTTTCTCTCCACAGGTGTCCACTCCCAGGTCCAAGTTTAAACTGCGGCCGCCACCATGGTCTGGTCCCTGCACCCCCGGAACCTGATCCTGTACTTCTACGCCCTGCTGTTCCTGAGCAGCACCTGTGTCGCTTATGTGGCCACCCGGGACAACTGCTGCATCCTGGACGAGAGATTCGGCAGCTACTGCCCCACCACCTGTGGGATCGCCGACTTCCTGAGCACCTATCAGACTAAGGTCGACAAGGATCTGCAGAGCCTGGAAGATATCCTGCACCAGGTGGAGAACAAGACCAGCGAAGTGAAGCAGCTGATCAAGGCCATCCAGCTGACCTACAACCCCGACGAGAGCAGCAAGCCCAACATGATCGACGCCGCCACCCTGAAGTCCCGGAAGATGCTGGAAGAGATCATGAAGTACGAGGCCAGCATCCTGACCCACGACAGCAGCATCCGGTATCTGCAGGAAATCTACAACAGCAACAACCAGAAAATCGTGAACCTGAAAGAAAAGGTGGCCCAGCTGGAAGCCCAGTGCCAGGAACCCTGCAAGGACACCGTGCAGATCCACGACATCACCGGCAAGGACTGCCAGGATATCGCCAACAAGGGCGCCAAGCAGAGCGGCCTGTACTTCATCAAGCCCCTGAAGGCCAACCAGCAGTTCCTGGTGTACTGCGAGATCGACGGCAGCGGCAACGGCTGGACCGTGTTCCAGAAGCGGCTGGACGGCAGCGTGGACTTCAAGAAGAATTGGATTCAGTACAAAGAGGGCTTCGGCCACCTGAGCCCTACCGGCACCACCGAGTTCTGGCTGGGCAACGAGAAGATCCACCTGATCAGCACCCAGAGCGCCATCCCTTACGCCCTGCGGGTGGAGCTGGAAGATTGGAACGGCCGGACCAGCACCGCCGACTACGCCATGTTCAAAGTGGGACCTGAAGCCGATAAGTACCGGCTGACCTACGCCTACTTTGCCGGCGGAGATGCCGGCGACGCCTTCGACGGCTTCGACTTCGGCGACGACCCCAGCGACAAGTTCTTCACCAGCCACAACGGCATGCAGTTCAGCACCTGGGACAACGACAACGATAAGTTCGAGGGCAACTGCGCCGAGCAGGATGGCAGCGGGTGGTGGATGAACAAGTGCCACGCCGGGCACCTGAACGGCGTGTACTACCAGGGCGGCACCTACAGCAAGGCCAGCACCCCCAACGGCTACGACAACGGCATCATCTGGGCCACCTGGAAAACCCGGTGGTACAGCATGAAGAAAACCACCATGAAGATCATCCCTTTCAACAGACTGACCATCGGCGAGGGCCAGCAGCATCACCTGGGCGGAGCCAAACAGGTCCGGCCTGAGCACCCTGCCGAGACAGAGTACGACAGCCTGTACCCCGAGGACGACCTGTGAGGCGCGCC</a:t>
            </a:r>
          </a:p>
        </p:txBody>
      </p:sp>
      <p:sp>
        <p:nvSpPr>
          <p:cNvPr id="7" name="Title 4"/>
          <p:cNvSpPr>
            <a:spLocks noGrp="1"/>
          </p:cNvSpPr>
          <p:nvPr>
            <p:ph type="title"/>
          </p:nvPr>
        </p:nvSpPr>
        <p:spPr>
          <a:xfrm>
            <a:off x="628650" y="365126"/>
            <a:ext cx="7886700" cy="570539"/>
          </a:xfrm>
        </p:spPr>
        <p:txBody>
          <a:bodyPr>
            <a:normAutofit/>
          </a:bodyPr>
          <a:lstStyle/>
          <a:p>
            <a:pPr algn="ctr"/>
            <a:r>
              <a:rPr lang="en-US" sz="3200" dirty="0">
                <a:latin typeface="+mn-lt"/>
              </a:rPr>
              <a:t>FGG</a:t>
            </a:r>
          </a:p>
        </p:txBody>
      </p:sp>
    </p:spTree>
    <p:extLst>
      <p:ext uri="{BB962C8B-B14F-4D97-AF65-F5344CB8AC3E}">
        <p14:creationId xmlns:p14="http://schemas.microsoft.com/office/powerpoint/2010/main" val="645599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29143" y="1411900"/>
            <a:ext cx="7485714" cy="5076190"/>
          </a:xfrm>
          <a:prstGeom prst="rect">
            <a:avLst/>
          </a:prstGeom>
        </p:spPr>
      </p:pic>
      <p:sp>
        <p:nvSpPr>
          <p:cNvPr id="4" name="Slide Number Placeholder 3"/>
          <p:cNvSpPr>
            <a:spLocks noGrp="1"/>
          </p:cNvSpPr>
          <p:nvPr>
            <p:ph type="sldNum" sz="quarter" idx="12"/>
          </p:nvPr>
        </p:nvSpPr>
        <p:spPr/>
        <p:txBody>
          <a:bodyPr/>
          <a:lstStyle/>
          <a:p>
            <a:fld id="{1BEBA973-0D05-41A2-AA13-744C61EB6D17}" type="slidenum">
              <a:rPr lang="en-US" smtClean="0">
                <a:solidFill>
                  <a:sysClr val="windowText" lastClr="000000"/>
                </a:solidFill>
              </a:rPr>
              <a:t>22</a:t>
            </a:fld>
            <a:endParaRPr lang="en-US" dirty="0">
              <a:solidFill>
                <a:sysClr val="windowText" lastClr="000000"/>
              </a:solidFill>
            </a:endParaRPr>
          </a:p>
        </p:txBody>
      </p:sp>
      <p:sp>
        <p:nvSpPr>
          <p:cNvPr id="6" name="Title 4"/>
          <p:cNvSpPr>
            <a:spLocks noGrp="1"/>
          </p:cNvSpPr>
          <p:nvPr>
            <p:ph type="title"/>
          </p:nvPr>
        </p:nvSpPr>
        <p:spPr>
          <a:xfrm>
            <a:off x="628650" y="365126"/>
            <a:ext cx="7886700" cy="570539"/>
          </a:xfrm>
        </p:spPr>
        <p:txBody>
          <a:bodyPr>
            <a:normAutofit/>
          </a:bodyPr>
          <a:lstStyle/>
          <a:p>
            <a:pPr algn="ctr"/>
            <a:r>
              <a:rPr lang="en-US" sz="3200" dirty="0">
                <a:latin typeface="+mn-lt"/>
              </a:rPr>
              <a:t>LRAT Genetic Homologs</a:t>
            </a:r>
          </a:p>
        </p:txBody>
      </p:sp>
      <p:sp>
        <p:nvSpPr>
          <p:cNvPr id="7" name="Rectangle 6"/>
          <p:cNvSpPr/>
          <p:nvPr/>
        </p:nvSpPr>
        <p:spPr>
          <a:xfrm>
            <a:off x="1264188" y="3949995"/>
            <a:ext cx="3858001" cy="26554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5348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69819" y="1621551"/>
            <a:ext cx="8204362" cy="3241693"/>
          </a:xfrm>
          <a:prstGeom prst="rect">
            <a:avLst/>
          </a:prstGeom>
        </p:spPr>
      </p:pic>
      <p:sp>
        <p:nvSpPr>
          <p:cNvPr id="4" name="Rectangle 3"/>
          <p:cNvSpPr/>
          <p:nvPr/>
        </p:nvSpPr>
        <p:spPr>
          <a:xfrm>
            <a:off x="1839433" y="3498112"/>
            <a:ext cx="4146697" cy="19138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1BEBA973-0D05-41A2-AA13-744C61EB6D17}" type="slidenum">
              <a:rPr lang="en-US" smtClean="0"/>
              <a:t>23</a:t>
            </a:fld>
            <a:endParaRPr lang="en-US" dirty="0"/>
          </a:p>
        </p:txBody>
      </p:sp>
      <p:sp>
        <p:nvSpPr>
          <p:cNvPr id="8" name="Title 4"/>
          <p:cNvSpPr>
            <a:spLocks noGrp="1"/>
          </p:cNvSpPr>
          <p:nvPr>
            <p:ph type="title"/>
          </p:nvPr>
        </p:nvSpPr>
        <p:spPr>
          <a:xfrm>
            <a:off x="628650" y="365126"/>
            <a:ext cx="7886700" cy="570539"/>
          </a:xfrm>
        </p:spPr>
        <p:txBody>
          <a:bodyPr>
            <a:normAutofit/>
          </a:bodyPr>
          <a:lstStyle/>
          <a:p>
            <a:pPr algn="ctr"/>
            <a:r>
              <a:rPr lang="en-US" sz="3200" dirty="0">
                <a:latin typeface="+mn-lt"/>
              </a:rPr>
              <a:t>Trail of Discovery</a:t>
            </a:r>
          </a:p>
        </p:txBody>
      </p:sp>
      <p:sp>
        <p:nvSpPr>
          <p:cNvPr id="3" name="TextBox 2"/>
          <p:cNvSpPr txBox="1"/>
          <p:nvPr/>
        </p:nvSpPr>
        <p:spPr>
          <a:xfrm>
            <a:off x="2125689" y="5182605"/>
            <a:ext cx="4892621" cy="707886"/>
          </a:xfrm>
          <a:prstGeom prst="rect">
            <a:avLst/>
          </a:prstGeom>
          <a:noFill/>
          <a:ln w="38100">
            <a:solidFill>
              <a:srgbClr val="FF0000"/>
            </a:solidFill>
          </a:ln>
        </p:spPr>
        <p:txBody>
          <a:bodyPr wrap="square" rtlCol="0">
            <a:spAutoFit/>
          </a:bodyPr>
          <a:lstStyle/>
          <a:p>
            <a:pPr algn="ctr"/>
            <a:r>
              <a:rPr lang="en-US" sz="2000" dirty="0">
                <a:solidFill>
                  <a:srgbClr val="FF0000"/>
                </a:solidFill>
              </a:rPr>
              <a:t>Prior thought:  Cancer evades phagocytosis</a:t>
            </a:r>
          </a:p>
          <a:p>
            <a:pPr algn="ctr"/>
            <a:r>
              <a:rPr lang="en-US" sz="2000" dirty="0">
                <a:solidFill>
                  <a:srgbClr val="FF0000"/>
                </a:solidFill>
              </a:rPr>
              <a:t>New thought:  Cancer evades </a:t>
            </a:r>
            <a:r>
              <a:rPr lang="en-US" sz="2000" b="1" dirty="0">
                <a:solidFill>
                  <a:srgbClr val="FF0000"/>
                </a:solidFill>
              </a:rPr>
              <a:t>fibrinolysis</a:t>
            </a:r>
          </a:p>
        </p:txBody>
      </p:sp>
    </p:spTree>
    <p:extLst>
      <p:ext uri="{BB962C8B-B14F-4D97-AF65-F5344CB8AC3E}">
        <p14:creationId xmlns:p14="http://schemas.microsoft.com/office/powerpoint/2010/main" val="1387392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50AD656-6FF9-465D-B7B0-1CD0DD39CD23}" type="slidenum">
              <a:rPr lang="en-US" smtClean="0"/>
              <a:t>24</a:t>
            </a:fld>
            <a:endParaRPr lang="en-US" dirty="0"/>
          </a:p>
        </p:txBody>
      </p:sp>
      <p:pic>
        <p:nvPicPr>
          <p:cNvPr id="3" name="Picture 2"/>
          <p:cNvPicPr>
            <a:picLocks noChangeAspect="1"/>
          </p:cNvPicPr>
          <p:nvPr/>
        </p:nvPicPr>
        <p:blipFill>
          <a:blip r:embed="rId2"/>
          <a:stretch>
            <a:fillRect/>
          </a:stretch>
        </p:blipFill>
        <p:spPr>
          <a:xfrm>
            <a:off x="628650" y="1193722"/>
            <a:ext cx="7896234" cy="4904571"/>
          </a:xfrm>
          <a:prstGeom prst="rect">
            <a:avLst/>
          </a:prstGeom>
          <a:ln>
            <a:solidFill>
              <a:schemeClr val="tx1"/>
            </a:solidFill>
          </a:ln>
        </p:spPr>
      </p:pic>
      <p:sp>
        <p:nvSpPr>
          <p:cNvPr id="4" name="Title 4"/>
          <p:cNvSpPr txBox="1">
            <a:spLocks/>
          </p:cNvSpPr>
          <p:nvPr/>
        </p:nvSpPr>
        <p:spPr>
          <a:xfrm>
            <a:off x="628650" y="365126"/>
            <a:ext cx="7886700" cy="57053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latin typeface="+mn-lt"/>
              </a:rPr>
              <a:t>Applied Scientific Computing</a:t>
            </a:r>
          </a:p>
        </p:txBody>
      </p:sp>
    </p:spTree>
    <p:extLst>
      <p:ext uri="{BB962C8B-B14F-4D97-AF65-F5344CB8AC3E}">
        <p14:creationId xmlns:p14="http://schemas.microsoft.com/office/powerpoint/2010/main" val="881184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50AD656-6FF9-465D-B7B0-1CD0DD39CD23}" type="slidenum">
              <a:rPr lang="en-US" smtClean="0"/>
              <a:t>25</a:t>
            </a:fld>
            <a:endParaRPr lang="en-US" dirty="0"/>
          </a:p>
        </p:txBody>
      </p:sp>
      <p:pic>
        <p:nvPicPr>
          <p:cNvPr id="3" name="Picture 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78027" y="1061175"/>
            <a:ext cx="6987946" cy="5528591"/>
          </a:xfrm>
          <a:prstGeom prst="rect">
            <a:avLst/>
          </a:prstGeom>
          <a:ln>
            <a:solidFill>
              <a:schemeClr val="tx1"/>
            </a:solidFill>
          </a:ln>
        </p:spPr>
      </p:pic>
      <p:sp>
        <p:nvSpPr>
          <p:cNvPr id="4" name="Title 4"/>
          <p:cNvSpPr txBox="1">
            <a:spLocks/>
          </p:cNvSpPr>
          <p:nvPr/>
        </p:nvSpPr>
        <p:spPr>
          <a:xfrm>
            <a:off x="628650" y="365126"/>
            <a:ext cx="7886700" cy="57053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latin typeface="+mn-lt"/>
              </a:rPr>
              <a:t>Applied Scientific Computing</a:t>
            </a:r>
          </a:p>
        </p:txBody>
      </p:sp>
    </p:spTree>
    <p:extLst>
      <p:ext uri="{BB962C8B-B14F-4D97-AF65-F5344CB8AC3E}">
        <p14:creationId xmlns:p14="http://schemas.microsoft.com/office/powerpoint/2010/main" val="41420561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50AD656-6FF9-465D-B7B0-1CD0DD39CD23}" type="slidenum">
              <a:rPr lang="en-US" smtClean="0"/>
              <a:t>26</a:t>
            </a:fld>
            <a:endParaRPr lang="en-US" dirty="0"/>
          </a:p>
        </p:txBody>
      </p:sp>
      <p:pic>
        <p:nvPicPr>
          <p:cNvPr id="4" name="Picture 3"/>
          <p:cNvPicPr>
            <a:picLocks noChangeAspect="1"/>
          </p:cNvPicPr>
          <p:nvPr/>
        </p:nvPicPr>
        <p:blipFill>
          <a:blip r:embed="rId2"/>
          <a:stretch>
            <a:fillRect/>
          </a:stretch>
        </p:blipFill>
        <p:spPr>
          <a:xfrm>
            <a:off x="1251155" y="1054510"/>
            <a:ext cx="6641691" cy="5600044"/>
          </a:xfrm>
          <a:prstGeom prst="rect">
            <a:avLst/>
          </a:prstGeom>
          <a:ln>
            <a:solidFill>
              <a:schemeClr val="tx1"/>
            </a:solidFill>
          </a:ln>
        </p:spPr>
      </p:pic>
      <p:sp>
        <p:nvSpPr>
          <p:cNvPr id="5" name="Title 4"/>
          <p:cNvSpPr txBox="1">
            <a:spLocks/>
          </p:cNvSpPr>
          <p:nvPr/>
        </p:nvSpPr>
        <p:spPr>
          <a:xfrm>
            <a:off x="628650" y="365126"/>
            <a:ext cx="7886700" cy="57053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latin typeface="+mn-lt"/>
              </a:rPr>
              <a:t>Applied Scientific Computing</a:t>
            </a:r>
          </a:p>
        </p:txBody>
      </p:sp>
      <p:sp>
        <p:nvSpPr>
          <p:cNvPr id="3" name="Rectangle 2"/>
          <p:cNvSpPr/>
          <p:nvPr/>
        </p:nvSpPr>
        <p:spPr>
          <a:xfrm>
            <a:off x="1342103" y="1533832"/>
            <a:ext cx="4358149" cy="86278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309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103455"/>
          </a:xfrm>
        </p:spPr>
        <p:txBody>
          <a:bodyPr>
            <a:noAutofit/>
          </a:bodyPr>
          <a:lstStyle/>
          <a:p>
            <a:pPr algn="ctr"/>
            <a:r>
              <a:rPr lang="en-US" sz="3200" dirty="0">
                <a:latin typeface="+mn-lt"/>
              </a:rPr>
              <a:t>Trail of Discovery</a:t>
            </a:r>
          </a:p>
        </p:txBody>
      </p:sp>
      <p:sp>
        <p:nvSpPr>
          <p:cNvPr id="3" name="Content Placeholder 2"/>
          <p:cNvSpPr>
            <a:spLocks noGrp="1"/>
          </p:cNvSpPr>
          <p:nvPr>
            <p:ph idx="1"/>
          </p:nvPr>
        </p:nvSpPr>
        <p:spPr>
          <a:xfrm>
            <a:off x="613019" y="1825625"/>
            <a:ext cx="8007349" cy="4840898"/>
          </a:xfrm>
        </p:spPr>
        <p:txBody>
          <a:bodyPr>
            <a:noAutofit/>
          </a:bodyPr>
          <a:lstStyle/>
          <a:p>
            <a:pPr>
              <a:spcBef>
                <a:spcPts val="0"/>
              </a:spcBef>
              <a:spcAft>
                <a:spcPts val="1200"/>
              </a:spcAft>
            </a:pPr>
            <a:r>
              <a:rPr lang="en-US" sz="2400" dirty="0"/>
              <a:t>Emily determined LRAT and FGG share common encodings</a:t>
            </a:r>
          </a:p>
          <a:p>
            <a:pPr>
              <a:spcBef>
                <a:spcPts val="0"/>
              </a:spcBef>
              <a:spcAft>
                <a:spcPts val="1200"/>
              </a:spcAft>
            </a:pPr>
            <a:r>
              <a:rPr lang="en-US" sz="2400" dirty="0"/>
              <a:t>FGG signals your body to </a:t>
            </a:r>
            <a:r>
              <a:rPr lang="en-US" sz="2400" b="1" dirty="0">
                <a:solidFill>
                  <a:srgbClr val="00B050"/>
                </a:solidFill>
              </a:rPr>
              <a:t>remove blood clots </a:t>
            </a:r>
            <a:r>
              <a:rPr lang="en-US" sz="2400" dirty="0"/>
              <a:t>after any damage is healed – it disposes healthy cells that are no longer needed</a:t>
            </a:r>
          </a:p>
          <a:p>
            <a:pPr>
              <a:spcBef>
                <a:spcPts val="0"/>
              </a:spcBef>
              <a:spcAft>
                <a:spcPts val="1200"/>
              </a:spcAft>
            </a:pPr>
            <a:r>
              <a:rPr lang="en-US" sz="2400" dirty="0"/>
              <a:t>Perhaps </a:t>
            </a:r>
            <a:r>
              <a:rPr lang="en-US" sz="2400" b="1" dirty="0">
                <a:solidFill>
                  <a:srgbClr val="0070C0"/>
                </a:solidFill>
              </a:rPr>
              <a:t>cancer tricks your immune system </a:t>
            </a:r>
            <a:r>
              <a:rPr lang="en-US" sz="2400" dirty="0"/>
              <a:t>into thinking the cancerous cells are a wound and should not be disposed</a:t>
            </a:r>
          </a:p>
          <a:p>
            <a:pPr>
              <a:spcBef>
                <a:spcPts val="0"/>
              </a:spcBef>
              <a:spcAft>
                <a:spcPts val="1200"/>
              </a:spcAft>
            </a:pPr>
            <a:r>
              <a:rPr lang="en-US" sz="2400" dirty="0"/>
              <a:t>It may not be that the lack of LRAT results in a loss of cell membrane integrity (hence a greater chance of cancer spreading) – but there could be a link between something in LRAT and enabling cancer cell </a:t>
            </a:r>
            <a:r>
              <a:rPr lang="en-US" sz="2400" b="1" dirty="0">
                <a:solidFill>
                  <a:srgbClr val="FF0000"/>
                </a:solidFill>
              </a:rPr>
              <a:t>“stealth mode”</a:t>
            </a:r>
          </a:p>
          <a:p>
            <a:pPr>
              <a:spcBef>
                <a:spcPts val="0"/>
              </a:spcBef>
              <a:spcAft>
                <a:spcPts val="1200"/>
              </a:spcAft>
            </a:pPr>
            <a:endParaRPr lang="en-US" sz="2400" dirty="0"/>
          </a:p>
        </p:txBody>
      </p:sp>
      <p:sp>
        <p:nvSpPr>
          <p:cNvPr id="4" name="Slide Number Placeholder 3"/>
          <p:cNvSpPr>
            <a:spLocks noGrp="1"/>
          </p:cNvSpPr>
          <p:nvPr>
            <p:ph type="sldNum" sz="quarter" idx="12"/>
          </p:nvPr>
        </p:nvSpPr>
        <p:spPr/>
        <p:txBody>
          <a:bodyPr/>
          <a:lstStyle/>
          <a:p>
            <a:fld id="{650AD656-6FF9-465D-B7B0-1CD0DD39CD23}" type="slidenum">
              <a:rPr lang="en-US" smtClean="0"/>
              <a:t>27</a:t>
            </a:fld>
            <a:endParaRPr lang="en-US" dirty="0"/>
          </a:p>
        </p:txBody>
      </p:sp>
    </p:spTree>
    <p:extLst>
      <p:ext uri="{BB962C8B-B14F-4D97-AF65-F5344CB8AC3E}">
        <p14:creationId xmlns:p14="http://schemas.microsoft.com/office/powerpoint/2010/main" val="358932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C9C9B0-CFE7-48FF-A537-AC329D9E5890}"/>
              </a:ext>
            </a:extLst>
          </p:cNvPr>
          <p:cNvSpPr txBox="1"/>
          <p:nvPr/>
        </p:nvSpPr>
        <p:spPr>
          <a:xfrm>
            <a:off x="1803736" y="629107"/>
            <a:ext cx="5536529" cy="461665"/>
          </a:xfrm>
          <a:prstGeom prst="rect">
            <a:avLst/>
          </a:prstGeom>
          <a:noFill/>
        </p:spPr>
        <p:txBody>
          <a:bodyPr wrap="square" rtlCol="0">
            <a:spAutoFit/>
          </a:bodyPr>
          <a:lstStyle/>
          <a:p>
            <a:pPr algn="ctr"/>
            <a:r>
              <a:rPr lang="en-US" sz="2400" b="1" dirty="0"/>
              <a:t>Finding an Open Reading Frame (ORF)</a:t>
            </a:r>
          </a:p>
        </p:txBody>
      </p:sp>
      <p:sp>
        <p:nvSpPr>
          <p:cNvPr id="4" name="Slide Number Placeholder 3">
            <a:extLst>
              <a:ext uri="{FF2B5EF4-FFF2-40B4-BE49-F238E27FC236}">
                <a16:creationId xmlns:a16="http://schemas.microsoft.com/office/drawing/2014/main" id="{93D31048-47F7-4CF8-8828-5148ECFBB552}"/>
              </a:ext>
            </a:extLst>
          </p:cNvPr>
          <p:cNvSpPr>
            <a:spLocks noGrp="1"/>
          </p:cNvSpPr>
          <p:nvPr>
            <p:ph type="sldNum" sz="quarter" idx="12"/>
          </p:nvPr>
        </p:nvSpPr>
        <p:spPr/>
        <p:txBody>
          <a:bodyPr/>
          <a:lstStyle/>
          <a:p>
            <a:fld id="{1AF7FFAD-783D-4810-A9CB-C51F00BE5B3E}" type="slidenum">
              <a:rPr lang="en-US" smtClean="0"/>
              <a:t>28</a:t>
            </a:fld>
            <a:endParaRPr lang="en-US"/>
          </a:p>
        </p:txBody>
      </p:sp>
      <p:pic>
        <p:nvPicPr>
          <p:cNvPr id="2" name="Picture 1">
            <a:extLst>
              <a:ext uri="{FF2B5EF4-FFF2-40B4-BE49-F238E27FC236}">
                <a16:creationId xmlns:a16="http://schemas.microsoft.com/office/drawing/2014/main" id="{318AD2DD-7834-4035-8381-C45EA25074E1}"/>
              </a:ext>
            </a:extLst>
          </p:cNvPr>
          <p:cNvPicPr>
            <a:picLocks noChangeAspect="1"/>
          </p:cNvPicPr>
          <p:nvPr/>
        </p:nvPicPr>
        <p:blipFill>
          <a:blip r:embed="rId2"/>
          <a:stretch>
            <a:fillRect/>
          </a:stretch>
        </p:blipFill>
        <p:spPr>
          <a:xfrm>
            <a:off x="693357" y="1542754"/>
            <a:ext cx="7757286" cy="4363975"/>
          </a:xfrm>
          <a:prstGeom prst="rect">
            <a:avLst/>
          </a:prstGeom>
        </p:spPr>
      </p:pic>
      <p:sp>
        <p:nvSpPr>
          <p:cNvPr id="3" name="Rectangle 2">
            <a:extLst>
              <a:ext uri="{FF2B5EF4-FFF2-40B4-BE49-F238E27FC236}">
                <a16:creationId xmlns:a16="http://schemas.microsoft.com/office/drawing/2014/main" id="{1217E41A-BA74-4023-BC37-6E88A09C7F08}"/>
              </a:ext>
            </a:extLst>
          </p:cNvPr>
          <p:cNvSpPr/>
          <p:nvPr/>
        </p:nvSpPr>
        <p:spPr>
          <a:xfrm>
            <a:off x="3849329" y="1681317"/>
            <a:ext cx="626806" cy="2138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64AD8FB-D970-46F2-A8CB-97D9627AB7B5}"/>
              </a:ext>
            </a:extLst>
          </p:cNvPr>
          <p:cNvSpPr/>
          <p:nvPr/>
        </p:nvSpPr>
        <p:spPr>
          <a:xfrm>
            <a:off x="5545302" y="1681316"/>
            <a:ext cx="626806" cy="2138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9716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C9C9B0-CFE7-48FF-A537-AC329D9E5890}"/>
              </a:ext>
            </a:extLst>
          </p:cNvPr>
          <p:cNvSpPr txBox="1"/>
          <p:nvPr/>
        </p:nvSpPr>
        <p:spPr>
          <a:xfrm>
            <a:off x="1803736" y="629107"/>
            <a:ext cx="5536529" cy="461665"/>
          </a:xfrm>
          <a:prstGeom prst="rect">
            <a:avLst/>
          </a:prstGeom>
          <a:noFill/>
        </p:spPr>
        <p:txBody>
          <a:bodyPr wrap="square" rtlCol="0">
            <a:spAutoFit/>
          </a:bodyPr>
          <a:lstStyle/>
          <a:p>
            <a:pPr algn="ctr"/>
            <a:r>
              <a:rPr lang="en-US" sz="2400" b="1" dirty="0"/>
              <a:t>Finding an Open Reading Frame (ORF)</a:t>
            </a:r>
          </a:p>
        </p:txBody>
      </p:sp>
      <p:sp>
        <p:nvSpPr>
          <p:cNvPr id="4" name="Slide Number Placeholder 3">
            <a:extLst>
              <a:ext uri="{FF2B5EF4-FFF2-40B4-BE49-F238E27FC236}">
                <a16:creationId xmlns:a16="http://schemas.microsoft.com/office/drawing/2014/main" id="{93D31048-47F7-4CF8-8828-5148ECFBB552}"/>
              </a:ext>
            </a:extLst>
          </p:cNvPr>
          <p:cNvSpPr>
            <a:spLocks noGrp="1"/>
          </p:cNvSpPr>
          <p:nvPr>
            <p:ph type="sldNum" sz="quarter" idx="12"/>
          </p:nvPr>
        </p:nvSpPr>
        <p:spPr/>
        <p:txBody>
          <a:bodyPr/>
          <a:lstStyle/>
          <a:p>
            <a:fld id="{1AF7FFAD-783D-4810-A9CB-C51F00BE5B3E}" type="slidenum">
              <a:rPr lang="en-US" smtClean="0"/>
              <a:t>29</a:t>
            </a:fld>
            <a:endParaRPr lang="en-US"/>
          </a:p>
        </p:txBody>
      </p:sp>
      <p:pic>
        <p:nvPicPr>
          <p:cNvPr id="3" name="Picture 2">
            <a:extLst>
              <a:ext uri="{FF2B5EF4-FFF2-40B4-BE49-F238E27FC236}">
                <a16:creationId xmlns:a16="http://schemas.microsoft.com/office/drawing/2014/main" id="{5F1C3562-00FE-4BF7-975C-A673C22A46DF}"/>
              </a:ext>
            </a:extLst>
          </p:cNvPr>
          <p:cNvPicPr>
            <a:picLocks noChangeAspect="1"/>
          </p:cNvPicPr>
          <p:nvPr/>
        </p:nvPicPr>
        <p:blipFill rotWithShape="1">
          <a:blip r:embed="rId2"/>
          <a:srcRect t="12214"/>
          <a:stretch/>
        </p:blipFill>
        <p:spPr>
          <a:xfrm>
            <a:off x="722691" y="1533832"/>
            <a:ext cx="7698619" cy="4822519"/>
          </a:xfrm>
          <a:prstGeom prst="rect">
            <a:avLst/>
          </a:prstGeom>
          <a:ln>
            <a:noFill/>
          </a:ln>
        </p:spPr>
      </p:pic>
    </p:spTree>
    <p:extLst>
      <p:ext uri="{BB962C8B-B14F-4D97-AF65-F5344CB8AC3E}">
        <p14:creationId xmlns:p14="http://schemas.microsoft.com/office/powerpoint/2010/main" val="11809640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C9C9B0-CFE7-48FF-A537-AC329D9E5890}"/>
              </a:ext>
            </a:extLst>
          </p:cNvPr>
          <p:cNvSpPr txBox="1"/>
          <p:nvPr/>
        </p:nvSpPr>
        <p:spPr>
          <a:xfrm>
            <a:off x="1803736" y="629107"/>
            <a:ext cx="5536529" cy="461665"/>
          </a:xfrm>
          <a:prstGeom prst="rect">
            <a:avLst/>
          </a:prstGeom>
          <a:noFill/>
        </p:spPr>
        <p:txBody>
          <a:bodyPr wrap="square" rtlCol="0">
            <a:spAutoFit/>
          </a:bodyPr>
          <a:lstStyle/>
          <a:p>
            <a:pPr algn="ctr"/>
            <a:r>
              <a:rPr lang="en-US" sz="2400" b="1" dirty="0"/>
              <a:t>Finding an Open Reading Frame (ORF)</a:t>
            </a:r>
          </a:p>
        </p:txBody>
      </p:sp>
      <p:sp>
        <p:nvSpPr>
          <p:cNvPr id="2" name="TextBox 1">
            <a:extLst>
              <a:ext uri="{FF2B5EF4-FFF2-40B4-BE49-F238E27FC236}">
                <a16:creationId xmlns:a16="http://schemas.microsoft.com/office/drawing/2014/main" id="{496DAAB1-614D-47AC-B851-A89CB197730D}"/>
              </a:ext>
            </a:extLst>
          </p:cNvPr>
          <p:cNvSpPr txBox="1"/>
          <p:nvPr/>
        </p:nvSpPr>
        <p:spPr>
          <a:xfrm>
            <a:off x="1210666" y="1825656"/>
            <a:ext cx="6722669" cy="1384995"/>
          </a:xfrm>
          <a:prstGeom prst="rect">
            <a:avLst/>
          </a:prstGeom>
          <a:noFill/>
          <a:ln>
            <a:solidFill>
              <a:schemeClr val="tx1"/>
            </a:solidFill>
          </a:ln>
        </p:spPr>
        <p:txBody>
          <a:bodyPr wrap="square" rtlCol="0">
            <a:spAutoFit/>
          </a:bodyPr>
          <a:lstStyle/>
          <a:p>
            <a:r>
              <a:rPr lang="en-US" sz="1200" b="1" dirty="0">
                <a:solidFill>
                  <a:srgbClr val="7030A0"/>
                </a:solidFill>
              </a:rPr>
              <a:t>DNA</a:t>
            </a:r>
            <a:r>
              <a:rPr lang="en-US" sz="1200" dirty="0"/>
              <a:t> (Deoxyribonucleic acid) is the genetic material that contains all the genetic information in a living organisms.  The information is stored as genetic codes using adenine (A), guanine (G), cytosine(C) and thymine (T).  During the transcription process, DNA is copied to mRNA.  Each of these base pairs will bond with a sugar and phosphate molecule to form a nucleotide. </a:t>
            </a:r>
            <a:r>
              <a:rPr lang="en-US" sz="1200" b="1" dirty="0"/>
              <a:t>Three nucleotides </a:t>
            </a:r>
            <a:r>
              <a:rPr lang="en-US" sz="1200" dirty="0"/>
              <a:t>that code for a particular amino acid during translation is called as a </a:t>
            </a:r>
            <a:r>
              <a:rPr lang="en-US" sz="1200" b="1" dirty="0">
                <a:solidFill>
                  <a:srgbClr val="0070C0"/>
                </a:solidFill>
              </a:rPr>
              <a:t>codon</a:t>
            </a:r>
            <a:r>
              <a:rPr lang="en-US" sz="1200" dirty="0"/>
              <a:t>. An Open Reading Frame (ORF) goes from the </a:t>
            </a:r>
            <a:r>
              <a:rPr lang="en-US" sz="1200" b="1" dirty="0">
                <a:solidFill>
                  <a:srgbClr val="00B050"/>
                </a:solidFill>
              </a:rPr>
              <a:t>start</a:t>
            </a:r>
            <a:r>
              <a:rPr lang="en-US" sz="1200" dirty="0"/>
              <a:t> </a:t>
            </a:r>
            <a:r>
              <a:rPr lang="en-US" sz="1200" b="1" dirty="0">
                <a:solidFill>
                  <a:srgbClr val="00B050"/>
                </a:solidFill>
              </a:rPr>
              <a:t>codon</a:t>
            </a:r>
            <a:r>
              <a:rPr lang="en-US" sz="1200" dirty="0"/>
              <a:t> to a </a:t>
            </a:r>
            <a:r>
              <a:rPr lang="en-US" sz="1200" b="1" dirty="0">
                <a:solidFill>
                  <a:srgbClr val="FF0000"/>
                </a:solidFill>
              </a:rPr>
              <a:t>stop codon </a:t>
            </a:r>
            <a:r>
              <a:rPr lang="en-US" sz="1200" dirty="0"/>
              <a:t>and encodes a specific protein. By analyzing the ORF we can predict the possible amino acids that might be produced during translation. </a:t>
            </a:r>
          </a:p>
        </p:txBody>
      </p:sp>
      <p:sp>
        <p:nvSpPr>
          <p:cNvPr id="3" name="TextBox 2">
            <a:extLst>
              <a:ext uri="{FF2B5EF4-FFF2-40B4-BE49-F238E27FC236}">
                <a16:creationId xmlns:a16="http://schemas.microsoft.com/office/drawing/2014/main" id="{CCC626DB-CB93-4AC7-B99C-949BE3A8875D}"/>
              </a:ext>
            </a:extLst>
          </p:cNvPr>
          <p:cNvSpPr txBox="1"/>
          <p:nvPr/>
        </p:nvSpPr>
        <p:spPr>
          <a:xfrm>
            <a:off x="1210666" y="3546042"/>
            <a:ext cx="6722669" cy="2677656"/>
          </a:xfrm>
          <a:prstGeom prst="rect">
            <a:avLst/>
          </a:prstGeom>
          <a:noFill/>
          <a:ln>
            <a:solidFill>
              <a:schemeClr val="tx1"/>
            </a:solidFill>
          </a:ln>
        </p:spPr>
        <p:txBody>
          <a:bodyPr wrap="square" rtlCol="0">
            <a:spAutoFit/>
          </a:bodyPr>
          <a:lstStyle/>
          <a:p>
            <a:r>
              <a:rPr lang="en-US" sz="1200" dirty="0"/>
              <a:t>Given a sequence, create 6 different reading frames labeled +1, +2, +3, -1, -2 and -3:</a:t>
            </a:r>
          </a:p>
          <a:p>
            <a:pPr marL="171450" indent="-171450">
              <a:buFont typeface="Arial" panose="020B0604020202020204" pitchFamily="34" charset="0"/>
              <a:buChar char="•"/>
            </a:pPr>
            <a:r>
              <a:rPr lang="en-US" sz="1200" dirty="0"/>
              <a:t>The first reading frame is obtained by considering the sequence in words of 3</a:t>
            </a:r>
          </a:p>
          <a:p>
            <a:pPr marL="171450" indent="-171450">
              <a:buFont typeface="Arial" panose="020B0604020202020204" pitchFamily="34" charset="0"/>
              <a:buChar char="•"/>
            </a:pPr>
            <a:r>
              <a:rPr lang="en-US" sz="1200" dirty="0"/>
              <a:t>The second reading frame is formed after skipping the first nucleotide and then grouping the remaining sequence into words of 3 nucleotides</a:t>
            </a:r>
          </a:p>
          <a:p>
            <a:pPr marL="171450" indent="-171450">
              <a:buFont typeface="Arial" panose="020B0604020202020204" pitchFamily="34" charset="0"/>
              <a:buChar char="•"/>
            </a:pPr>
            <a:r>
              <a:rPr lang="en-US" sz="1200" dirty="0"/>
              <a:t>The third reading frame is formed after skipping the first 2 nucleotides and then grouping the remaining sequence into words of 3 nucleotides</a:t>
            </a:r>
          </a:p>
          <a:p>
            <a:pPr marL="171450" indent="-171450">
              <a:buFont typeface="Arial" panose="020B0604020202020204" pitchFamily="34" charset="0"/>
              <a:buChar char="•"/>
            </a:pPr>
            <a:r>
              <a:rPr lang="en-US" sz="1200" dirty="0"/>
              <a:t>The other negative 3 reading frames can be found only after finding the </a:t>
            </a:r>
            <a:r>
              <a:rPr lang="en-US" sz="1200" b="1" dirty="0">
                <a:solidFill>
                  <a:srgbClr val="FF0000"/>
                </a:solidFill>
              </a:rPr>
              <a:t>reverse complement of the sequence</a:t>
            </a:r>
          </a:p>
          <a:p>
            <a:pPr marL="171450" indent="-171450">
              <a:buFont typeface="Arial" panose="020B0604020202020204" pitchFamily="34" charset="0"/>
              <a:buChar char="•"/>
            </a:pPr>
            <a:r>
              <a:rPr lang="en-US" sz="1200" dirty="0"/>
              <a:t>The same process as for the +1, +2 and +3 strands is repeated for the -1, -2 and -3 strands, but now using the </a:t>
            </a:r>
            <a:r>
              <a:rPr lang="en-US" sz="1200" i="1" dirty="0"/>
              <a:t>reverse complement </a:t>
            </a:r>
            <a:r>
              <a:rPr lang="en-US" sz="1200" dirty="0"/>
              <a:t>sequence</a:t>
            </a:r>
          </a:p>
          <a:p>
            <a:endParaRPr lang="en-US" sz="1200" dirty="0"/>
          </a:p>
          <a:p>
            <a:r>
              <a:rPr lang="en-US" sz="1200" dirty="0"/>
              <a:t>To identify each open reading frame (ORF):</a:t>
            </a:r>
          </a:p>
          <a:p>
            <a:pPr marL="171450" indent="-171450">
              <a:buFont typeface="Arial" panose="020B0604020202020204" pitchFamily="34" charset="0"/>
              <a:buChar char="•"/>
            </a:pPr>
            <a:r>
              <a:rPr lang="en-US" sz="1200" dirty="0"/>
              <a:t>Find the start codon and stop codons in each reading frame </a:t>
            </a:r>
          </a:p>
          <a:p>
            <a:pPr marL="171450" indent="-171450">
              <a:buFont typeface="Arial" panose="020B0604020202020204" pitchFamily="34" charset="0"/>
              <a:buChar char="•"/>
            </a:pPr>
            <a:r>
              <a:rPr lang="en-US" sz="1200" dirty="0"/>
              <a:t>Display the sequence stretch beginning with a start codon and ending in a stop codon</a:t>
            </a:r>
          </a:p>
        </p:txBody>
      </p:sp>
      <p:sp>
        <p:nvSpPr>
          <p:cNvPr id="5" name="TextBox 4">
            <a:extLst>
              <a:ext uri="{FF2B5EF4-FFF2-40B4-BE49-F238E27FC236}">
                <a16:creationId xmlns:a16="http://schemas.microsoft.com/office/drawing/2014/main" id="{D6896631-DECE-48DD-BA4A-37F107D736C4}"/>
              </a:ext>
            </a:extLst>
          </p:cNvPr>
          <p:cNvSpPr txBox="1"/>
          <p:nvPr/>
        </p:nvSpPr>
        <p:spPr>
          <a:xfrm>
            <a:off x="2722221" y="1265546"/>
            <a:ext cx="3699557" cy="261610"/>
          </a:xfrm>
          <a:prstGeom prst="rect">
            <a:avLst/>
          </a:prstGeom>
          <a:noFill/>
        </p:spPr>
        <p:txBody>
          <a:bodyPr wrap="square" rtlCol="0">
            <a:spAutoFit/>
          </a:bodyPr>
          <a:lstStyle/>
          <a:p>
            <a:pPr algn="ctr"/>
            <a:r>
              <a:rPr lang="en-US" sz="1100" dirty="0">
                <a:hlinkClick r:id="rId2"/>
              </a:rPr>
              <a:t>https://en.wikipedia.org/wiki/Open_reading_frame</a:t>
            </a:r>
            <a:endParaRPr lang="en-US" sz="1100" dirty="0"/>
          </a:p>
        </p:txBody>
      </p:sp>
      <p:sp>
        <p:nvSpPr>
          <p:cNvPr id="4" name="Slide Number Placeholder 3">
            <a:extLst>
              <a:ext uri="{FF2B5EF4-FFF2-40B4-BE49-F238E27FC236}">
                <a16:creationId xmlns:a16="http://schemas.microsoft.com/office/drawing/2014/main" id="{93D31048-47F7-4CF8-8828-5148ECFBB552}"/>
              </a:ext>
            </a:extLst>
          </p:cNvPr>
          <p:cNvSpPr>
            <a:spLocks noGrp="1"/>
          </p:cNvSpPr>
          <p:nvPr>
            <p:ph type="sldNum" sz="quarter" idx="12"/>
          </p:nvPr>
        </p:nvSpPr>
        <p:spPr/>
        <p:txBody>
          <a:bodyPr/>
          <a:lstStyle/>
          <a:p>
            <a:fld id="{1AF7FFAD-783D-4810-A9CB-C51F00BE5B3E}" type="slidenum">
              <a:rPr lang="en-US" smtClean="0"/>
              <a:t>30</a:t>
            </a:fld>
            <a:endParaRPr lang="en-US" dirty="0"/>
          </a:p>
        </p:txBody>
      </p:sp>
    </p:spTree>
    <p:extLst>
      <p:ext uri="{BB962C8B-B14F-4D97-AF65-F5344CB8AC3E}">
        <p14:creationId xmlns:p14="http://schemas.microsoft.com/office/powerpoint/2010/main" val="12547965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50AD656-6FF9-465D-B7B0-1CD0DD39CD23}" type="slidenum">
              <a:rPr lang="en-US" smtClean="0"/>
              <a:t>31</a:t>
            </a:fld>
            <a:endParaRPr lang="en-US" dirty="0"/>
          </a:p>
        </p:txBody>
      </p:sp>
      <p:sp>
        <p:nvSpPr>
          <p:cNvPr id="11" name="Title 1"/>
          <p:cNvSpPr>
            <a:spLocks noGrp="1"/>
          </p:cNvSpPr>
          <p:nvPr>
            <p:ph type="title"/>
          </p:nvPr>
        </p:nvSpPr>
        <p:spPr>
          <a:xfrm>
            <a:off x="628650" y="365126"/>
            <a:ext cx="7886700" cy="1103455"/>
          </a:xfrm>
        </p:spPr>
        <p:txBody>
          <a:bodyPr>
            <a:noAutofit/>
          </a:bodyPr>
          <a:lstStyle/>
          <a:p>
            <a:pPr algn="ctr"/>
            <a:r>
              <a:rPr lang="en-US" sz="3200" b="1" dirty="0">
                <a:solidFill>
                  <a:srgbClr val="0070C0"/>
                </a:solidFill>
                <a:latin typeface="+mn-lt"/>
              </a:rPr>
              <a:t>Open</a:t>
            </a:r>
            <a:r>
              <a:rPr lang="en-US" sz="3200" dirty="0">
                <a:latin typeface="+mn-lt"/>
              </a:rPr>
              <a:t> </a:t>
            </a:r>
            <a:r>
              <a:rPr lang="en-US" sz="3200" dirty="0" err="1">
                <a:latin typeface="+mn-lt"/>
              </a:rPr>
              <a:t>start_open_reading_frame.ipynb</a:t>
            </a:r>
            <a:endParaRPr lang="en-US" sz="3200" dirty="0">
              <a:latin typeface="+mn-lt"/>
            </a:endParaRPr>
          </a:p>
        </p:txBody>
      </p:sp>
      <p:pic>
        <p:nvPicPr>
          <p:cNvPr id="3" name="Picture 2">
            <a:extLst>
              <a:ext uri="{FF2B5EF4-FFF2-40B4-BE49-F238E27FC236}">
                <a16:creationId xmlns:a16="http://schemas.microsoft.com/office/drawing/2014/main" id="{F061B663-770A-4A4A-8320-C766CBD31EA2}"/>
              </a:ext>
            </a:extLst>
          </p:cNvPr>
          <p:cNvPicPr>
            <a:picLocks noChangeAspect="1"/>
          </p:cNvPicPr>
          <p:nvPr/>
        </p:nvPicPr>
        <p:blipFill>
          <a:blip r:embed="rId3"/>
          <a:stretch>
            <a:fillRect/>
          </a:stretch>
        </p:blipFill>
        <p:spPr>
          <a:xfrm>
            <a:off x="370410" y="1459036"/>
            <a:ext cx="4067034" cy="3263368"/>
          </a:xfrm>
          <a:prstGeom prst="rect">
            <a:avLst/>
          </a:prstGeom>
          <a:ln>
            <a:solidFill>
              <a:schemeClr val="tx1"/>
            </a:solidFill>
          </a:ln>
        </p:spPr>
      </p:pic>
      <p:pic>
        <p:nvPicPr>
          <p:cNvPr id="8" name="Picture 7">
            <a:extLst>
              <a:ext uri="{FF2B5EF4-FFF2-40B4-BE49-F238E27FC236}">
                <a16:creationId xmlns:a16="http://schemas.microsoft.com/office/drawing/2014/main" id="{D34AAA63-310E-410F-AB64-2BF4EC96BF6E}"/>
              </a:ext>
            </a:extLst>
          </p:cNvPr>
          <p:cNvPicPr>
            <a:picLocks noChangeAspect="1"/>
          </p:cNvPicPr>
          <p:nvPr/>
        </p:nvPicPr>
        <p:blipFill>
          <a:blip r:embed="rId4"/>
          <a:stretch>
            <a:fillRect/>
          </a:stretch>
        </p:blipFill>
        <p:spPr>
          <a:xfrm>
            <a:off x="4639456" y="1468581"/>
            <a:ext cx="4067034" cy="4858257"/>
          </a:xfrm>
          <a:prstGeom prst="rect">
            <a:avLst/>
          </a:prstGeom>
          <a:ln>
            <a:solidFill>
              <a:schemeClr val="tx1"/>
            </a:solidFill>
          </a:ln>
        </p:spPr>
      </p:pic>
      <p:pic>
        <p:nvPicPr>
          <p:cNvPr id="29" name="Picture 28">
            <a:extLst>
              <a:ext uri="{FF2B5EF4-FFF2-40B4-BE49-F238E27FC236}">
                <a16:creationId xmlns:a16="http://schemas.microsoft.com/office/drawing/2014/main" id="{1D1361D2-6CFC-412F-A216-FC18A13B9D45}"/>
              </a:ext>
            </a:extLst>
          </p:cNvPr>
          <p:cNvPicPr>
            <a:picLocks noChangeAspect="1"/>
          </p:cNvPicPr>
          <p:nvPr/>
        </p:nvPicPr>
        <p:blipFill>
          <a:blip r:embed="rId5"/>
          <a:stretch>
            <a:fillRect/>
          </a:stretch>
        </p:blipFill>
        <p:spPr>
          <a:xfrm>
            <a:off x="1544726" y="4850541"/>
            <a:ext cx="1932055" cy="1787998"/>
          </a:xfrm>
          <a:prstGeom prst="rect">
            <a:avLst/>
          </a:prstGeom>
          <a:ln>
            <a:solidFill>
              <a:schemeClr val="tx1"/>
            </a:solidFill>
          </a:ln>
        </p:spPr>
      </p:pic>
    </p:spTree>
    <p:extLst>
      <p:ext uri="{BB962C8B-B14F-4D97-AF65-F5344CB8AC3E}">
        <p14:creationId xmlns:p14="http://schemas.microsoft.com/office/powerpoint/2010/main" val="1178891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down)">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50AD656-6FF9-465D-B7B0-1CD0DD39CD23}" type="slidenum">
              <a:rPr lang="en-US" smtClean="0"/>
              <a:t>32</a:t>
            </a:fld>
            <a:endParaRPr lang="en-US" dirty="0"/>
          </a:p>
        </p:txBody>
      </p:sp>
      <p:sp>
        <p:nvSpPr>
          <p:cNvPr id="11" name="Title 1"/>
          <p:cNvSpPr>
            <a:spLocks noGrp="1"/>
          </p:cNvSpPr>
          <p:nvPr>
            <p:ph type="title"/>
          </p:nvPr>
        </p:nvSpPr>
        <p:spPr>
          <a:xfrm>
            <a:off x="628650" y="365126"/>
            <a:ext cx="7886700" cy="1103455"/>
          </a:xfrm>
        </p:spPr>
        <p:txBody>
          <a:bodyPr>
            <a:noAutofit/>
          </a:bodyPr>
          <a:lstStyle/>
          <a:p>
            <a:pPr algn="ctr"/>
            <a:r>
              <a:rPr lang="en-US" sz="3200" b="1" dirty="0">
                <a:solidFill>
                  <a:srgbClr val="00B050"/>
                </a:solidFill>
                <a:latin typeface="+mn-lt"/>
              </a:rPr>
              <a:t>Run</a:t>
            </a:r>
            <a:r>
              <a:rPr lang="en-US" sz="3200" dirty="0">
                <a:latin typeface="+mn-lt"/>
              </a:rPr>
              <a:t> Cell 01 – Find ORF in DNA Sequence</a:t>
            </a:r>
          </a:p>
        </p:txBody>
      </p:sp>
      <p:pic>
        <p:nvPicPr>
          <p:cNvPr id="5" name="Picture 4">
            <a:extLst>
              <a:ext uri="{FF2B5EF4-FFF2-40B4-BE49-F238E27FC236}">
                <a16:creationId xmlns:a16="http://schemas.microsoft.com/office/drawing/2014/main" id="{A63C6E5D-7D4A-408B-8D44-7A1CD7FDB8DC}"/>
              </a:ext>
            </a:extLst>
          </p:cNvPr>
          <p:cNvPicPr>
            <a:picLocks noChangeAspect="1"/>
          </p:cNvPicPr>
          <p:nvPr/>
        </p:nvPicPr>
        <p:blipFill>
          <a:blip r:embed="rId3"/>
          <a:stretch>
            <a:fillRect/>
          </a:stretch>
        </p:blipFill>
        <p:spPr>
          <a:xfrm>
            <a:off x="1135075" y="3668037"/>
            <a:ext cx="6764742" cy="2824837"/>
          </a:xfrm>
          <a:prstGeom prst="rect">
            <a:avLst/>
          </a:prstGeom>
          <a:ln>
            <a:solidFill>
              <a:schemeClr val="tx1"/>
            </a:solidFill>
          </a:ln>
        </p:spPr>
      </p:pic>
      <p:pic>
        <p:nvPicPr>
          <p:cNvPr id="6" name="Picture 5">
            <a:extLst>
              <a:ext uri="{FF2B5EF4-FFF2-40B4-BE49-F238E27FC236}">
                <a16:creationId xmlns:a16="http://schemas.microsoft.com/office/drawing/2014/main" id="{6257FEE7-540D-4D4D-8029-B9736732DC70}"/>
              </a:ext>
            </a:extLst>
          </p:cNvPr>
          <p:cNvPicPr>
            <a:picLocks noChangeAspect="1"/>
          </p:cNvPicPr>
          <p:nvPr/>
        </p:nvPicPr>
        <p:blipFill>
          <a:blip r:embed="rId4"/>
          <a:stretch>
            <a:fillRect/>
          </a:stretch>
        </p:blipFill>
        <p:spPr>
          <a:xfrm>
            <a:off x="959274" y="1438254"/>
            <a:ext cx="7116344" cy="1990746"/>
          </a:xfrm>
          <a:prstGeom prst="rect">
            <a:avLst/>
          </a:prstGeom>
          <a:ln>
            <a:solidFill>
              <a:schemeClr val="tx1"/>
            </a:solidFill>
          </a:ln>
        </p:spPr>
      </p:pic>
    </p:spTree>
    <p:extLst>
      <p:ext uri="{BB962C8B-B14F-4D97-AF65-F5344CB8AC3E}">
        <p14:creationId xmlns:p14="http://schemas.microsoft.com/office/powerpoint/2010/main" val="226255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C2C361-8441-4D70-95B0-7B4EFDA7B8ED}"/>
              </a:ext>
            </a:extLst>
          </p:cNvPr>
          <p:cNvSpPr>
            <a:spLocks noGrp="1"/>
          </p:cNvSpPr>
          <p:nvPr>
            <p:ph type="sldNum" sz="quarter" idx="12"/>
          </p:nvPr>
        </p:nvSpPr>
        <p:spPr/>
        <p:txBody>
          <a:bodyPr/>
          <a:lstStyle/>
          <a:p>
            <a:fld id="{650AD656-6FF9-465D-B7B0-1CD0DD39CD23}" type="slidenum">
              <a:rPr lang="en-US" smtClean="0"/>
              <a:pPr/>
              <a:t>33</a:t>
            </a:fld>
            <a:endParaRPr lang="en-US" dirty="0"/>
          </a:p>
        </p:txBody>
      </p:sp>
      <p:pic>
        <p:nvPicPr>
          <p:cNvPr id="3" name="Picture 2">
            <a:extLst>
              <a:ext uri="{FF2B5EF4-FFF2-40B4-BE49-F238E27FC236}">
                <a16:creationId xmlns:a16="http://schemas.microsoft.com/office/drawing/2014/main" id="{0BF17462-CD8E-4E5A-874F-AFF7390F5C3D}"/>
              </a:ext>
            </a:extLst>
          </p:cNvPr>
          <p:cNvPicPr>
            <a:picLocks noChangeAspect="1"/>
          </p:cNvPicPr>
          <p:nvPr/>
        </p:nvPicPr>
        <p:blipFill>
          <a:blip r:embed="rId2"/>
          <a:stretch>
            <a:fillRect/>
          </a:stretch>
        </p:blipFill>
        <p:spPr>
          <a:xfrm>
            <a:off x="1626277" y="334561"/>
            <a:ext cx="5891445" cy="63869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6455693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200" dirty="0">
                <a:latin typeface="+mn-lt"/>
              </a:rPr>
              <a:t>Now you know…</a:t>
            </a:r>
          </a:p>
        </p:txBody>
      </p:sp>
      <p:sp>
        <p:nvSpPr>
          <p:cNvPr id="3" name="Content Placeholder 2"/>
          <p:cNvSpPr>
            <a:spLocks noGrp="1"/>
          </p:cNvSpPr>
          <p:nvPr>
            <p:ph sz="half" idx="1"/>
          </p:nvPr>
        </p:nvSpPr>
        <p:spPr/>
        <p:txBody>
          <a:bodyPr>
            <a:noAutofit/>
          </a:bodyPr>
          <a:lstStyle/>
          <a:p>
            <a:pPr>
              <a:spcBef>
                <a:spcPts val="0"/>
              </a:spcBef>
              <a:spcAft>
                <a:spcPts val="1200"/>
              </a:spcAft>
            </a:pPr>
            <a:r>
              <a:rPr lang="en-US" sz="2400" dirty="0"/>
              <a:t>Python has excellent built-in support for character and </a:t>
            </a:r>
            <a:r>
              <a:rPr lang="en-US" sz="2400" b="1" dirty="0">
                <a:solidFill>
                  <a:srgbClr val="00B050"/>
                </a:solidFill>
              </a:rPr>
              <a:t>string</a:t>
            </a:r>
            <a:r>
              <a:rPr lang="en-US" sz="2400" dirty="0"/>
              <a:t> operations using tuples, lists, and dictionaries</a:t>
            </a:r>
          </a:p>
          <a:p>
            <a:pPr>
              <a:spcBef>
                <a:spcPts val="0"/>
              </a:spcBef>
              <a:spcAft>
                <a:spcPts val="1200"/>
              </a:spcAft>
            </a:pPr>
            <a:r>
              <a:rPr lang="en-US" sz="2400" dirty="0"/>
              <a:t>DNA </a:t>
            </a:r>
            <a:r>
              <a:rPr lang="en-US" sz="2400" b="1" dirty="0">
                <a:solidFill>
                  <a:srgbClr val="0070C0"/>
                </a:solidFill>
              </a:rPr>
              <a:t>homologs</a:t>
            </a:r>
            <a:r>
              <a:rPr lang="en-US" sz="2400" dirty="0"/>
              <a:t> can potentially yield unexpected relationships between different genes and species</a:t>
            </a:r>
          </a:p>
        </p:txBody>
      </p:sp>
      <p:sp>
        <p:nvSpPr>
          <p:cNvPr id="8" name="Content Placeholder 7">
            <a:extLst>
              <a:ext uri="{FF2B5EF4-FFF2-40B4-BE49-F238E27FC236}">
                <a16:creationId xmlns:a16="http://schemas.microsoft.com/office/drawing/2014/main" id="{6D8974BE-9083-4259-8B24-CF718AE74E9D}"/>
              </a:ext>
            </a:extLst>
          </p:cNvPr>
          <p:cNvSpPr>
            <a:spLocks noGrp="1"/>
          </p:cNvSpPr>
          <p:nvPr>
            <p:ph sz="half" idx="2"/>
          </p:nvPr>
        </p:nvSpPr>
        <p:spPr/>
        <p:txBody>
          <a:bodyPr/>
          <a:lstStyle/>
          <a:p>
            <a:r>
              <a:rPr lang="en-US" sz="2400" dirty="0"/>
              <a:t>Finding </a:t>
            </a:r>
            <a:r>
              <a:rPr lang="en-US" sz="2400" b="1" dirty="0">
                <a:solidFill>
                  <a:srgbClr val="FF0000"/>
                </a:solidFill>
              </a:rPr>
              <a:t>Open Reading Frames </a:t>
            </a:r>
            <a:r>
              <a:rPr lang="en-US" sz="2400" dirty="0"/>
              <a:t>enables us to identify biologically active protein sequences encoded in DNA</a:t>
            </a:r>
          </a:p>
          <a:p>
            <a:endParaRPr lang="en-US" dirty="0"/>
          </a:p>
        </p:txBody>
      </p:sp>
      <p:sp>
        <p:nvSpPr>
          <p:cNvPr id="5" name="Slide Number Placeholder 4"/>
          <p:cNvSpPr>
            <a:spLocks noGrp="1"/>
          </p:cNvSpPr>
          <p:nvPr>
            <p:ph type="sldNum" sz="quarter" idx="12"/>
          </p:nvPr>
        </p:nvSpPr>
        <p:spPr/>
        <p:txBody>
          <a:bodyPr/>
          <a:lstStyle/>
          <a:p>
            <a:fld id="{650AD656-6FF9-465D-B7B0-1CD0DD39CD23}" type="slidenum">
              <a:rPr lang="en-US" smtClean="0"/>
              <a:t>34</a:t>
            </a:fld>
            <a:endParaRPr lang="en-US" dirty="0"/>
          </a:p>
        </p:txBody>
      </p:sp>
      <p:sp>
        <p:nvSpPr>
          <p:cNvPr id="4" name="Content Placeholder 2"/>
          <p:cNvSpPr txBox="1">
            <a:spLocks/>
          </p:cNvSpPr>
          <p:nvPr/>
        </p:nvSpPr>
        <p:spPr>
          <a:xfrm>
            <a:off x="5142035" y="1825625"/>
            <a:ext cx="3533042"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1200"/>
              </a:spcAft>
            </a:pPr>
            <a:endParaRPr lang="en-US" sz="2400" b="1" dirty="0">
              <a:solidFill>
                <a:srgbClr val="00B050"/>
              </a:solidFill>
            </a:endParaRPr>
          </a:p>
        </p:txBody>
      </p:sp>
      <p:sp>
        <p:nvSpPr>
          <p:cNvPr id="6" name="Content Placeholder 2">
            <a:extLst>
              <a:ext uri="{FF2B5EF4-FFF2-40B4-BE49-F238E27FC236}">
                <a16:creationId xmlns:a16="http://schemas.microsoft.com/office/drawing/2014/main" id="{5CF31E13-C236-4A66-990D-FFBF820FF1EA}"/>
              </a:ext>
            </a:extLst>
          </p:cNvPr>
          <p:cNvSpPr txBox="1">
            <a:spLocks/>
          </p:cNvSpPr>
          <p:nvPr/>
        </p:nvSpPr>
        <p:spPr>
          <a:xfrm>
            <a:off x="4753219" y="1825625"/>
            <a:ext cx="4310673"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1200"/>
              </a:spcAft>
            </a:pPr>
            <a:endParaRPr lang="en-US" sz="2400" dirty="0"/>
          </a:p>
        </p:txBody>
      </p:sp>
    </p:spTree>
    <p:extLst>
      <p:ext uri="{BB962C8B-B14F-4D97-AF65-F5344CB8AC3E}">
        <p14:creationId xmlns:p14="http://schemas.microsoft.com/office/powerpoint/2010/main" val="994129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6843</TotalTime>
  <Words>899</Words>
  <Application>Microsoft Office PowerPoint</Application>
  <PresentationFormat>On-screen Show (4:3)</PresentationFormat>
  <Paragraphs>156</Paragraphs>
  <Slides>34</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Cambria Math</vt:lpstr>
      <vt:lpstr>Consolas</vt:lpstr>
      <vt:lpstr>Office Theme</vt:lpstr>
      <vt:lpstr>PowerPoint Presentation</vt:lpstr>
      <vt:lpstr>Lab Goals</vt:lpstr>
      <vt:lpstr>What is the Longest Repeated Substring?</vt:lpstr>
      <vt:lpstr>Step 1 - Form the Suffixes list</vt:lpstr>
      <vt:lpstr>Step 2 – Sort the Suffixes list</vt:lpstr>
      <vt:lpstr>Step 3 – Scan the Suffixes list</vt:lpstr>
      <vt:lpstr>Step 3 – Scan the Suffixes list</vt:lpstr>
      <vt:lpstr>Step 3 – Scan the Suffixes list</vt:lpstr>
      <vt:lpstr>Step 3 – Scan the Suffixes list</vt:lpstr>
      <vt:lpstr>Step 3 – Scan the Suffixes list</vt:lpstr>
      <vt:lpstr>Step 3 – Scan the Suffixes list</vt:lpstr>
      <vt:lpstr>Step 3 – Scan the Suffixes list</vt:lpstr>
      <vt:lpstr>Open start_dna_homologs.ipynb</vt:lpstr>
      <vt:lpstr>Run Cell 01 – Find LRSS</vt:lpstr>
      <vt:lpstr>Sequence Homology</vt:lpstr>
      <vt:lpstr>Run Cell 02 – Find LRSS in Fruit Fly Gene</vt:lpstr>
      <vt:lpstr>PowerPoint Presentation</vt:lpstr>
      <vt:lpstr>PowerPoint Presentation</vt:lpstr>
      <vt:lpstr>LRAT and Skin Cancer</vt:lpstr>
      <vt:lpstr>LRAT</vt:lpstr>
      <vt:lpstr>FGG</vt:lpstr>
      <vt:lpstr>LRAT Genetic Homologs</vt:lpstr>
      <vt:lpstr>Trail of Discovery</vt:lpstr>
      <vt:lpstr>PowerPoint Presentation</vt:lpstr>
      <vt:lpstr>PowerPoint Presentation</vt:lpstr>
      <vt:lpstr>PowerPoint Presentation</vt:lpstr>
      <vt:lpstr>Trail of Discovery</vt:lpstr>
      <vt:lpstr>PowerPoint Presentation</vt:lpstr>
      <vt:lpstr>PowerPoint Presentation</vt:lpstr>
      <vt:lpstr>PowerPoint Presentation</vt:lpstr>
      <vt:lpstr>Open start_open_reading_frame.ipynb</vt:lpstr>
      <vt:lpstr>Run Cell 01 – Find ORF in DNA Sequence</vt:lpstr>
      <vt:lpstr>PowerPoint Presentation</vt:lpstr>
      <vt:lpstr>Now you know…</vt:lpstr>
    </vt:vector>
  </TitlesOfParts>
  <Company>Personal Use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MSN Biersach</dc:creator>
  <cp:lastModifiedBy>David MSN Biersach</cp:lastModifiedBy>
  <cp:revision>955</cp:revision>
  <cp:lastPrinted>2015-06-01T00:45:11Z</cp:lastPrinted>
  <dcterms:created xsi:type="dcterms:W3CDTF">2014-09-21T17:58:26Z</dcterms:created>
  <dcterms:modified xsi:type="dcterms:W3CDTF">2022-03-04T02:52:14Z</dcterms:modified>
</cp:coreProperties>
</file>