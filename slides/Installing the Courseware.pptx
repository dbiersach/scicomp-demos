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5"/>
  </p:notesMasterIdLst>
  <p:handoutMasterIdLst>
    <p:handoutMasterId r:id="rId46"/>
  </p:handoutMasterIdLst>
  <p:sldIdLst>
    <p:sldId id="1143" r:id="rId2"/>
    <p:sldId id="1114" r:id="rId3"/>
    <p:sldId id="397" r:id="rId4"/>
    <p:sldId id="993" r:id="rId5"/>
    <p:sldId id="992" r:id="rId6"/>
    <p:sldId id="1130" r:id="rId7"/>
    <p:sldId id="995" r:id="rId8"/>
    <p:sldId id="994" r:id="rId9"/>
    <p:sldId id="1126" r:id="rId10"/>
    <p:sldId id="1127" r:id="rId11"/>
    <p:sldId id="1128" r:id="rId12"/>
    <p:sldId id="1138" r:id="rId13"/>
    <p:sldId id="1097" r:id="rId14"/>
    <p:sldId id="1131" r:id="rId15"/>
    <p:sldId id="1132" r:id="rId16"/>
    <p:sldId id="1099" r:id="rId17"/>
    <p:sldId id="1100" r:id="rId18"/>
    <p:sldId id="1101" r:id="rId19"/>
    <p:sldId id="1095" r:id="rId20"/>
    <p:sldId id="1144" r:id="rId21"/>
    <p:sldId id="1147" r:id="rId22"/>
    <p:sldId id="1140" r:id="rId23"/>
    <p:sldId id="1104" r:id="rId24"/>
    <p:sldId id="1133" r:id="rId25"/>
    <p:sldId id="1135" r:id="rId26"/>
    <p:sldId id="1150" r:id="rId27"/>
    <p:sldId id="1105" r:id="rId28"/>
    <p:sldId id="1107" r:id="rId29"/>
    <p:sldId id="1151" r:id="rId30"/>
    <p:sldId id="1145" r:id="rId31"/>
    <p:sldId id="1148" r:id="rId32"/>
    <p:sldId id="1098" r:id="rId33"/>
    <p:sldId id="1137" r:id="rId34"/>
    <p:sldId id="1110" r:id="rId35"/>
    <p:sldId id="1111" r:id="rId36"/>
    <p:sldId id="1112" r:id="rId37"/>
    <p:sldId id="1121" r:id="rId38"/>
    <p:sldId id="1146" r:id="rId39"/>
    <p:sldId id="1149" r:id="rId40"/>
    <p:sldId id="1141" r:id="rId41"/>
    <p:sldId id="933" r:id="rId42"/>
    <p:sldId id="1125" r:id="rId43"/>
    <p:sldId id="1142" r:id="rId44"/>
  </p:sldIdLst>
  <p:sldSz cx="9144000" cy="6858000" type="screen4x3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31E7D9-E8FD-4908-95BB-3604F3CA9764}" v="1" dt="2020-05-29T19:25:52.3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98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11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2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/>
          <a:lstStyle>
            <a:lvl1pPr algn="r">
              <a:defRPr sz="1200"/>
            </a:lvl1pPr>
          </a:lstStyle>
          <a:p>
            <a:fld id="{A241AC98-512A-4A35-865E-757B6C1F07A2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6264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46264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 anchor="b"/>
          <a:lstStyle>
            <a:lvl1pPr algn="r">
              <a:defRPr sz="1200"/>
            </a:lvl1pPr>
          </a:lstStyle>
          <a:p>
            <a:fld id="{825528D0-251A-41BC-8967-C65EDA3BFD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6195529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2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/>
          <a:lstStyle>
            <a:lvl1pPr algn="r">
              <a:defRPr sz="1200"/>
            </a:lvl1pPr>
          </a:lstStyle>
          <a:p>
            <a:fld id="{3854CEE7-15DE-41D9-8CA2-D1E137B1D850}" type="datetimeFigureOut">
              <a:rPr lang="en-US" smtClean="0"/>
              <a:t>3/3/2022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3500" y="1163638"/>
            <a:ext cx="4191000" cy="31448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119" tIns="45559" rIns="91119" bIns="4555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81981"/>
            <a:ext cx="5486400" cy="3667652"/>
          </a:xfrm>
          <a:prstGeom prst="rect">
            <a:avLst/>
          </a:prstGeom>
        </p:spPr>
        <p:txBody>
          <a:bodyPr vert="horz" lIns="91119" tIns="45559" rIns="91119" bIns="4555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6264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6264"/>
            <a:ext cx="2971800" cy="467602"/>
          </a:xfrm>
          <a:prstGeom prst="rect">
            <a:avLst/>
          </a:prstGeom>
        </p:spPr>
        <p:txBody>
          <a:bodyPr vert="horz" lIns="91119" tIns="45559" rIns="91119" bIns="45559" rtlCol="0" anchor="b"/>
          <a:lstStyle>
            <a:lvl1pPr algn="r">
              <a:defRPr sz="1200"/>
            </a:lvl1pPr>
          </a:lstStyle>
          <a:p>
            <a:fld id="{76317BBA-0BC6-419B-B826-0882096883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19215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5EB2C-244D-4423-AD97-018ED6478B87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065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F632E-48CB-4EEB-A6B6-DEC7AD7CC976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400" b="1">
                <a:solidFill>
                  <a:schemeClr val="tx1"/>
                </a:solidFill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18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EEE52C-3A57-458E-95F6-96B2FA9D1DD4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5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6FC747-A48A-4FF2-8EE4-3E95ECD1C2A8}" type="datetime1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927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BF5758-AB7F-463D-B638-E1729B95E126}" type="datetime1">
              <a:rPr lang="en-US" smtClean="0"/>
              <a:t>3/3/2022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653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18C77-7DD0-4738-BF52-D0EC9F78A76E}" type="datetime1">
              <a:rPr lang="en-US" smtClean="0"/>
              <a:t>3/3/2022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44194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8970CF-13D9-4E1D-A74F-2CFE4953FCDB}" type="datetime1">
              <a:rPr lang="en-US" smtClean="0"/>
              <a:t>3/3/2022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274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C49B9-4E1C-4967-B9CF-0BF9FECBE837}" type="datetime1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6942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338CBB-1F06-4333-9BBF-66628B15E581}" type="datetime1">
              <a:rPr lang="en-US" smtClean="0"/>
              <a:t>3/3/2022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9832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41D1F-7576-4C60-B4EB-5115BC56CF40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5902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9D1398-4D56-44F9-BA35-34ACF3159A64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79322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5EC883-F03C-4CA3-AF62-BEF30EEA4F65}" type="datetime1">
              <a:rPr lang="en-US" smtClean="0"/>
              <a:t>3/3/2022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en-US" sz="1400" b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650AD656-6FF9-465D-B7B0-1CD0DD39CD2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969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2.png"/><Relationship Id="rId7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hyperlink" Target="mailto:dbiersach@bnl.gov" TargetMode="External"/><Relationship Id="rId10" Type="http://schemas.openxmlformats.org/officeDocument/2006/relationships/image" Target="../media/image8.png"/><Relationship Id="rId4" Type="http://schemas.openxmlformats.org/officeDocument/2006/relationships/image" Target="../media/image3.jpe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" TargetMode="External"/><Relationship Id="rId2" Type="http://schemas.openxmlformats.org/officeDocument/2006/relationships/hyperlink" Target="https://www.python.org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cs.conda.io/en/latest/miniconda.html" TargetMode="External"/><Relationship Id="rId4" Type="http://schemas.openxmlformats.org/officeDocument/2006/relationships/hyperlink" Target="https://git-scm.com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slide" Target="slide4.xml"/><Relationship Id="rId1" Type="http://schemas.openxmlformats.org/officeDocument/2006/relationships/slideLayout" Target="../slideLayouts/slideLayout2.xml"/><Relationship Id="rId5" Type="http://schemas.openxmlformats.org/officeDocument/2006/relationships/slide" Target="slide32.xml"/><Relationship Id="rId4" Type="http://schemas.openxmlformats.org/officeDocument/2006/relationships/slide" Target="slide2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win" TargetMode="External"/><Relationship Id="rId2" Type="http://schemas.openxmlformats.org/officeDocument/2006/relationships/hyperlink" Target="https://github.com/PowerShell/PowerShell/releases/download/v7.2.1/PowerShell-7.2.1-win-x64.ms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po.anaconda.com/miniconda/Miniconda3-latest-Windows-x86_64.exe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biersach/scicomp-demos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brew.sh/" TargetMode="External"/><Relationship Id="rId2" Type="http://schemas.openxmlformats.org/officeDocument/2006/relationships/hyperlink" Target="https://git-scm.com/download/mac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po.anaconda.com/miniconda/Miniconda3-latest-MacOSX-arm64.sh" TargetMode="External"/><Relationship Id="rId5" Type="http://schemas.openxmlformats.org/officeDocument/2006/relationships/hyperlink" Target="https://repo.anaconda.com/miniconda/Miniconda3-latest-MacOSX-x86_64.sh" TargetMode="External"/><Relationship Id="rId4" Type="http://schemas.openxmlformats.org/officeDocument/2006/relationships/hyperlink" Target="https://conda.io/projects/conda/en/latest/user-guide/install/macos.htm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biersach/minisem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repo.anaconda.com/miniconda/Miniconda3-latest-Linux-aarch64.sh" TargetMode="External"/><Relationship Id="rId2" Type="http://schemas.openxmlformats.org/officeDocument/2006/relationships/hyperlink" Target="https://repo.anaconda.com/miniconda/Miniconda3-latest-Linux-x86_64.sh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biersach/scicomp-demos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conda.io/projects/conda/en/latest/user-guide/install/linux.html" TargetMode="External"/><Relationship Id="rId2" Type="http://schemas.openxmlformats.org/officeDocument/2006/relationships/hyperlink" Target="https://git-scm.com/book/en/v2/Getting-Started-Installing-Git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repo.anaconda.com/miniconda/Miniconda3-latest-Linux-aarch64.sh" TargetMode="External"/><Relationship Id="rId4" Type="http://schemas.openxmlformats.org/officeDocument/2006/relationships/hyperlink" Target="https://repo.anaconda.com/miniconda/Miniconda3-latest-Linux-x86_64.sh" TargetMode="Externa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biersach/scicomp-demos" TargetMode="Externa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biersach/scicomp-demos" TargetMode="External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17C2B5E5-FA39-488F-AB21-780CCEC9629C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218595" y="3116578"/>
            <a:ext cx="2055976" cy="100250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8022AA9-25C0-416F-AD81-E38CA0BC3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7500" y="4895616"/>
            <a:ext cx="2191062" cy="16432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58DDF2C-2EBB-45B4-B100-C878037706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683" y="899099"/>
            <a:ext cx="2127777" cy="1409652"/>
          </a:xfrm>
          <a:prstGeom prst="rect">
            <a:avLst/>
          </a:prstGeom>
          <a:ln>
            <a:noFill/>
          </a:ln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50AD656-6FF9-465D-B7B0-1CD0DD39CD23}" type="slidenum">
              <a:rPr lang="en-US">
                <a:solidFill>
                  <a:prstClr val="black"/>
                </a:solidFill>
                <a:latin typeface="Calibri" panose="020F0502020204030204"/>
              </a:rPr>
              <a:pPr>
                <a:defRPr/>
              </a:pPr>
              <a:t>1</a:t>
            </a:fld>
            <a:endParaRPr lang="en-US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164800" y="5517122"/>
            <a:ext cx="26436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Dave Biersach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5"/>
              </a:rPr>
              <a:t>dbiersach@bnl.gov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077647" y="899099"/>
            <a:ext cx="265376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Scientific Computing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400" b="1" dirty="0">
                <a:solidFill>
                  <a:prstClr val="black"/>
                </a:solidFill>
                <a:latin typeface="Calibri" panose="020F0502020204030204"/>
              </a:rPr>
              <a:t>Demonstrations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41886" y="3916225"/>
            <a:ext cx="24895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Installing The Software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21318A7-1014-4E9C-BBB9-5D54D96586CD}"/>
              </a:ext>
            </a:extLst>
          </p:cNvPr>
          <p:cNvSpPr txBox="1"/>
          <p:nvPr/>
        </p:nvSpPr>
        <p:spPr>
          <a:xfrm>
            <a:off x="6391478" y="2470473"/>
            <a:ext cx="21903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Using Python on a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Microcontroller 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with</a:t>
            </a:r>
            <a:r>
              <a:rPr lang="en-US" sz="2000" b="1" dirty="0">
                <a:solidFill>
                  <a:srgbClr val="FF0000"/>
                </a:solidFill>
                <a:latin typeface="Calibri" panose="020F0502020204030204"/>
              </a:rPr>
              <a:t> Sensors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BC880B61-F5EE-49B8-AD9E-106E0D8FB1E5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1623" y="4886637"/>
            <a:ext cx="1923894" cy="172679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CB1C5A1-5BD1-4443-93C5-C732C9ED75DA}"/>
              </a:ext>
            </a:extLst>
          </p:cNvPr>
          <p:cNvPicPr>
            <a:picLocks noChangeAspect="1"/>
          </p:cNvPicPr>
          <p:nvPr/>
        </p:nvPicPr>
        <p:blipFill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72267" y="2978305"/>
            <a:ext cx="1569869" cy="156986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667B1E9-59CF-411C-A0FE-26DFB409C7FD}"/>
              </a:ext>
            </a:extLst>
          </p:cNvPr>
          <p:cNvPicPr>
            <a:picLocks noChangeAspect="1"/>
          </p:cNvPicPr>
          <p:nvPr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501644" y="724782"/>
            <a:ext cx="3524434" cy="187924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A3A59CA-97D4-4D85-9359-08EF416FD86C}"/>
              </a:ext>
            </a:extLst>
          </p:cNvPr>
          <p:cNvPicPr>
            <a:picLocks noChangeAspect="1"/>
          </p:cNvPicPr>
          <p:nvPr/>
        </p:nvPicPr>
        <p:blipFill rotWithShape="1">
          <a:blip r:embed="rId9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86294" y="2810269"/>
            <a:ext cx="1093475" cy="192310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7B9FEA8-F51B-430D-AC12-93C534C517F3}"/>
              </a:ext>
            </a:extLst>
          </p:cNvPr>
          <p:cNvPicPr>
            <a:picLocks noChangeAspect="1"/>
          </p:cNvPicPr>
          <p:nvPr/>
        </p:nvPicPr>
        <p:blipFill>
          <a:blip r:embed="rId10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81995" y="4915158"/>
            <a:ext cx="832702" cy="1708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668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Preparing for the SciComp Demonstrations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To run the </a:t>
            </a:r>
            <a:r>
              <a:rPr lang="en-US" sz="2400" b="1" dirty="0"/>
              <a:t>Scientific Computing Demonstrations</a:t>
            </a:r>
            <a:r>
              <a:rPr lang="en-US" sz="2400" dirty="0"/>
              <a:t>, students will write software using </a:t>
            </a:r>
            <a:r>
              <a:rPr lang="en-US" sz="2400" dirty="0">
                <a:hlinkClick r:id="rId2"/>
              </a:rPr>
              <a:t>Python</a:t>
            </a:r>
            <a:r>
              <a:rPr lang="en-US" sz="2400" dirty="0"/>
              <a:t> in </a:t>
            </a:r>
            <a:r>
              <a:rPr lang="en-US" sz="2400" dirty="0">
                <a:hlinkClick r:id="rId3"/>
              </a:rPr>
              <a:t>JupyterLab</a:t>
            </a:r>
            <a:r>
              <a:rPr lang="en-US" sz="2400" dirty="0"/>
              <a:t> Notebooks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To properly setup a local Python development environment on your computer, we will use free &amp; open-source tools like </a:t>
            </a:r>
            <a:r>
              <a:rPr lang="en-US" sz="2400" dirty="0">
                <a:hlinkClick r:id="rId4"/>
              </a:rPr>
              <a:t>Git</a:t>
            </a:r>
            <a:r>
              <a:rPr lang="en-US" sz="2400" dirty="0"/>
              <a:t> and </a:t>
            </a:r>
            <a:r>
              <a:rPr lang="en-US" sz="2400" dirty="0">
                <a:hlinkClick r:id="rId5"/>
              </a:rPr>
              <a:t>Miniconda</a:t>
            </a:r>
            <a:r>
              <a:rPr lang="en-US" sz="2400" dirty="0"/>
              <a:t>.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If you already have these applications on your computer, you may not need to reinstall them, but please ensure you are running </a:t>
            </a:r>
            <a:r>
              <a:rPr lang="en-US" sz="2400" b="1" dirty="0">
                <a:solidFill>
                  <a:srgbClr val="FF0000"/>
                </a:solidFill>
              </a:rPr>
              <a:t>the most up-to-date versions </a:t>
            </a:r>
            <a:r>
              <a:rPr lang="en-US" sz="2400" dirty="0"/>
              <a:t>of these apps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b="1" dirty="0"/>
              <a:t>Note</a:t>
            </a:r>
            <a:r>
              <a:rPr lang="en-US" sz="2400" dirty="0"/>
              <a:t>: If you already have the full </a:t>
            </a:r>
            <a:r>
              <a:rPr lang="en-US" sz="2400" b="1" dirty="0">
                <a:solidFill>
                  <a:srgbClr val="7030A0"/>
                </a:solidFill>
              </a:rPr>
              <a:t>Anaconda</a:t>
            </a:r>
            <a:r>
              <a:rPr lang="en-US" sz="2400" dirty="0"/>
              <a:t> distribution on your computer, you </a:t>
            </a:r>
            <a:r>
              <a:rPr lang="en-US" sz="2400" b="1" dirty="0">
                <a:solidFill>
                  <a:srgbClr val="00B050"/>
                </a:solidFill>
              </a:rPr>
              <a:t>do not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/>
              <a:t>need to also install Miniconda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3432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Installing the SciComp Demonstration Labs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857792"/>
            <a:ext cx="7886700" cy="1970162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If running </a:t>
            </a:r>
            <a:r>
              <a:rPr lang="en-US" sz="2400" b="1" dirty="0"/>
              <a:t>Microsoft Windows</a:t>
            </a:r>
            <a:r>
              <a:rPr lang="en-US" sz="2400" dirty="0"/>
              <a:t>, go to </a:t>
            </a:r>
            <a:r>
              <a:rPr lang="en-US" sz="2400" dirty="0">
                <a:hlinkClick r:id="rId2" action="ppaction://hlinksldjump"/>
              </a:rPr>
              <a:t>slide # 4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If running </a:t>
            </a:r>
            <a:r>
              <a:rPr lang="en-US" sz="2400" b="1" dirty="0"/>
              <a:t>Apple macOS</a:t>
            </a:r>
            <a:r>
              <a:rPr lang="en-US" sz="2400" dirty="0"/>
              <a:t>, go to </a:t>
            </a:r>
            <a:r>
              <a:rPr lang="en-US" sz="2400" dirty="0">
                <a:hlinkClick r:id="rId3" action="ppaction://hlinksldjump"/>
              </a:rPr>
              <a:t>slide # 13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If running </a:t>
            </a:r>
            <a:r>
              <a:rPr lang="en-US" sz="2400" b="1" dirty="0"/>
              <a:t>Google Chromebook Linux</a:t>
            </a:r>
            <a:r>
              <a:rPr lang="en-US" sz="2400" dirty="0"/>
              <a:t>, go to </a:t>
            </a:r>
            <a:r>
              <a:rPr lang="en-US" sz="2400" dirty="0">
                <a:hlinkClick r:id="rId4" action="ppaction://hlinksldjump"/>
              </a:rPr>
              <a:t>slide # 23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If running </a:t>
            </a:r>
            <a:r>
              <a:rPr lang="en-US" sz="2400" b="1" dirty="0"/>
              <a:t>Ubuntu Linux</a:t>
            </a:r>
            <a:r>
              <a:rPr lang="en-US" sz="2400" dirty="0"/>
              <a:t>, go to </a:t>
            </a:r>
            <a:r>
              <a:rPr lang="en-US" sz="2400" dirty="0">
                <a:hlinkClick r:id="rId5" action="ppaction://hlinksldjump"/>
              </a:rPr>
              <a:t>slide # 32</a:t>
            </a: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05E4649-1BAC-4780-97A4-96365CEC59AD}"/>
              </a:ext>
            </a:extLst>
          </p:cNvPr>
          <p:cNvSpPr txBox="1"/>
          <p:nvPr/>
        </p:nvSpPr>
        <p:spPr>
          <a:xfrm>
            <a:off x="1090591" y="5156022"/>
            <a:ext cx="69628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7030A0"/>
                </a:solidFill>
              </a:rPr>
              <a:t>Note</a:t>
            </a:r>
            <a:r>
              <a:rPr lang="en-US" dirty="0">
                <a:solidFill>
                  <a:srgbClr val="7030A0"/>
                </a:solidFill>
              </a:rPr>
              <a:t>: Your output may not look </a:t>
            </a:r>
            <a:r>
              <a:rPr lang="en-US" i="1" dirty="0">
                <a:solidFill>
                  <a:srgbClr val="7030A0"/>
                </a:solidFill>
              </a:rPr>
              <a:t>exactly</a:t>
            </a:r>
            <a:r>
              <a:rPr lang="en-US" dirty="0">
                <a:solidFill>
                  <a:srgbClr val="7030A0"/>
                </a:solidFill>
              </a:rPr>
              <a:t> like the following screen shots.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Use your judgement, go with the flow, and see the big picture here.</a:t>
            </a:r>
          </a:p>
          <a:p>
            <a:pPr algn="ctr"/>
            <a:r>
              <a:rPr lang="en-US" dirty="0">
                <a:solidFill>
                  <a:srgbClr val="7030A0"/>
                </a:solidFill>
              </a:rPr>
              <a:t>Try to understand the </a:t>
            </a:r>
            <a:r>
              <a:rPr lang="en-US" u="sng" dirty="0">
                <a:solidFill>
                  <a:srgbClr val="7030A0"/>
                </a:solidFill>
              </a:rPr>
              <a:t>intent</a:t>
            </a:r>
            <a:r>
              <a:rPr lang="en-US" dirty="0">
                <a:solidFill>
                  <a:srgbClr val="7030A0"/>
                </a:solidFill>
              </a:rPr>
              <a:t> of these instructions, because your personal computer may be configured slightly different than what is shown here.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5A15352-09C4-4D07-9C85-032A508907F9}"/>
              </a:ext>
            </a:extLst>
          </p:cNvPr>
          <p:cNvSpPr txBox="1"/>
          <p:nvPr/>
        </p:nvSpPr>
        <p:spPr>
          <a:xfrm>
            <a:off x="2951187" y="4030323"/>
            <a:ext cx="324162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0000"/>
                </a:solidFill>
              </a:rPr>
              <a:t>If you run into problems,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see the Troubleshooting Tips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at the end of this slide deck</a:t>
            </a:r>
          </a:p>
        </p:txBody>
      </p:sp>
    </p:spTree>
    <p:extLst>
      <p:ext uri="{BB962C8B-B14F-4D97-AF65-F5344CB8AC3E}">
        <p14:creationId xmlns:p14="http://schemas.microsoft.com/office/powerpoint/2010/main" val="703697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Microsoft Windows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8581"/>
            <a:ext cx="7886700" cy="167718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You must be running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b="1" dirty="0">
                <a:solidFill>
                  <a:srgbClr val="00B050"/>
                </a:solidFill>
              </a:rPr>
              <a:t>64-bit</a:t>
            </a:r>
            <a:r>
              <a:rPr lang="en-US" sz="2400" dirty="0">
                <a:solidFill>
                  <a:srgbClr val="00B050"/>
                </a:solidFill>
              </a:rPr>
              <a:t> </a:t>
            </a:r>
            <a:r>
              <a:rPr lang="en-US" sz="2400" dirty="0"/>
              <a:t>Windows 10 (or later) with an </a:t>
            </a:r>
            <a:r>
              <a:rPr lang="en-US" sz="2400" b="1" dirty="0">
                <a:solidFill>
                  <a:srgbClr val="0070C0"/>
                </a:solidFill>
              </a:rPr>
              <a:t>Intel CPU </a:t>
            </a:r>
            <a:r>
              <a:rPr lang="en-US" sz="2400" dirty="0"/>
              <a:t>and a minimum of 3GB of free disk space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You need </a:t>
            </a:r>
            <a:r>
              <a:rPr lang="en-US" sz="2400" b="1" dirty="0">
                <a:solidFill>
                  <a:srgbClr val="FF0000"/>
                </a:solidFill>
              </a:rPr>
              <a:t>local</a:t>
            </a:r>
            <a:r>
              <a:rPr lang="en-US" sz="2400" dirty="0"/>
              <a:t> </a:t>
            </a:r>
            <a:r>
              <a:rPr lang="en-US" sz="2400" b="1" dirty="0">
                <a:solidFill>
                  <a:srgbClr val="FF0000"/>
                </a:solidFill>
              </a:rPr>
              <a:t>administrator</a:t>
            </a:r>
            <a:r>
              <a:rPr lang="en-US" sz="2400" dirty="0"/>
              <a:t> rights on your machine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Accept</a:t>
            </a:r>
            <a:r>
              <a:rPr lang="en-US" sz="2400" b="1" dirty="0"/>
              <a:t> all default settings </a:t>
            </a:r>
            <a:r>
              <a:rPr lang="en-US" sz="2400" dirty="0"/>
              <a:t>for the following installations: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15F114-B357-4530-A601-720E9069E45C}"/>
              </a:ext>
            </a:extLst>
          </p:cNvPr>
          <p:cNvSpPr txBox="1">
            <a:spLocks/>
          </p:cNvSpPr>
          <p:nvPr/>
        </p:nvSpPr>
        <p:spPr>
          <a:xfrm>
            <a:off x="628650" y="3484537"/>
            <a:ext cx="7886700" cy="274387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Install </a:t>
            </a:r>
            <a:r>
              <a:rPr lang="en-US" sz="2400" b="1" dirty="0"/>
              <a:t>PowerShell </a:t>
            </a:r>
            <a:r>
              <a:rPr lang="en-US" sz="2400" dirty="0"/>
              <a:t>(64-bit) </a:t>
            </a:r>
            <a:r>
              <a:rPr lang="en-US" sz="2400" dirty="0">
                <a:hlinkClick r:id="rId2"/>
              </a:rPr>
              <a:t>https://github.com/PowerShell/PowerShell/releases/download/v7.2.1/PowerShell-7.2.1-win-x64.msi</a:t>
            </a:r>
            <a:endParaRPr lang="en-US" sz="2400" dirty="0"/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Install </a:t>
            </a:r>
            <a:r>
              <a:rPr lang="en-US" sz="2400" b="1" dirty="0"/>
              <a:t>Git </a:t>
            </a:r>
            <a:r>
              <a:rPr lang="en-US" sz="2400" dirty="0"/>
              <a:t>(64-bit)</a:t>
            </a:r>
            <a:r>
              <a:rPr lang="en-US" sz="2400" b="1" dirty="0"/>
              <a:t> </a:t>
            </a:r>
            <a:r>
              <a:rPr lang="en-US" sz="2400" dirty="0"/>
              <a:t>- </a:t>
            </a:r>
            <a:r>
              <a:rPr lang="en-US" sz="2400" dirty="0">
                <a:hlinkClick r:id="rId3"/>
              </a:rPr>
              <a:t>https://git-scm.com/download/win</a:t>
            </a:r>
            <a:endParaRPr lang="en-US" sz="2400" dirty="0"/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400" dirty="0"/>
              <a:t>Install </a:t>
            </a:r>
            <a:r>
              <a:rPr lang="en-US" sz="2400" b="1" dirty="0"/>
              <a:t>Miniconda3 Windows </a:t>
            </a:r>
            <a:r>
              <a:rPr lang="en-US" sz="2400" dirty="0"/>
              <a:t>(64-bit) </a:t>
            </a:r>
            <a:r>
              <a:rPr lang="en-US" sz="2400" dirty="0">
                <a:hlinkClick r:id="rId4"/>
              </a:rPr>
              <a:t>https://repo.anaconda.com/miniconda/Miniconda3-latest-Windows-x86_64.exe</a:t>
            </a:r>
            <a:r>
              <a:rPr lang="en-US" sz="2400" dirty="0"/>
              <a:t> 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285391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Microsoft Windows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37884-B504-4048-8B5C-C46377D5F890}"/>
              </a:ext>
            </a:extLst>
          </p:cNvPr>
          <p:cNvSpPr txBox="1"/>
          <p:nvPr/>
        </p:nvSpPr>
        <p:spPr>
          <a:xfrm>
            <a:off x="262580" y="1338254"/>
            <a:ext cx="34854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Step 4 - Launch an Anaconda (Miniconda3) PowerShell Prompt: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F6B7692-B647-4B28-8210-41055FFB9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6645" y="2079390"/>
            <a:ext cx="2457359" cy="396511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14DE92-E00D-4350-9337-0C8AFCC19A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4971" y="2079390"/>
            <a:ext cx="5282928" cy="296626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589D3A-73A7-488D-8AF7-FA1E79BC83A3}"/>
              </a:ext>
            </a:extLst>
          </p:cNvPr>
          <p:cNvSpPr txBox="1"/>
          <p:nvPr/>
        </p:nvSpPr>
        <p:spPr>
          <a:xfrm>
            <a:off x="4646788" y="1338254"/>
            <a:ext cx="29792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Step 5 – Enter the command</a:t>
            </a:r>
          </a:p>
          <a:p>
            <a:pPr algn="ctr"/>
            <a:r>
              <a:rPr lang="en-US" b="1" dirty="0" err="1">
                <a:latin typeface="Consolas" panose="020B0609020204030204" pitchFamily="49" charset="0"/>
              </a:rPr>
              <a:t>conda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init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powershell</a:t>
            </a:r>
            <a:endParaRPr lang="en-US" b="1" dirty="0">
              <a:latin typeface="Consolas" panose="020B0609020204030204" pitchFamily="49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6ADAC4-1605-4E87-8F74-0975F4218077}"/>
              </a:ext>
            </a:extLst>
          </p:cNvPr>
          <p:cNvSpPr txBox="1"/>
          <p:nvPr/>
        </p:nvSpPr>
        <p:spPr>
          <a:xfrm>
            <a:off x="4001163" y="5213379"/>
            <a:ext cx="42705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Step 6 – Close this PowerShell window!</a:t>
            </a:r>
            <a:endParaRPr lang="en-US" b="1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51724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2" grpId="0"/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Microsoft Windows – </a:t>
            </a:r>
            <a:r>
              <a:rPr lang="en-US" sz="3200" b="1" dirty="0">
                <a:latin typeface="+mn-lt"/>
              </a:rPr>
              <a:t>Phase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1536"/>
            <a:ext cx="7990694" cy="4351338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Set-</a:t>
            </a:r>
            <a:r>
              <a:rPr lang="en-US" sz="2000" dirty="0" err="1">
                <a:latin typeface="Consolas" panose="020B0609020204030204" pitchFamily="49" charset="0"/>
              </a:rPr>
              <a:t>ExecutionPolicy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RemoteSigned</a:t>
            </a:r>
            <a:r>
              <a:rPr lang="en-US" sz="2000" dirty="0">
                <a:latin typeface="Consolas" panose="020B0609020204030204" pitchFamily="49" charset="0"/>
              </a:rPr>
              <a:t> -Scope </a:t>
            </a:r>
            <a:r>
              <a:rPr lang="en-US" sz="2000" dirty="0" err="1">
                <a:latin typeface="Consolas" panose="020B0609020204030204" pitchFamily="49" charset="0"/>
              </a:rPr>
              <a:t>CurrentUser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conda</a:t>
            </a:r>
            <a:r>
              <a:rPr lang="en-US" sz="2000" dirty="0">
                <a:latin typeface="Consolas" panose="020B0609020204030204" pitchFamily="49" charset="0"/>
              </a:rPr>
              <a:t> update -y -n base </a:t>
            </a:r>
            <a:r>
              <a:rPr lang="en-US" sz="2000" dirty="0" err="1">
                <a:latin typeface="Consolas" panose="020B0609020204030204" pitchFamily="49" charset="0"/>
              </a:rPr>
              <a:t>conda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git clone </a:t>
            </a:r>
            <a:r>
              <a:rPr lang="en-US" sz="2000" dirty="0">
                <a:latin typeface="Consolas" panose="020B0609020204030204" pitchFamily="49" charset="0"/>
                <a:hlinkClick r:id="rId2"/>
              </a:rPr>
              <a:t>https://github.com/dbiersach/scicomp-demos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$HOME/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-demos/installers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.\windows-install.ps1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37884-B504-4048-8B5C-C46377D5F890}"/>
              </a:ext>
            </a:extLst>
          </p:cNvPr>
          <p:cNvSpPr txBox="1"/>
          <p:nvPr/>
        </p:nvSpPr>
        <p:spPr>
          <a:xfrm>
            <a:off x="1337872" y="1398216"/>
            <a:ext cx="646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Start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PowerShell session and execute these </a:t>
            </a:r>
            <a:r>
              <a:rPr lang="en-US" sz="1800" b="1" u="sng" dirty="0">
                <a:solidFill>
                  <a:srgbClr val="FF0000"/>
                </a:solidFill>
              </a:rPr>
              <a:t>six</a:t>
            </a:r>
            <a:r>
              <a:rPr lang="en-US" sz="1800" b="1" dirty="0">
                <a:solidFill>
                  <a:srgbClr val="FF0000"/>
                </a:solidFill>
              </a:rPr>
              <a:t> commands: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20768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Microsoft Windows – </a:t>
            </a:r>
            <a:r>
              <a:rPr lang="en-US" sz="3200" b="1" dirty="0">
                <a:latin typeface="+mn-lt"/>
              </a:rPr>
              <a:t>Phase 2 (screenshot)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7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3B2ABE5-EF1B-413B-BD7B-0232797C72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7160" y="1616568"/>
            <a:ext cx="6318968" cy="444523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9CBC0D7-BAAF-4595-8B8D-49028CBE1F6B}"/>
              </a:ext>
            </a:extLst>
          </p:cNvPr>
          <p:cNvGrpSpPr/>
          <p:nvPr/>
        </p:nvGrpSpPr>
        <p:grpSpPr>
          <a:xfrm>
            <a:off x="7075352" y="2903024"/>
            <a:ext cx="1076632" cy="369332"/>
            <a:chOff x="4968362" y="2079211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42C46B2-8FD6-4CA6-93D8-3C7FFEF8CF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1A7149-589D-4637-BAF9-8D7F2A0E879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F6D957-F9EB-4F0E-A01D-65F3F9561DFB}"/>
              </a:ext>
            </a:extLst>
          </p:cNvPr>
          <p:cNvGrpSpPr/>
          <p:nvPr/>
        </p:nvGrpSpPr>
        <p:grpSpPr>
          <a:xfrm>
            <a:off x="5504047" y="3056959"/>
            <a:ext cx="1076632" cy="369332"/>
            <a:chOff x="4704120" y="2356972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8D00062-97C0-44C8-B04D-63FB902E95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3A1312-E296-453A-8DA1-728B9CEB232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08CD26-084D-421F-AE8E-07043F8EC81D}"/>
              </a:ext>
            </a:extLst>
          </p:cNvPr>
          <p:cNvGrpSpPr/>
          <p:nvPr/>
        </p:nvGrpSpPr>
        <p:grpSpPr>
          <a:xfrm>
            <a:off x="3980860" y="3939083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862952-9736-442D-833D-EAE4AD3846E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4E7ECDA-78DF-4E70-B0BB-527FE52692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4E26CC-2421-47F9-A780-1A74B45FFB4A}"/>
              </a:ext>
            </a:extLst>
          </p:cNvPr>
          <p:cNvGrpSpPr/>
          <p:nvPr/>
        </p:nvGrpSpPr>
        <p:grpSpPr>
          <a:xfrm>
            <a:off x="6730537" y="4103177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D0AE70-A7C9-4C75-A8DA-CD72B0325A2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D2B68EE-A458-4A47-9AAB-74691BDFA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204FA8D-A16F-4417-B17C-53FECDEFA334}"/>
              </a:ext>
            </a:extLst>
          </p:cNvPr>
          <p:cNvGrpSpPr/>
          <p:nvPr/>
        </p:nvGrpSpPr>
        <p:grpSpPr>
          <a:xfrm>
            <a:off x="5404928" y="5429911"/>
            <a:ext cx="1068643" cy="369332"/>
            <a:chOff x="3647644" y="5359159"/>
            <a:chExt cx="1068643" cy="369332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2EABE596-7E3C-456D-AFA3-236E05266E94}"/>
                </a:ext>
              </a:extLst>
            </p:cNvPr>
            <p:cNvSpPr txBox="1"/>
            <p:nvPr/>
          </p:nvSpPr>
          <p:spPr>
            <a:xfrm>
              <a:off x="4332829" y="5359159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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40D11E3F-B3BF-412B-B4FE-0260A111B5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4105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D3C41C5F-6E39-4C0E-AA47-524B5EA100FF}"/>
              </a:ext>
            </a:extLst>
          </p:cNvPr>
          <p:cNvGrpSpPr/>
          <p:nvPr/>
        </p:nvGrpSpPr>
        <p:grpSpPr>
          <a:xfrm>
            <a:off x="6364771" y="5585197"/>
            <a:ext cx="1076632" cy="369332"/>
            <a:chOff x="2157212" y="5356391"/>
            <a:chExt cx="1076632" cy="369332"/>
          </a:xfrm>
        </p:grpSpPr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8C35554-92D6-42BF-B918-C37373B26522}"/>
                </a:ext>
              </a:extLst>
            </p:cNvPr>
            <p:cNvSpPr txBox="1"/>
            <p:nvPr/>
          </p:nvSpPr>
          <p:spPr>
            <a:xfrm>
              <a:off x="2850386" y="535639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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7597579A-F785-4DEA-81E6-351996D068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157212" y="5545146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560135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403EB0F-DB1C-47BB-9441-5A772A31CC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999" y="3795604"/>
            <a:ext cx="7795272" cy="177804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1536"/>
            <a:ext cx="7886700" cy="1287464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conda</a:t>
            </a:r>
            <a:r>
              <a:rPr lang="en-US" sz="2000" dirty="0">
                <a:latin typeface="Consolas" panose="020B0609020204030204" pitchFamily="49" charset="0"/>
              </a:rPr>
              <a:t> activate 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$HOME/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-demos/labs/welcome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jupyter</a:t>
            </a:r>
            <a:r>
              <a:rPr lang="en-US" sz="2000" dirty="0">
                <a:latin typeface="Consolas" panose="020B0609020204030204" pitchFamily="49" charset="0"/>
              </a:rPr>
              <a:t> lab </a:t>
            </a:r>
            <a:r>
              <a:rPr lang="en-US" sz="2000" dirty="0" err="1">
                <a:latin typeface="Consolas" panose="020B0609020204030204" pitchFamily="49" charset="0"/>
              </a:rPr>
              <a:t>welcome.ipynb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Microsoft Windows – </a:t>
            </a:r>
            <a:r>
              <a:rPr lang="en-US" sz="3200" b="1" dirty="0">
                <a:latin typeface="+mn-lt"/>
              </a:rPr>
              <a:t>Phase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D845F-481B-449B-A258-B2D47FC47049}"/>
              </a:ext>
            </a:extLst>
          </p:cNvPr>
          <p:cNvSpPr txBox="1"/>
          <p:nvPr/>
        </p:nvSpPr>
        <p:spPr>
          <a:xfrm>
            <a:off x="1238562" y="1398216"/>
            <a:ext cx="666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Start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PowerShell session and execute these </a:t>
            </a:r>
            <a:r>
              <a:rPr lang="en-US" sz="1800" b="1" u="sng" dirty="0">
                <a:solidFill>
                  <a:srgbClr val="FF0000"/>
                </a:solidFill>
              </a:rPr>
              <a:t>three</a:t>
            </a:r>
            <a:r>
              <a:rPr lang="en-US" sz="1800" b="1" dirty="0">
                <a:solidFill>
                  <a:srgbClr val="FF0000"/>
                </a:solidFill>
              </a:rPr>
              <a:t> commands: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12E07F-473A-473D-898F-9163BBC4D7CD}"/>
              </a:ext>
            </a:extLst>
          </p:cNvPr>
          <p:cNvGrpSpPr/>
          <p:nvPr/>
        </p:nvGrpSpPr>
        <p:grpSpPr>
          <a:xfrm>
            <a:off x="5912136" y="4725934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0C8DDFF-47B8-4B03-A7BD-128195C259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4D15A3-22BE-4D75-BA14-446AA65E1DB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76A7CF-7396-46FD-8E49-ACC9BBBF13C0}"/>
              </a:ext>
            </a:extLst>
          </p:cNvPr>
          <p:cNvGrpSpPr/>
          <p:nvPr/>
        </p:nvGrpSpPr>
        <p:grpSpPr>
          <a:xfrm>
            <a:off x="6546678" y="4918095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658992F-C0BE-4D3B-94E5-8145F9CDED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BB5592-D208-48DB-B8A4-54E47664486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62F43D-4543-4BA8-BE62-CDEAB3238540}"/>
              </a:ext>
            </a:extLst>
          </p:cNvPr>
          <p:cNvGrpSpPr/>
          <p:nvPr/>
        </p:nvGrpSpPr>
        <p:grpSpPr>
          <a:xfrm>
            <a:off x="8035536" y="5113650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6F54F8-0AC3-48B8-A876-9F3A04B41D9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D4D9574-9BAD-4616-B1F3-DCBADB11C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613949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5120FB-2BE9-4B39-8E4D-505BCBF73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56" y="1507735"/>
            <a:ext cx="7442499" cy="47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Run the Welcome Notebook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9</a:t>
            </a:fld>
            <a:endParaRPr lang="en-US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B70542E-CE07-4024-91C9-32200E403BE1}"/>
              </a:ext>
            </a:extLst>
          </p:cNvPr>
          <p:cNvSpPr/>
          <p:nvPr/>
        </p:nvSpPr>
        <p:spPr>
          <a:xfrm>
            <a:off x="2375941" y="3501426"/>
            <a:ext cx="1611442" cy="575898"/>
          </a:xfrm>
          <a:prstGeom prst="wedgeRoundRectCallout">
            <a:avLst>
              <a:gd name="adj1" fmla="val 106608"/>
              <a:gd name="adj2" fmla="val -27848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the "Play" button 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4429594-581A-4F96-86CE-B1A2FE5F3FA7}"/>
              </a:ext>
            </a:extLst>
          </p:cNvPr>
          <p:cNvSpPr/>
          <p:nvPr/>
        </p:nvSpPr>
        <p:spPr>
          <a:xfrm>
            <a:off x="197370" y="4062334"/>
            <a:ext cx="1901252" cy="575898"/>
          </a:xfrm>
          <a:prstGeom prst="wedgeRoundRectCallout">
            <a:avLst>
              <a:gd name="adj1" fmla="val 37045"/>
              <a:gd name="adj2" fmla="val -2303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Double click to open this file</a:t>
            </a:r>
          </a:p>
        </p:txBody>
      </p:sp>
    </p:spTree>
    <p:extLst>
      <p:ext uri="{BB962C8B-B14F-4D97-AF65-F5344CB8AC3E}">
        <p14:creationId xmlns:p14="http://schemas.microsoft.com/office/powerpoint/2010/main" val="1096702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Success!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FAFF94-5791-4651-A6A6-2B955BB40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19" y="1807704"/>
            <a:ext cx="5504762" cy="4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2974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75CC74-F6B0-4379-9909-2DCCFB065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16" y="1277644"/>
            <a:ext cx="6115767" cy="52612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Shutdown Jupyter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EF576C-4D10-4ACB-9135-E30DD836DC86}"/>
              </a:ext>
            </a:extLst>
          </p:cNvPr>
          <p:cNvSpPr/>
          <p:nvPr/>
        </p:nvSpPr>
        <p:spPr>
          <a:xfrm>
            <a:off x="1757528" y="4939258"/>
            <a:ext cx="689548" cy="202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2EE0845-C73A-44A4-B134-B9DD9252099A}"/>
              </a:ext>
            </a:extLst>
          </p:cNvPr>
          <p:cNvSpPr/>
          <p:nvPr/>
        </p:nvSpPr>
        <p:spPr>
          <a:xfrm>
            <a:off x="2564568" y="3200399"/>
            <a:ext cx="2725712" cy="1347859"/>
          </a:xfrm>
          <a:prstGeom prst="wedgeRoundRectCallout">
            <a:avLst>
              <a:gd name="adj1" fmla="val -56805"/>
              <a:gd name="adj2" fmla="val 8395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File…Shut Down, discard any changes, and then close this web browser window</a:t>
            </a:r>
          </a:p>
        </p:txBody>
      </p:sp>
    </p:spTree>
    <p:extLst>
      <p:ext uri="{BB962C8B-B14F-4D97-AF65-F5344CB8AC3E}">
        <p14:creationId xmlns:p14="http://schemas.microsoft.com/office/powerpoint/2010/main" val="2405044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Viewing the Courseware Slides</a:t>
            </a:r>
            <a:endParaRPr lang="en-US" sz="32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3B067DC-CF4D-4131-8E7C-3B48EF58E4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836" y="2449674"/>
            <a:ext cx="7120328" cy="408923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21F8AB5-2C4A-4463-93DA-40D80FFC98CA}"/>
              </a:ext>
            </a:extLst>
          </p:cNvPr>
          <p:cNvSpPr txBox="1"/>
          <p:nvPr/>
        </p:nvSpPr>
        <p:spPr>
          <a:xfrm>
            <a:off x="1238562" y="1398216"/>
            <a:ext cx="666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In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PowerShell session, execute this command: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BB7281-27F5-45AB-A4A8-3899C844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971" y="1872095"/>
            <a:ext cx="5150058" cy="473031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sz="2000" dirty="0">
                <a:latin typeface="Consolas" panose="020B0609020204030204" pitchFamily="49" charset="0"/>
              </a:rPr>
              <a:t>explorer $HOME\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-demos\slides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E0145-D8DA-4627-BE04-26E92C5967ED}"/>
              </a:ext>
            </a:extLst>
          </p:cNvPr>
          <p:cNvSpPr/>
          <p:nvPr/>
        </p:nvSpPr>
        <p:spPr>
          <a:xfrm>
            <a:off x="3800006" y="5269426"/>
            <a:ext cx="1836295" cy="190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0269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Apple macOS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8581"/>
            <a:ext cx="7886700" cy="130459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You must be running 64-bit </a:t>
            </a:r>
            <a:r>
              <a:rPr lang="en-US" sz="2400" b="1" dirty="0">
                <a:solidFill>
                  <a:srgbClr val="FF0000"/>
                </a:solidFill>
              </a:rPr>
              <a:t>macOS 11 </a:t>
            </a:r>
            <a:r>
              <a:rPr lang="en-US" sz="2400" dirty="0"/>
              <a:t>(or later) with a minimum of 3GB of free disk space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Accept</a:t>
            </a:r>
            <a:r>
              <a:rPr lang="en-US" sz="2400" b="1" dirty="0"/>
              <a:t> all default settings </a:t>
            </a:r>
            <a:r>
              <a:rPr lang="en-US" sz="2400" dirty="0"/>
              <a:t>for the following installations: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15F114-B357-4530-A601-720E9069E45C}"/>
              </a:ext>
            </a:extLst>
          </p:cNvPr>
          <p:cNvSpPr txBox="1">
            <a:spLocks/>
          </p:cNvSpPr>
          <p:nvPr/>
        </p:nvSpPr>
        <p:spPr>
          <a:xfrm>
            <a:off x="628650" y="3070693"/>
            <a:ext cx="7886700" cy="31577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Install </a:t>
            </a:r>
            <a:r>
              <a:rPr lang="en-US" sz="2000" b="1" dirty="0"/>
              <a:t>Git </a:t>
            </a:r>
            <a:r>
              <a:rPr lang="en-US" sz="2000" dirty="0"/>
              <a:t>- </a:t>
            </a:r>
            <a:r>
              <a:rPr lang="en-US" sz="2000" dirty="0">
                <a:hlinkClick r:id="rId2"/>
              </a:rPr>
              <a:t>https://git-scm.com/download/mac</a:t>
            </a:r>
            <a:r>
              <a:rPr lang="en-US" sz="2000" dirty="0"/>
              <a:t> (I recommend using the </a:t>
            </a:r>
            <a:r>
              <a:rPr lang="en-US" sz="2000" dirty="0">
                <a:hlinkClick r:id="rId3"/>
              </a:rPr>
              <a:t>homebrew</a:t>
            </a:r>
            <a:r>
              <a:rPr lang="en-US" sz="2000" dirty="0"/>
              <a:t> install method for </a:t>
            </a:r>
            <a:r>
              <a:rPr lang="en-US" sz="2000" b="1" dirty="0"/>
              <a:t>Git</a:t>
            </a:r>
            <a:r>
              <a:rPr lang="en-US" sz="2000" dirty="0"/>
              <a:t> if you can)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Install </a:t>
            </a:r>
            <a:r>
              <a:rPr lang="en-US" sz="2000" b="1" dirty="0"/>
              <a:t>Miniconda3</a:t>
            </a:r>
            <a:r>
              <a:rPr lang="en-US" sz="2000" dirty="0"/>
              <a:t> for macOS – please read this first: </a:t>
            </a:r>
            <a:r>
              <a:rPr lang="en-US" sz="2000" dirty="0">
                <a:hlinkClick r:id="rId4"/>
              </a:rPr>
              <a:t>https://conda.io/projects/conda/en/latest/user-guide/install/macos.html</a:t>
            </a:r>
            <a:r>
              <a:rPr lang="en-US" sz="2000" dirty="0"/>
              <a:t> - then do this:</a:t>
            </a:r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lphaLcParenR"/>
            </a:pPr>
            <a:r>
              <a:rPr lang="en-US" sz="1600" dirty="0"/>
              <a:t>If using an </a:t>
            </a:r>
            <a:r>
              <a:rPr lang="en-US" sz="1600" b="1" dirty="0">
                <a:solidFill>
                  <a:srgbClr val="FF0000"/>
                </a:solidFill>
              </a:rPr>
              <a:t>Intel</a:t>
            </a:r>
            <a:r>
              <a:rPr lang="en-US" sz="1600" dirty="0"/>
              <a:t> CPU: download and run the script </a:t>
            </a:r>
            <a:r>
              <a:rPr lang="en-US" sz="1600" b="1" dirty="0"/>
              <a:t>Miniconda3 </a:t>
            </a:r>
            <a:r>
              <a:rPr lang="en-US" sz="1600" b="1" dirty="0" err="1"/>
              <a:t>MacOSX</a:t>
            </a:r>
            <a:r>
              <a:rPr lang="en-US" sz="1600" b="1" dirty="0"/>
              <a:t> 64-bit bash </a:t>
            </a:r>
            <a:r>
              <a:rPr lang="en-US" sz="1600" dirty="0">
                <a:hlinkClick r:id="rId5"/>
              </a:rPr>
              <a:t>https://repo.anaconda.com/miniconda/Miniconda3-latest-MacOSX-x86_64.sh</a:t>
            </a:r>
            <a:endParaRPr lang="en-US" sz="1600" dirty="0"/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lphaLcParenR"/>
            </a:pPr>
            <a:r>
              <a:rPr lang="en-US" sz="1600" dirty="0"/>
              <a:t>If using an </a:t>
            </a:r>
            <a:r>
              <a:rPr lang="en-US" sz="1600" b="1" dirty="0">
                <a:solidFill>
                  <a:srgbClr val="FF0000"/>
                </a:solidFill>
              </a:rPr>
              <a:t>M1</a:t>
            </a:r>
            <a:r>
              <a:rPr lang="en-US" sz="1600" b="1" dirty="0">
                <a:solidFill>
                  <a:srgbClr val="7030A0"/>
                </a:solidFill>
              </a:rPr>
              <a:t> </a:t>
            </a:r>
            <a:r>
              <a:rPr lang="en-US" sz="1600" dirty="0"/>
              <a:t>CPU: download and run the script </a:t>
            </a:r>
            <a:r>
              <a:rPr lang="en-US" sz="1600" b="1" dirty="0"/>
              <a:t>Miniconda3 macOS Apple M1 64-bit bash </a:t>
            </a:r>
            <a:r>
              <a:rPr lang="en-US" sz="1600" dirty="0">
                <a:hlinkClick r:id="rId6"/>
              </a:rPr>
              <a:t>https://repo.anaconda.com/miniconda/Miniconda3-latest-MacOSX-arm64.sh</a:t>
            </a:r>
            <a:r>
              <a:rPr lang="en-US" sz="1600" dirty="0"/>
              <a:t> 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endParaRPr lang="en-US" sz="2400" dirty="0"/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798086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Apple macOS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8581"/>
            <a:ext cx="7886700" cy="130459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After clicking on the appropriate script hyperlink in the prior slide (Phase 1 step # 2 a/b) based upon your CPU type, your browser will place the script in your </a:t>
            </a:r>
            <a:r>
              <a:rPr lang="en-US" sz="2400" b="1" dirty="0"/>
              <a:t>Downloads</a:t>
            </a:r>
            <a:r>
              <a:rPr lang="en-US" sz="2400" dirty="0"/>
              <a:t> folder: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14</a:t>
            </a:fld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4D2482-B17E-47C3-B076-0C6A322A6A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7832" y="2811437"/>
            <a:ext cx="6348335" cy="21303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12BAF39-5668-4E14-BF89-048E62279F3D}"/>
              </a:ext>
            </a:extLst>
          </p:cNvPr>
          <p:cNvSpPr/>
          <p:nvPr/>
        </p:nvSpPr>
        <p:spPr>
          <a:xfrm>
            <a:off x="3230380" y="2870616"/>
            <a:ext cx="2938072" cy="217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50AFFD-DCB3-43F1-88A4-1B5D45AC48D3}"/>
              </a:ext>
            </a:extLst>
          </p:cNvPr>
          <p:cNvSpPr/>
          <p:nvPr/>
        </p:nvSpPr>
        <p:spPr>
          <a:xfrm>
            <a:off x="4102308" y="3718847"/>
            <a:ext cx="1818807" cy="217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679B57F-9A91-4053-8160-1A8BA9E7A8E5}"/>
              </a:ext>
            </a:extLst>
          </p:cNvPr>
          <p:cNvSpPr/>
          <p:nvPr/>
        </p:nvSpPr>
        <p:spPr>
          <a:xfrm>
            <a:off x="2133600" y="4515824"/>
            <a:ext cx="729522" cy="217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BF9FF7D-C63D-40E2-9F05-4D606639A8FA}"/>
              </a:ext>
            </a:extLst>
          </p:cNvPr>
          <p:cNvCxnSpPr>
            <a:stCxn id="12" idx="2"/>
            <a:endCxn id="14" idx="1"/>
          </p:cNvCxnSpPr>
          <p:nvPr/>
        </p:nvCxnSpPr>
        <p:spPr>
          <a:xfrm rot="5400000">
            <a:off x="2648244" y="2573330"/>
            <a:ext cx="1536529" cy="2565816"/>
          </a:xfrm>
          <a:prstGeom prst="bentConnector4">
            <a:avLst>
              <a:gd name="adj1" fmla="val 8415"/>
              <a:gd name="adj2" fmla="val 108909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4A9BC033-CA3E-40F5-BC6D-050ABF3A6434}"/>
              </a:ext>
            </a:extLst>
          </p:cNvPr>
          <p:cNvCxnSpPr>
            <a:cxnSpLocks/>
            <a:stCxn id="14" idx="3"/>
            <a:endCxn id="13" idx="1"/>
          </p:cNvCxnSpPr>
          <p:nvPr/>
        </p:nvCxnSpPr>
        <p:spPr>
          <a:xfrm flipV="1">
            <a:off x="2863122" y="3827526"/>
            <a:ext cx="1239186" cy="796977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9992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Apple macOS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262845"/>
            <a:ext cx="7886700" cy="1788618"/>
          </a:xfrm>
        </p:spPr>
        <p:txBody>
          <a:bodyPr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1800" dirty="0">
                <a:latin typeface="Consolas" panose="020B0609020204030204" pitchFamily="49" charset="0"/>
              </a:rPr>
              <a:t>cd $HOME/Downloads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1800" dirty="0">
                <a:latin typeface="Consolas" panose="020B0609020204030204" pitchFamily="49" charset="0"/>
              </a:rPr>
              <a:t>bash Miniconda3-latest-MacOSX-x86_64.sh (if on Intel CPU)</a:t>
            </a: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or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 startAt="2"/>
            </a:pPr>
            <a:r>
              <a:rPr lang="en-US" sz="1800" dirty="0">
                <a:latin typeface="Consolas" panose="020B0609020204030204" pitchFamily="49" charset="0"/>
              </a:rPr>
              <a:t>bash Miniconda3-latest-MacOSX-arm64.sh (if on M1 CPU)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15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270D6CB-F495-470F-90D7-C54E7A9383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714" y="4273857"/>
            <a:ext cx="4428571" cy="2447619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0BA8990C-8D06-4B4B-B540-76D7B4817B52}"/>
              </a:ext>
            </a:extLst>
          </p:cNvPr>
          <p:cNvGrpSpPr/>
          <p:nvPr/>
        </p:nvGrpSpPr>
        <p:grpSpPr>
          <a:xfrm>
            <a:off x="4151858" y="5335486"/>
            <a:ext cx="1076632" cy="369332"/>
            <a:chOff x="4968362" y="2079211"/>
            <a:chExt cx="1076632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A244521-213D-4FD1-9F2D-96041FB74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B66372-C288-4D9D-B01F-78B8E14A4E2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CBBD2B-AAA6-4264-ACEA-9C8EE7E37806}"/>
              </a:ext>
            </a:extLst>
          </p:cNvPr>
          <p:cNvGrpSpPr/>
          <p:nvPr/>
        </p:nvGrpSpPr>
        <p:grpSpPr>
          <a:xfrm>
            <a:off x="5709653" y="5987019"/>
            <a:ext cx="1076632" cy="369332"/>
            <a:chOff x="4704120" y="2356972"/>
            <a:chExt cx="1076632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F9625D8-B7AB-40E2-A4F3-ED025842F0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2956BA-88B4-43F2-BBC3-0024A9E4E09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BC051743-405B-4D8F-87CA-159EF9BDCA13}"/>
              </a:ext>
            </a:extLst>
          </p:cNvPr>
          <p:cNvSpPr txBox="1"/>
          <p:nvPr/>
        </p:nvSpPr>
        <p:spPr>
          <a:xfrm>
            <a:off x="1337872" y="1398216"/>
            <a:ext cx="6468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To run the Miniconda install script that you downloaded,</a:t>
            </a: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open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zsh</a:t>
            </a:r>
            <a:r>
              <a:rPr lang="en-US" sz="1800" b="1" dirty="0">
                <a:solidFill>
                  <a:srgbClr val="FF0000"/>
                </a:solidFill>
              </a:rPr>
              <a:t> (iTerm2) session, and type these </a:t>
            </a:r>
            <a:r>
              <a:rPr lang="en-US" sz="1800" b="1" u="sng" dirty="0">
                <a:solidFill>
                  <a:srgbClr val="FF0000"/>
                </a:solidFill>
              </a:rPr>
              <a:t>two</a:t>
            </a:r>
            <a:r>
              <a:rPr lang="en-US" sz="1800" b="1" dirty="0">
                <a:solidFill>
                  <a:srgbClr val="FF0000"/>
                </a:solidFill>
              </a:rPr>
              <a:t> commands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29746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Apple macOS – </a:t>
            </a:r>
            <a:r>
              <a:rPr lang="en-US" sz="3200" b="1" dirty="0">
                <a:latin typeface="+mn-lt"/>
              </a:rPr>
              <a:t>Phase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1536"/>
            <a:ext cx="7886700" cy="4351338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conda</a:t>
            </a:r>
            <a:r>
              <a:rPr lang="en-US" sz="2000" dirty="0">
                <a:latin typeface="Consolas" panose="020B0609020204030204" pitchFamily="49" charset="0"/>
              </a:rPr>
              <a:t> update -y -n base </a:t>
            </a:r>
            <a:r>
              <a:rPr lang="en-US" sz="2000" dirty="0" err="1">
                <a:latin typeface="Consolas" panose="020B0609020204030204" pitchFamily="49" charset="0"/>
              </a:rPr>
              <a:t>conda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git clone </a:t>
            </a:r>
            <a:r>
              <a:rPr lang="en-US" sz="2000" dirty="0">
                <a:latin typeface="Consolas" panose="020B0609020204030204" pitchFamily="49" charset="0"/>
                <a:hlinkClick r:id="rId2"/>
              </a:rPr>
              <a:t>https://github.com/dbiersach/minisem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source scicomp-labs/installers/mac-install.sh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16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37884-B504-4048-8B5C-C46377D5F890}"/>
              </a:ext>
            </a:extLst>
          </p:cNvPr>
          <p:cNvSpPr txBox="1"/>
          <p:nvPr/>
        </p:nvSpPr>
        <p:spPr>
          <a:xfrm>
            <a:off x="1337872" y="1398216"/>
            <a:ext cx="6468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After Phase 1 completes, close that </a:t>
            </a:r>
            <a:r>
              <a:rPr lang="en-US" sz="1800" b="1" dirty="0" err="1">
                <a:solidFill>
                  <a:srgbClr val="FF0000"/>
                </a:solidFill>
              </a:rPr>
              <a:t>zsh</a:t>
            </a:r>
            <a:r>
              <a:rPr lang="en-US" sz="1800" b="1" dirty="0">
                <a:solidFill>
                  <a:srgbClr val="FF0000"/>
                </a:solidFill>
              </a:rPr>
              <a:t> window, and then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s</a:t>
            </a:r>
            <a:r>
              <a:rPr lang="en-US" sz="1800" b="1" dirty="0">
                <a:solidFill>
                  <a:srgbClr val="FF0000"/>
                </a:solidFill>
              </a:rPr>
              <a:t>tart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zsh</a:t>
            </a:r>
            <a:r>
              <a:rPr lang="en-US" sz="1800" b="1" dirty="0">
                <a:solidFill>
                  <a:srgbClr val="FF0000"/>
                </a:solidFill>
              </a:rPr>
              <a:t> (</a:t>
            </a:r>
            <a:r>
              <a:rPr lang="en-US" sz="1800" b="1" dirty="0" err="1">
                <a:solidFill>
                  <a:srgbClr val="FF0000"/>
                </a:solidFill>
              </a:rPr>
              <a:t>iTerm</a:t>
            </a:r>
            <a:r>
              <a:rPr lang="en-US" sz="1800" b="1" dirty="0">
                <a:solidFill>
                  <a:srgbClr val="FF0000"/>
                </a:solidFill>
              </a:rPr>
              <a:t>) session and execute these </a:t>
            </a:r>
            <a:r>
              <a:rPr lang="en-US" sz="1800" b="1" u="sng" dirty="0">
                <a:solidFill>
                  <a:srgbClr val="FF0000"/>
                </a:solidFill>
              </a:rPr>
              <a:t>four</a:t>
            </a:r>
            <a:r>
              <a:rPr lang="en-US" sz="1800" b="1" dirty="0">
                <a:solidFill>
                  <a:srgbClr val="FF0000"/>
                </a:solidFill>
              </a:rPr>
              <a:t> commands: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A38B78-D1D9-4409-86DF-E91B180CB1CC}"/>
              </a:ext>
            </a:extLst>
          </p:cNvPr>
          <p:cNvSpPr txBox="1"/>
          <p:nvPr/>
        </p:nvSpPr>
        <p:spPr>
          <a:xfrm>
            <a:off x="1686394" y="4184550"/>
            <a:ext cx="5771212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b="1" dirty="0"/>
              <a:t>Note</a:t>
            </a:r>
            <a:r>
              <a:rPr lang="en-US" dirty="0"/>
              <a:t>: If when trying to run </a:t>
            </a:r>
            <a:r>
              <a:rPr lang="en-US" b="1" dirty="0" err="1">
                <a:latin typeface="Consolas" panose="020B0609020204030204" pitchFamily="49" charset="0"/>
              </a:rPr>
              <a:t>conda</a:t>
            </a:r>
            <a:r>
              <a:rPr lang="en-US" b="1" dirty="0">
                <a:latin typeface="Consolas" panose="020B0609020204030204" pitchFamily="49" charset="0"/>
              </a:rPr>
              <a:t> update</a:t>
            </a:r>
            <a:r>
              <a:rPr lang="en-US" dirty="0"/>
              <a:t>… your computer says it </a:t>
            </a:r>
            <a:r>
              <a:rPr lang="en-US" dirty="0">
                <a:solidFill>
                  <a:srgbClr val="FF0000"/>
                </a:solidFill>
              </a:rPr>
              <a:t>cannot find '</a:t>
            </a:r>
            <a:r>
              <a:rPr lang="en-US" dirty="0" err="1">
                <a:solidFill>
                  <a:srgbClr val="FF0000"/>
                </a:solidFill>
              </a:rPr>
              <a:t>conda</a:t>
            </a:r>
            <a:r>
              <a:rPr lang="en-US" dirty="0">
                <a:solidFill>
                  <a:srgbClr val="FF0000"/>
                </a:solidFill>
              </a:rPr>
              <a:t>'…</a:t>
            </a:r>
          </a:p>
          <a:p>
            <a:endParaRPr lang="en-US" dirty="0"/>
          </a:p>
          <a:p>
            <a:r>
              <a:rPr lang="en-US" dirty="0"/>
              <a:t>First, manually locate the </a:t>
            </a:r>
            <a:r>
              <a:rPr lang="en-US" dirty="0" err="1"/>
              <a:t>conda</a:t>
            </a:r>
            <a:r>
              <a:rPr lang="en-US" dirty="0"/>
              <a:t> binary/executable on your filesystem and open a </a:t>
            </a:r>
            <a:r>
              <a:rPr lang="en-US" dirty="0" err="1"/>
              <a:t>zsh</a:t>
            </a:r>
            <a:r>
              <a:rPr lang="en-US" dirty="0"/>
              <a:t> session in </a:t>
            </a:r>
            <a:r>
              <a:rPr lang="en-US" i="1" dirty="0"/>
              <a:t>that</a:t>
            </a:r>
            <a:r>
              <a:rPr lang="en-US" dirty="0"/>
              <a:t> folder.</a:t>
            </a:r>
          </a:p>
          <a:p>
            <a:endParaRPr lang="en-US" dirty="0"/>
          </a:p>
          <a:p>
            <a:r>
              <a:rPr lang="en-US" dirty="0"/>
              <a:t>Then enter the following command: </a:t>
            </a:r>
            <a:r>
              <a:rPr lang="en-US" b="1" dirty="0" err="1">
                <a:latin typeface="Consolas" panose="020B0609020204030204" pitchFamily="49" charset="0"/>
              </a:rPr>
              <a:t>conda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init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zsh</a:t>
            </a:r>
            <a:endParaRPr lang="en-US" b="1" dirty="0">
              <a:latin typeface="Consolas" panose="020B0609020204030204" pitchFamily="49" charset="0"/>
            </a:endParaRPr>
          </a:p>
          <a:p>
            <a:r>
              <a:rPr lang="en-US" dirty="0"/>
              <a:t>Then close that </a:t>
            </a:r>
            <a:r>
              <a:rPr lang="en-US" dirty="0" err="1"/>
              <a:t>zsh</a:t>
            </a:r>
            <a:r>
              <a:rPr lang="en-US" dirty="0"/>
              <a:t> session, and restart Phase 2 on this slide</a:t>
            </a:r>
          </a:p>
        </p:txBody>
      </p:sp>
    </p:spTree>
    <p:extLst>
      <p:ext uri="{BB962C8B-B14F-4D97-AF65-F5344CB8AC3E}">
        <p14:creationId xmlns:p14="http://schemas.microsoft.com/office/powerpoint/2010/main" val="2415139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589C04-1A0E-4832-97C2-C48FFF0AB0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7" t="1991" r="2757" b="37177"/>
          <a:stretch/>
        </p:blipFill>
        <p:spPr>
          <a:xfrm>
            <a:off x="719349" y="1577038"/>
            <a:ext cx="7705302" cy="462166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Apple macOS – </a:t>
            </a:r>
            <a:r>
              <a:rPr lang="en-US" sz="3200" b="1" dirty="0">
                <a:latin typeface="+mn-lt"/>
              </a:rPr>
              <a:t>Phase 2 (screenshot)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17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CBC0D7-BAAF-4595-8B8D-49028CBE1F6B}"/>
              </a:ext>
            </a:extLst>
          </p:cNvPr>
          <p:cNvGrpSpPr/>
          <p:nvPr/>
        </p:nvGrpSpPr>
        <p:grpSpPr>
          <a:xfrm>
            <a:off x="2765675" y="2280932"/>
            <a:ext cx="1076632" cy="369332"/>
            <a:chOff x="4968362" y="2079211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42C46B2-8FD6-4CA6-93D8-3C7FFEF8CF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1A7149-589D-4637-BAF9-8D7F2A0E879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F6D957-F9EB-4F0E-A01D-65F3F9561DFB}"/>
              </a:ext>
            </a:extLst>
          </p:cNvPr>
          <p:cNvGrpSpPr/>
          <p:nvPr/>
        </p:nvGrpSpPr>
        <p:grpSpPr>
          <a:xfrm>
            <a:off x="1554404" y="3643243"/>
            <a:ext cx="1076632" cy="369332"/>
            <a:chOff x="4704120" y="2356972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8D00062-97C0-44C8-B04D-63FB902E95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3A1312-E296-453A-8DA1-728B9CEB232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08CD26-084D-421F-AE8E-07043F8EC81D}"/>
              </a:ext>
            </a:extLst>
          </p:cNvPr>
          <p:cNvGrpSpPr/>
          <p:nvPr/>
        </p:nvGrpSpPr>
        <p:grpSpPr>
          <a:xfrm>
            <a:off x="3855393" y="4166002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862952-9736-442D-833D-EAE4AD3846E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4E7ECDA-78DF-4E70-B0BB-527FE52692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4E26CC-2421-47F9-A780-1A74B45FFB4A}"/>
              </a:ext>
            </a:extLst>
          </p:cNvPr>
          <p:cNvGrpSpPr/>
          <p:nvPr/>
        </p:nvGrpSpPr>
        <p:grpSpPr>
          <a:xfrm>
            <a:off x="3581307" y="5874338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D0AE70-A7C9-4C75-A8DA-CD72B0325A2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D2B68EE-A458-4A47-9AAB-74691BDFA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297128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234229A7-3BC3-4728-BDFC-BC3A60B13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524" y="3566860"/>
            <a:ext cx="6380952" cy="273333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1536"/>
            <a:ext cx="7886700" cy="1287464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conda</a:t>
            </a:r>
            <a:r>
              <a:rPr lang="en-US" sz="2000" dirty="0">
                <a:latin typeface="Consolas" panose="020B0609020204030204" pitchFamily="49" charset="0"/>
              </a:rPr>
              <a:t> activate 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$HOME/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-demos/labs/welcome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jupyter</a:t>
            </a:r>
            <a:r>
              <a:rPr lang="en-US" sz="2000" dirty="0">
                <a:latin typeface="Consolas" panose="020B0609020204030204" pitchFamily="49" charset="0"/>
              </a:rPr>
              <a:t> lab </a:t>
            </a:r>
            <a:r>
              <a:rPr lang="en-US" sz="2000" dirty="0" err="1">
                <a:latin typeface="Consolas" panose="020B0609020204030204" pitchFamily="49" charset="0"/>
              </a:rPr>
              <a:t>welcome.ipynb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Apple macOS – </a:t>
            </a:r>
            <a:r>
              <a:rPr lang="en-US" sz="3200" b="1" dirty="0">
                <a:latin typeface="+mn-lt"/>
              </a:rPr>
              <a:t>Phase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D845F-481B-449B-A258-B2D47FC47049}"/>
              </a:ext>
            </a:extLst>
          </p:cNvPr>
          <p:cNvSpPr txBox="1"/>
          <p:nvPr/>
        </p:nvSpPr>
        <p:spPr>
          <a:xfrm>
            <a:off x="885357" y="1398216"/>
            <a:ext cx="73732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Start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zsh</a:t>
            </a:r>
            <a:r>
              <a:rPr lang="en-US" sz="1800" b="1" dirty="0">
                <a:solidFill>
                  <a:srgbClr val="FF0000"/>
                </a:solidFill>
              </a:rPr>
              <a:t> (</a:t>
            </a:r>
            <a:r>
              <a:rPr lang="en-US" sz="1800" b="1" dirty="0" err="1">
                <a:solidFill>
                  <a:srgbClr val="FF0000"/>
                </a:solidFill>
              </a:rPr>
              <a:t>iTerm</a:t>
            </a:r>
            <a:r>
              <a:rPr lang="en-US" sz="1800" b="1" dirty="0">
                <a:solidFill>
                  <a:srgbClr val="FF0000"/>
                </a:solidFill>
              </a:rPr>
              <a:t>) session and execute these </a:t>
            </a:r>
            <a:r>
              <a:rPr lang="en-US" sz="1800" b="1" u="sng" dirty="0">
                <a:solidFill>
                  <a:srgbClr val="FF0000"/>
                </a:solidFill>
              </a:rPr>
              <a:t>three</a:t>
            </a:r>
            <a:r>
              <a:rPr lang="en-US" sz="1800" b="1" dirty="0">
                <a:solidFill>
                  <a:srgbClr val="FF0000"/>
                </a:solidFill>
              </a:rPr>
              <a:t> commands: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12E07F-473A-473D-898F-9163BBC4D7CD}"/>
              </a:ext>
            </a:extLst>
          </p:cNvPr>
          <p:cNvGrpSpPr/>
          <p:nvPr/>
        </p:nvGrpSpPr>
        <p:grpSpPr>
          <a:xfrm>
            <a:off x="4187872" y="4604063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0C8DDFF-47B8-4B03-A7BD-128195C259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4D15A3-22BE-4D75-BA14-446AA65E1DB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76A7CF-7396-46FD-8E49-ACC9BBBF13C0}"/>
              </a:ext>
            </a:extLst>
          </p:cNvPr>
          <p:cNvGrpSpPr/>
          <p:nvPr/>
        </p:nvGrpSpPr>
        <p:grpSpPr>
          <a:xfrm>
            <a:off x="2842630" y="5216747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658992F-C0BE-4D3B-94E5-8145F9CDED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BB5592-D208-48DB-B8A4-54E47664486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62F43D-4543-4BA8-BE62-CDEAB3238540}"/>
              </a:ext>
            </a:extLst>
          </p:cNvPr>
          <p:cNvGrpSpPr/>
          <p:nvPr/>
        </p:nvGrpSpPr>
        <p:grpSpPr>
          <a:xfrm>
            <a:off x="3475852" y="5861013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6F54F8-0AC3-48B8-A876-9F3A04B41D9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D4D9574-9BAD-4616-B1F3-DCBADB11C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719013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7F1BCC1-821D-4BC3-8E46-9D20CBE6F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45" y="1468581"/>
            <a:ext cx="7462111" cy="48877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Run the Welcome Notebook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19</a:t>
            </a:fld>
            <a:endParaRPr lang="en-US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B70542E-CE07-4024-91C9-32200E403BE1}"/>
              </a:ext>
            </a:extLst>
          </p:cNvPr>
          <p:cNvSpPr/>
          <p:nvPr/>
        </p:nvSpPr>
        <p:spPr>
          <a:xfrm>
            <a:off x="2083633" y="2572036"/>
            <a:ext cx="1611442" cy="575898"/>
          </a:xfrm>
          <a:prstGeom prst="wedgeRoundRectCallout">
            <a:avLst>
              <a:gd name="adj1" fmla="val 116841"/>
              <a:gd name="adj2" fmla="val -12621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the "Play" button 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79EC9FC4-8537-4C2A-B0E6-A6680B5010AE}"/>
              </a:ext>
            </a:extLst>
          </p:cNvPr>
          <p:cNvSpPr/>
          <p:nvPr/>
        </p:nvSpPr>
        <p:spPr>
          <a:xfrm>
            <a:off x="1793823" y="4813521"/>
            <a:ext cx="1901252" cy="575898"/>
          </a:xfrm>
          <a:prstGeom prst="wedgeRoundRectCallout">
            <a:avLst>
              <a:gd name="adj1" fmla="val -51654"/>
              <a:gd name="adj2" fmla="val -1288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Double click to open this file</a:t>
            </a:r>
          </a:p>
        </p:txBody>
      </p:sp>
    </p:spTree>
    <p:extLst>
      <p:ext uri="{BB962C8B-B14F-4D97-AF65-F5344CB8AC3E}">
        <p14:creationId xmlns:p14="http://schemas.microsoft.com/office/powerpoint/2010/main" val="1036091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Success!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FAFF94-5791-4651-A6A6-2B955BB40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19" y="1807704"/>
            <a:ext cx="5504762" cy="4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0588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75CC74-F6B0-4379-9909-2DCCFB065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16" y="1277644"/>
            <a:ext cx="6115767" cy="52612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Shutdown Jupyter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EF576C-4D10-4ACB-9135-E30DD836DC86}"/>
              </a:ext>
            </a:extLst>
          </p:cNvPr>
          <p:cNvSpPr/>
          <p:nvPr/>
        </p:nvSpPr>
        <p:spPr>
          <a:xfrm>
            <a:off x="1757528" y="4939258"/>
            <a:ext cx="689548" cy="202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2EE0845-C73A-44A4-B134-B9DD9252099A}"/>
              </a:ext>
            </a:extLst>
          </p:cNvPr>
          <p:cNvSpPr/>
          <p:nvPr/>
        </p:nvSpPr>
        <p:spPr>
          <a:xfrm>
            <a:off x="2564568" y="3200399"/>
            <a:ext cx="2725712" cy="1347859"/>
          </a:xfrm>
          <a:prstGeom prst="wedgeRoundRectCallout">
            <a:avLst>
              <a:gd name="adj1" fmla="val -56805"/>
              <a:gd name="adj2" fmla="val 8395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File…Shut Down, discard any changes, and then close this web browser window</a:t>
            </a:r>
          </a:p>
        </p:txBody>
      </p:sp>
    </p:spTree>
    <p:extLst>
      <p:ext uri="{BB962C8B-B14F-4D97-AF65-F5344CB8AC3E}">
        <p14:creationId xmlns:p14="http://schemas.microsoft.com/office/powerpoint/2010/main" val="3552378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DAD50E0-A1EE-4A5C-8A4C-D7EA5F1093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4673" y="2765231"/>
            <a:ext cx="5831977" cy="389008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Viewing the Courseware Slides</a:t>
            </a:r>
            <a:endParaRPr lang="en-US" sz="32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22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F8AB5-2C4A-4463-93DA-40D80FFC98CA}"/>
              </a:ext>
            </a:extLst>
          </p:cNvPr>
          <p:cNvSpPr txBox="1"/>
          <p:nvPr/>
        </p:nvSpPr>
        <p:spPr>
          <a:xfrm>
            <a:off x="1238562" y="1398216"/>
            <a:ext cx="666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In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</a:t>
            </a:r>
            <a:r>
              <a:rPr lang="en-US" sz="1800" b="1" dirty="0" err="1">
                <a:solidFill>
                  <a:srgbClr val="FF0000"/>
                </a:solidFill>
              </a:rPr>
              <a:t>zsh</a:t>
            </a:r>
            <a:r>
              <a:rPr lang="en-US" sz="1800" b="1" dirty="0">
                <a:solidFill>
                  <a:srgbClr val="FF0000"/>
                </a:solidFill>
              </a:rPr>
              <a:t> session, execute </a:t>
            </a:r>
            <a:r>
              <a:rPr lang="en-US" sz="1800" b="1" dirty="0" err="1">
                <a:solidFill>
                  <a:srgbClr val="FF0000"/>
                </a:solidFill>
              </a:rPr>
              <a:t>thse</a:t>
            </a:r>
            <a:r>
              <a:rPr lang="en-US" sz="1800" b="1" dirty="0">
                <a:solidFill>
                  <a:srgbClr val="FF0000"/>
                </a:solidFill>
              </a:rPr>
              <a:t> two commands: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BB7281-27F5-45AB-A4A8-3899C844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971" y="1872095"/>
            <a:ext cx="5150058" cy="473031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$HOME/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-labs/slides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open .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E0145-D8DA-4627-BE04-26E92C5967ED}"/>
              </a:ext>
            </a:extLst>
          </p:cNvPr>
          <p:cNvSpPr/>
          <p:nvPr/>
        </p:nvSpPr>
        <p:spPr>
          <a:xfrm>
            <a:off x="3770026" y="5007098"/>
            <a:ext cx="1963712" cy="190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923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Google Chromebook Linux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8581"/>
            <a:ext cx="7886700" cy="130459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You must enable 64-bit </a:t>
            </a:r>
            <a:r>
              <a:rPr lang="en-US" sz="2400" b="1" dirty="0"/>
              <a:t>Linux</a:t>
            </a:r>
            <a:r>
              <a:rPr lang="en-US" sz="2400" dirty="0"/>
              <a:t> on your Chromebook (</a:t>
            </a:r>
            <a:r>
              <a:rPr lang="en-US" sz="2400" b="1" dirty="0">
                <a:solidFill>
                  <a:srgbClr val="00B050"/>
                </a:solidFill>
              </a:rPr>
              <a:t>Crostini</a:t>
            </a:r>
            <a:r>
              <a:rPr lang="en-US" sz="2400" dirty="0"/>
              <a:t>) and have a minimum of 3GB of free disk space remaining in the Linux partition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Accept</a:t>
            </a:r>
            <a:r>
              <a:rPr lang="en-US" sz="2400" b="1" dirty="0"/>
              <a:t> all default settings </a:t>
            </a:r>
            <a:r>
              <a:rPr lang="en-US" sz="2400" dirty="0"/>
              <a:t>for the following installations: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23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15F114-B357-4530-A601-720E9069E45C}"/>
              </a:ext>
            </a:extLst>
          </p:cNvPr>
          <p:cNvSpPr txBox="1">
            <a:spLocks/>
          </p:cNvSpPr>
          <p:nvPr/>
        </p:nvSpPr>
        <p:spPr>
          <a:xfrm>
            <a:off x="628650" y="3070693"/>
            <a:ext cx="7886700" cy="31577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Install </a:t>
            </a:r>
            <a:r>
              <a:rPr lang="en-US" sz="2000" b="1" dirty="0"/>
              <a:t>Git </a:t>
            </a:r>
            <a:r>
              <a:rPr lang="en-US" sz="2000" dirty="0"/>
              <a:t>– Enter this command: </a:t>
            </a:r>
            <a:r>
              <a:rPr lang="en-US" sz="1800" b="1" dirty="0" err="1">
                <a:latin typeface="Consolas" panose="020B0609020204030204" pitchFamily="49" charset="0"/>
              </a:rPr>
              <a:t>sudo</a:t>
            </a:r>
            <a:r>
              <a:rPr lang="en-US" sz="1800" b="1" dirty="0">
                <a:latin typeface="Consolas" panose="020B0609020204030204" pitchFamily="49" charset="0"/>
              </a:rPr>
              <a:t> apt install –y git-all</a:t>
            </a:r>
            <a:endParaRPr lang="en-US" sz="2000" dirty="0"/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Install </a:t>
            </a:r>
            <a:r>
              <a:rPr lang="en-US" sz="2000" b="1" dirty="0"/>
              <a:t>Miniconda3</a:t>
            </a:r>
            <a:r>
              <a:rPr lang="en-US" sz="2000" dirty="0"/>
              <a:t> – Using the built-in Chrome web browser (which runs outside of the Linux Terminal) go to </a:t>
            </a:r>
            <a:r>
              <a:rPr lang="en-US" sz="2000" b="1" dirty="0"/>
              <a:t>one</a:t>
            </a:r>
            <a:r>
              <a:rPr lang="en-US" sz="2000" dirty="0"/>
              <a:t> of these links:</a:t>
            </a:r>
            <a:endParaRPr lang="en-US" sz="2000" b="1" dirty="0"/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lphaLcParenR"/>
            </a:pPr>
            <a:r>
              <a:rPr lang="en-US" sz="1600" dirty="0"/>
              <a:t>If on an </a:t>
            </a:r>
            <a:r>
              <a:rPr lang="en-US" sz="1600" b="1" dirty="0">
                <a:solidFill>
                  <a:srgbClr val="FF0000"/>
                </a:solidFill>
              </a:rPr>
              <a:t>Intel</a:t>
            </a:r>
            <a:r>
              <a:rPr lang="en-US" sz="1600" dirty="0"/>
              <a:t> Chromebook, go to this link: </a:t>
            </a:r>
            <a:r>
              <a:rPr lang="en-US" sz="1600" dirty="0">
                <a:hlinkClick r:id="rId2"/>
              </a:rPr>
              <a:t>https://repo.anaconda.com/miniconda/Miniconda3-latest-Linux-x86_64.sh</a:t>
            </a:r>
            <a:endParaRPr lang="en-US" sz="1600" dirty="0"/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lphaLcParenR"/>
            </a:pPr>
            <a:r>
              <a:rPr lang="en-US" sz="1600" dirty="0"/>
              <a:t>If on an </a:t>
            </a:r>
            <a:r>
              <a:rPr lang="en-US" sz="1600" b="1" dirty="0">
                <a:solidFill>
                  <a:srgbClr val="FF0000"/>
                </a:solidFill>
              </a:rPr>
              <a:t>ARM</a:t>
            </a:r>
            <a:r>
              <a:rPr lang="en-US" sz="1600" dirty="0"/>
              <a:t> Chromebook, go to this link: </a:t>
            </a:r>
            <a:r>
              <a:rPr lang="en-US" sz="1600" dirty="0">
                <a:hlinkClick r:id="rId3"/>
              </a:rPr>
              <a:t>https://repo.anaconda.com/miniconda/Miniconda3-latest-Linux-aarch64.sh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97950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415EFAC-1E12-4B99-87DE-619D45257A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46" y="2773180"/>
            <a:ext cx="7944708" cy="356361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Google Chromebook Linux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8581"/>
            <a:ext cx="7886700" cy="130459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After clicking on the appropriate script hyperlink in the prior slide (Phase 1 step # 2 a/b) based upon your CPU type, your browser will place the script in your </a:t>
            </a:r>
            <a:r>
              <a:rPr lang="en-US" sz="2400" b="1" dirty="0"/>
              <a:t>Downloads</a:t>
            </a:r>
            <a:r>
              <a:rPr lang="en-US" sz="2400" dirty="0"/>
              <a:t> folder: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24</a:t>
            </a:fld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12BAF39-5668-4E14-BF89-048E62279F3D}"/>
              </a:ext>
            </a:extLst>
          </p:cNvPr>
          <p:cNvSpPr/>
          <p:nvPr/>
        </p:nvSpPr>
        <p:spPr>
          <a:xfrm>
            <a:off x="869429" y="4856813"/>
            <a:ext cx="1011837" cy="217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E50AFFD-DCB3-43F1-88A4-1B5D45AC48D3}"/>
              </a:ext>
            </a:extLst>
          </p:cNvPr>
          <p:cNvSpPr/>
          <p:nvPr/>
        </p:nvSpPr>
        <p:spPr>
          <a:xfrm>
            <a:off x="3192904" y="3938192"/>
            <a:ext cx="1818807" cy="217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BF9FF7D-C63D-40E2-9F05-4D606639A8FA}"/>
              </a:ext>
            </a:extLst>
          </p:cNvPr>
          <p:cNvCxnSpPr>
            <a:cxnSpLocks/>
            <a:stCxn id="12" idx="0"/>
            <a:endCxn id="13" idx="1"/>
          </p:cNvCxnSpPr>
          <p:nvPr/>
        </p:nvCxnSpPr>
        <p:spPr>
          <a:xfrm rot="5400000" flipH="1" flipV="1">
            <a:off x="1879155" y="3543064"/>
            <a:ext cx="809942" cy="1817556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691031EE-0984-4A79-93D0-F700DA3B002A}"/>
              </a:ext>
            </a:extLst>
          </p:cNvPr>
          <p:cNvSpPr/>
          <p:nvPr/>
        </p:nvSpPr>
        <p:spPr>
          <a:xfrm>
            <a:off x="984355" y="5176452"/>
            <a:ext cx="844446" cy="217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73A28245-69B1-48FF-B47F-122D8F56B258}"/>
              </a:ext>
            </a:extLst>
          </p:cNvPr>
          <p:cNvCxnSpPr>
            <a:cxnSpLocks/>
            <a:stCxn id="13" idx="2"/>
            <a:endCxn id="21" idx="3"/>
          </p:cNvCxnSpPr>
          <p:nvPr/>
        </p:nvCxnSpPr>
        <p:spPr>
          <a:xfrm rot="5400000">
            <a:off x="2400765" y="3583587"/>
            <a:ext cx="1129581" cy="2273507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Speech Bubble: Rectangle with Corners Rounded 25">
            <a:extLst>
              <a:ext uri="{FF2B5EF4-FFF2-40B4-BE49-F238E27FC236}">
                <a16:creationId xmlns:a16="http://schemas.microsoft.com/office/drawing/2014/main" id="{9E2D97B6-E668-4EA5-A598-A7A6BC629AAD}"/>
              </a:ext>
            </a:extLst>
          </p:cNvPr>
          <p:cNvSpPr/>
          <p:nvPr/>
        </p:nvSpPr>
        <p:spPr>
          <a:xfrm>
            <a:off x="4555763" y="4451842"/>
            <a:ext cx="3014270" cy="1347859"/>
          </a:xfrm>
          <a:prstGeom prst="wedgeRoundRectCallout">
            <a:avLst>
              <a:gd name="adj1" fmla="val -64413"/>
              <a:gd name="adj2" fmla="val -4338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Drag-n-Drop</a:t>
            </a:r>
            <a:r>
              <a:rPr lang="en-US" dirty="0"/>
              <a:t> the script file from the </a:t>
            </a:r>
            <a:r>
              <a:rPr lang="en-US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Downloads</a:t>
            </a:r>
            <a:r>
              <a:rPr lang="en-US" dirty="0"/>
              <a:t> folder to the </a:t>
            </a:r>
            <a:r>
              <a:rPr lang="en-US" dirty="0">
                <a:ln>
                  <a:solidFill>
                    <a:srgbClr val="FFFF00"/>
                  </a:solidFill>
                </a:ln>
                <a:solidFill>
                  <a:srgbClr val="FFFF00"/>
                </a:solidFill>
              </a:rPr>
              <a:t>Linux files </a:t>
            </a:r>
            <a:r>
              <a:rPr lang="en-US" dirty="0"/>
              <a:t>folder</a:t>
            </a:r>
          </a:p>
        </p:txBody>
      </p:sp>
    </p:spTree>
    <p:extLst>
      <p:ext uri="{BB962C8B-B14F-4D97-AF65-F5344CB8AC3E}">
        <p14:creationId xmlns:p14="http://schemas.microsoft.com/office/powerpoint/2010/main" val="740881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21" grpId="0" animBg="1"/>
      <p:bldP spid="26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94285F0-134A-4ADF-8F69-9A7B21AB9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850" y="4251345"/>
            <a:ext cx="6986300" cy="16608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Google Chromebook Linux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25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A8990C-8D06-4B4B-B540-76D7B4817B52}"/>
              </a:ext>
            </a:extLst>
          </p:cNvPr>
          <p:cNvGrpSpPr/>
          <p:nvPr/>
        </p:nvGrpSpPr>
        <p:grpSpPr>
          <a:xfrm>
            <a:off x="4256785" y="4671216"/>
            <a:ext cx="1076632" cy="369332"/>
            <a:chOff x="4968362" y="2079211"/>
            <a:chExt cx="1076632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A244521-213D-4FD1-9F2D-96041FB74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B66372-C288-4D9D-B01F-78B8E14A4E2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CBBD2B-AAA6-4264-ACEA-9C8EE7E37806}"/>
              </a:ext>
            </a:extLst>
          </p:cNvPr>
          <p:cNvGrpSpPr/>
          <p:nvPr/>
        </p:nvGrpSpPr>
        <p:grpSpPr>
          <a:xfrm>
            <a:off x="6706497" y="4855882"/>
            <a:ext cx="1076632" cy="369332"/>
            <a:chOff x="4704120" y="2356972"/>
            <a:chExt cx="1076632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F9625D8-B7AB-40E2-A4F3-ED025842F0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2956BA-88B4-43F2-BBC3-0024A9E4E09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0524E8A-2932-4D89-8BDC-F9D587CC26E6}"/>
              </a:ext>
            </a:extLst>
          </p:cNvPr>
          <p:cNvSpPr txBox="1"/>
          <p:nvPr/>
        </p:nvSpPr>
        <p:spPr>
          <a:xfrm>
            <a:off x="839449" y="1398216"/>
            <a:ext cx="7675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To run the Miniconda install script that you downloaded, in the Terminal window, type these </a:t>
            </a:r>
            <a:r>
              <a:rPr lang="en-US" sz="1800" b="1" u="sng" dirty="0">
                <a:solidFill>
                  <a:srgbClr val="FF0000"/>
                </a:solidFill>
              </a:rPr>
              <a:t>two</a:t>
            </a:r>
            <a:r>
              <a:rPr lang="en-US" sz="1800" b="1" dirty="0">
                <a:solidFill>
                  <a:srgbClr val="FF0000"/>
                </a:solidFill>
              </a:rPr>
              <a:t> commands based upon your CPU type: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07346A7-A3A9-43C5-B033-A01D0536317B}"/>
              </a:ext>
            </a:extLst>
          </p:cNvPr>
          <p:cNvSpPr txBox="1">
            <a:spLocks/>
          </p:cNvSpPr>
          <p:nvPr/>
        </p:nvSpPr>
        <p:spPr>
          <a:xfrm>
            <a:off x="628650" y="2268137"/>
            <a:ext cx="7886700" cy="17886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1800" dirty="0">
                <a:latin typeface="Consolas" panose="020B0609020204030204" pitchFamily="49" charset="0"/>
              </a:rPr>
              <a:t>cd $HOME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1800" dirty="0">
                <a:latin typeface="Consolas" panose="020B0609020204030204" pitchFamily="49" charset="0"/>
              </a:rPr>
              <a:t>bash Miniconda3-latest-Linux-x86_64.sh</a:t>
            </a:r>
            <a:endParaRPr lang="en-US" sz="1800" i="1" dirty="0">
              <a:solidFill>
                <a:srgbClr val="0070C0"/>
              </a:solidFill>
            </a:endParaRPr>
          </a:p>
          <a:p>
            <a:pPr marL="457200" lvl="1" indent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Arial" panose="020B0604020202020204" pitchFamily="34" charset="0"/>
              <a:buNone/>
            </a:pPr>
            <a:r>
              <a:rPr lang="en-US" sz="1400" b="1" dirty="0">
                <a:solidFill>
                  <a:srgbClr val="0070C0"/>
                </a:solidFill>
                <a:latin typeface="Consolas" panose="020B0609020204030204" pitchFamily="49" charset="0"/>
              </a:rPr>
              <a:t>or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 startAt="2"/>
            </a:pPr>
            <a:r>
              <a:rPr lang="en-US" sz="1800" dirty="0">
                <a:latin typeface="Consolas" panose="020B0609020204030204" pitchFamily="49" charset="0"/>
              </a:rPr>
              <a:t>bash Miniconda3-latest-Linux-aarch64.sh</a:t>
            </a:r>
          </a:p>
        </p:txBody>
      </p:sp>
    </p:spTree>
    <p:extLst>
      <p:ext uri="{BB962C8B-B14F-4D97-AF65-F5344CB8AC3E}">
        <p14:creationId xmlns:p14="http://schemas.microsoft.com/office/powerpoint/2010/main" val="31269814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992590-7EFF-4336-9E0E-9534FCAC4F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611" y="2167008"/>
            <a:ext cx="6063521" cy="448350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Google Chromebook Linux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26</a:t>
            </a:fld>
            <a:endParaRPr lang="en-US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A8990C-8D06-4B4B-B540-76D7B4817B52}"/>
              </a:ext>
            </a:extLst>
          </p:cNvPr>
          <p:cNvGrpSpPr/>
          <p:nvPr/>
        </p:nvGrpSpPr>
        <p:grpSpPr>
          <a:xfrm>
            <a:off x="2622858" y="6288432"/>
            <a:ext cx="1076632" cy="369332"/>
            <a:chOff x="4968362" y="2079211"/>
            <a:chExt cx="1076632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A244521-213D-4FD1-9F2D-96041FB74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B66372-C288-4D9D-B01F-78B8E14A4E2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00524E8A-2932-4D89-8BDC-F9D587CC26E6}"/>
              </a:ext>
            </a:extLst>
          </p:cNvPr>
          <p:cNvSpPr txBox="1"/>
          <p:nvPr/>
        </p:nvSpPr>
        <p:spPr>
          <a:xfrm>
            <a:off x="839449" y="1398216"/>
            <a:ext cx="76759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Accept the terms of the license, and type </a:t>
            </a:r>
            <a:r>
              <a:rPr lang="en-US" sz="1800" b="1" dirty="0"/>
              <a:t>yes</a:t>
            </a:r>
            <a:r>
              <a:rPr lang="en-US" sz="1800" b="1" dirty="0">
                <a:solidFill>
                  <a:srgbClr val="FF0000"/>
                </a:solidFill>
              </a:rPr>
              <a:t> at the final question.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When the installer finishes, </a:t>
            </a:r>
            <a:r>
              <a:rPr lang="en-US" b="1" dirty="0"/>
              <a:t>close</a:t>
            </a:r>
            <a:r>
              <a:rPr lang="en-US" b="1" dirty="0">
                <a:solidFill>
                  <a:srgbClr val="FF0000"/>
                </a:solidFill>
              </a:rPr>
              <a:t> this Terminal Session: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43DA34-AFA9-44C3-86CB-B3805792A43F}"/>
              </a:ext>
            </a:extLst>
          </p:cNvPr>
          <p:cNvGrpSpPr/>
          <p:nvPr/>
        </p:nvGrpSpPr>
        <p:grpSpPr>
          <a:xfrm>
            <a:off x="7572389" y="2142697"/>
            <a:ext cx="1076632" cy="369332"/>
            <a:chOff x="4704120" y="2356972"/>
            <a:chExt cx="1076632" cy="369332"/>
          </a:xfrm>
        </p:grpSpPr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7367773B-A6EA-491B-8066-D3272FBFD6C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3752929-960A-4375-B2D3-50DBD067747E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684242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Google Chromebook Linux – </a:t>
            </a:r>
            <a:r>
              <a:rPr lang="en-US" sz="3200" b="1" dirty="0">
                <a:latin typeface="+mn-lt"/>
              </a:rPr>
              <a:t>Phase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49" y="2141536"/>
            <a:ext cx="8110617" cy="4351338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conda</a:t>
            </a:r>
            <a:r>
              <a:rPr lang="en-US" sz="2000" dirty="0">
                <a:latin typeface="Consolas" panose="020B0609020204030204" pitchFamily="49" charset="0"/>
              </a:rPr>
              <a:t> update -y -n base </a:t>
            </a:r>
            <a:r>
              <a:rPr lang="en-US" sz="2000" dirty="0" err="1">
                <a:latin typeface="Consolas" panose="020B0609020204030204" pitchFamily="49" charset="0"/>
              </a:rPr>
              <a:t>conda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git clone </a:t>
            </a:r>
            <a:r>
              <a:rPr lang="en-US" sz="2000" dirty="0">
                <a:latin typeface="Consolas" panose="020B0609020204030204" pitchFamily="49" charset="0"/>
                <a:hlinkClick r:id="rId2"/>
              </a:rPr>
              <a:t>https://github.com/dbiersach/scicomp-demos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source scicomp-demos/installers/chromebook-install.sh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37884-B504-4048-8B5C-C46377D5F890}"/>
              </a:ext>
            </a:extLst>
          </p:cNvPr>
          <p:cNvSpPr txBox="1"/>
          <p:nvPr/>
        </p:nvSpPr>
        <p:spPr>
          <a:xfrm>
            <a:off x="1337872" y="1398216"/>
            <a:ext cx="64682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Open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Terminal session and execute these </a:t>
            </a:r>
            <a:r>
              <a:rPr lang="en-US" sz="1800" b="1" u="sng" dirty="0">
                <a:solidFill>
                  <a:srgbClr val="FF0000"/>
                </a:solidFill>
              </a:rPr>
              <a:t>four</a:t>
            </a:r>
            <a:r>
              <a:rPr lang="en-US" sz="1800" b="1" dirty="0">
                <a:solidFill>
                  <a:srgbClr val="FF0000"/>
                </a:solidFill>
              </a:rPr>
              <a:t> commands.</a:t>
            </a:r>
          </a:p>
          <a:p>
            <a:pPr algn="ctr"/>
            <a:r>
              <a:rPr lang="en-US" b="1" dirty="0">
                <a:solidFill>
                  <a:srgbClr val="FF0000"/>
                </a:solidFill>
              </a:rPr>
              <a:t>When the installer finishes, </a:t>
            </a:r>
            <a:r>
              <a:rPr lang="en-US" b="1" dirty="0"/>
              <a:t>close</a:t>
            </a:r>
            <a:r>
              <a:rPr lang="en-US" b="1" dirty="0">
                <a:solidFill>
                  <a:srgbClr val="FF0000"/>
                </a:solidFill>
              </a:rPr>
              <a:t> this Terminal Session</a:t>
            </a:r>
          </a:p>
          <a:p>
            <a:pPr algn="ctr"/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EA5D165-E11B-4FC8-9E02-54C815A5540A}"/>
              </a:ext>
            </a:extLst>
          </p:cNvPr>
          <p:cNvSpPr txBox="1"/>
          <p:nvPr/>
        </p:nvSpPr>
        <p:spPr>
          <a:xfrm>
            <a:off x="1296649" y="4048027"/>
            <a:ext cx="655070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Note: If when trying to run </a:t>
            </a:r>
            <a:r>
              <a:rPr lang="en-US" b="1" dirty="0" err="1"/>
              <a:t>conda</a:t>
            </a:r>
            <a:r>
              <a:rPr lang="en-US" b="1" dirty="0"/>
              <a:t> update</a:t>
            </a:r>
            <a:r>
              <a:rPr lang="en-US" dirty="0"/>
              <a:t>… your computer says it </a:t>
            </a:r>
            <a:r>
              <a:rPr lang="en-US" dirty="0">
                <a:solidFill>
                  <a:srgbClr val="FF0000"/>
                </a:solidFill>
              </a:rPr>
              <a:t>cannot find '</a:t>
            </a:r>
            <a:r>
              <a:rPr lang="en-US" dirty="0" err="1">
                <a:solidFill>
                  <a:srgbClr val="FF0000"/>
                </a:solidFill>
              </a:rPr>
              <a:t>conda</a:t>
            </a:r>
            <a:r>
              <a:rPr lang="en-US" dirty="0">
                <a:solidFill>
                  <a:srgbClr val="FF0000"/>
                </a:solidFill>
              </a:rPr>
              <a:t>'…</a:t>
            </a:r>
          </a:p>
          <a:p>
            <a:endParaRPr lang="en-US" dirty="0"/>
          </a:p>
          <a:p>
            <a:r>
              <a:rPr lang="en-US" dirty="0"/>
              <a:t>First, manually locate the </a:t>
            </a:r>
            <a:r>
              <a:rPr lang="en-US" dirty="0" err="1"/>
              <a:t>conda</a:t>
            </a:r>
            <a:r>
              <a:rPr lang="en-US" dirty="0"/>
              <a:t> binary/executable on your filesystem and open a Terminal session in </a:t>
            </a:r>
            <a:r>
              <a:rPr lang="en-US" i="1" dirty="0"/>
              <a:t>that</a:t>
            </a:r>
            <a:r>
              <a:rPr lang="en-US" dirty="0"/>
              <a:t> folder.</a:t>
            </a:r>
          </a:p>
          <a:p>
            <a:endParaRPr lang="en-US" dirty="0"/>
          </a:p>
          <a:p>
            <a:r>
              <a:rPr lang="en-US" dirty="0"/>
              <a:t>Then enter the following command: </a:t>
            </a:r>
            <a:r>
              <a:rPr lang="en-US" b="1" dirty="0" err="1">
                <a:latin typeface="Consolas" panose="020B0609020204030204" pitchFamily="49" charset="0"/>
              </a:rPr>
              <a:t>conda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init</a:t>
            </a:r>
            <a:r>
              <a:rPr lang="en-US" b="1" dirty="0">
                <a:latin typeface="Consolas" panose="020B0609020204030204" pitchFamily="49" charset="0"/>
              </a:rPr>
              <a:t> bash</a:t>
            </a:r>
          </a:p>
          <a:p>
            <a:r>
              <a:rPr lang="en-US" dirty="0"/>
              <a:t>Then close that Terminal session, and restart Phase 2 on this slide</a:t>
            </a:r>
          </a:p>
        </p:txBody>
      </p:sp>
    </p:spTree>
    <p:extLst>
      <p:ext uri="{BB962C8B-B14F-4D97-AF65-F5344CB8AC3E}">
        <p14:creationId xmlns:p14="http://schemas.microsoft.com/office/powerpoint/2010/main" val="37940329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1536"/>
            <a:ext cx="7886700" cy="1287464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conda</a:t>
            </a:r>
            <a:r>
              <a:rPr lang="en-US" sz="2000" dirty="0">
                <a:latin typeface="Consolas" panose="020B0609020204030204" pitchFamily="49" charset="0"/>
              </a:rPr>
              <a:t> activate 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$HOME/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-demos/labs/welcome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jupyter</a:t>
            </a:r>
            <a:r>
              <a:rPr lang="en-US" sz="2000" dirty="0">
                <a:latin typeface="Consolas" panose="020B0609020204030204" pitchFamily="49" charset="0"/>
              </a:rPr>
              <a:t> lab </a:t>
            </a:r>
            <a:r>
              <a:rPr lang="en-US" sz="2000" dirty="0" err="1">
                <a:latin typeface="Consolas" panose="020B0609020204030204" pitchFamily="49" charset="0"/>
              </a:rPr>
              <a:t>welcome.ipynb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Google Chromebook Linux – </a:t>
            </a:r>
            <a:r>
              <a:rPr lang="en-US" sz="3200" b="1" dirty="0">
                <a:latin typeface="+mn-lt"/>
              </a:rPr>
              <a:t>Phase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28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D845F-481B-449B-A258-B2D47FC47049}"/>
              </a:ext>
            </a:extLst>
          </p:cNvPr>
          <p:cNvSpPr txBox="1"/>
          <p:nvPr/>
        </p:nvSpPr>
        <p:spPr>
          <a:xfrm>
            <a:off x="1238562" y="1398216"/>
            <a:ext cx="666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Open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Terminal session and execute these </a:t>
            </a:r>
            <a:r>
              <a:rPr lang="en-US" sz="1800" b="1" u="sng" dirty="0">
                <a:solidFill>
                  <a:srgbClr val="FF0000"/>
                </a:solidFill>
              </a:rPr>
              <a:t>three</a:t>
            </a:r>
            <a:r>
              <a:rPr lang="en-US" sz="1800" b="1" dirty="0">
                <a:solidFill>
                  <a:srgbClr val="FF0000"/>
                </a:solidFill>
              </a:rPr>
              <a:t> commands: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612882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55120FB-2BE9-4B39-8E4D-505BCBF73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0556" y="1507735"/>
            <a:ext cx="7442499" cy="4752337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Run the Welcome Notebook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29</a:t>
            </a:fld>
            <a:endParaRPr lang="en-US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B70542E-CE07-4024-91C9-32200E403BE1}"/>
              </a:ext>
            </a:extLst>
          </p:cNvPr>
          <p:cNvSpPr/>
          <p:nvPr/>
        </p:nvSpPr>
        <p:spPr>
          <a:xfrm>
            <a:off x="2375941" y="3501426"/>
            <a:ext cx="1611442" cy="575898"/>
          </a:xfrm>
          <a:prstGeom prst="wedgeRoundRectCallout">
            <a:avLst>
              <a:gd name="adj1" fmla="val 106608"/>
              <a:gd name="adj2" fmla="val -27848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the "Play" button 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4429594-581A-4F96-86CE-B1A2FE5F3FA7}"/>
              </a:ext>
            </a:extLst>
          </p:cNvPr>
          <p:cNvSpPr/>
          <p:nvPr/>
        </p:nvSpPr>
        <p:spPr>
          <a:xfrm>
            <a:off x="197370" y="4062334"/>
            <a:ext cx="1901252" cy="575898"/>
          </a:xfrm>
          <a:prstGeom prst="wedgeRoundRectCallout">
            <a:avLst>
              <a:gd name="adj1" fmla="val 37045"/>
              <a:gd name="adj2" fmla="val -23032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Double click to open this file</a:t>
            </a:r>
          </a:p>
        </p:txBody>
      </p:sp>
    </p:spTree>
    <p:extLst>
      <p:ext uri="{BB962C8B-B14F-4D97-AF65-F5344CB8AC3E}">
        <p14:creationId xmlns:p14="http://schemas.microsoft.com/office/powerpoint/2010/main" val="1401651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Success!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FAFF94-5791-4651-A6A6-2B955BB40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19" y="1807704"/>
            <a:ext cx="5504762" cy="4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33666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75CC74-F6B0-4379-9909-2DCCFB065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16" y="1277644"/>
            <a:ext cx="6115767" cy="52612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Shutdown Jupyter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31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EF576C-4D10-4ACB-9135-E30DD836DC86}"/>
              </a:ext>
            </a:extLst>
          </p:cNvPr>
          <p:cNvSpPr/>
          <p:nvPr/>
        </p:nvSpPr>
        <p:spPr>
          <a:xfrm>
            <a:off x="1757528" y="4939258"/>
            <a:ext cx="689548" cy="202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2EE0845-C73A-44A4-B134-B9DD9252099A}"/>
              </a:ext>
            </a:extLst>
          </p:cNvPr>
          <p:cNvSpPr/>
          <p:nvPr/>
        </p:nvSpPr>
        <p:spPr>
          <a:xfrm>
            <a:off x="2564568" y="3200399"/>
            <a:ext cx="2725712" cy="1347859"/>
          </a:xfrm>
          <a:prstGeom prst="wedgeRoundRectCallout">
            <a:avLst>
              <a:gd name="adj1" fmla="val -56805"/>
              <a:gd name="adj2" fmla="val 8395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File…Shut Down, discard any changes, and then close this web browser window</a:t>
            </a:r>
          </a:p>
        </p:txBody>
      </p:sp>
    </p:spTree>
    <p:extLst>
      <p:ext uri="{BB962C8B-B14F-4D97-AF65-F5344CB8AC3E}">
        <p14:creationId xmlns:p14="http://schemas.microsoft.com/office/powerpoint/2010/main" val="482405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Ubuntu Linux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68581"/>
            <a:ext cx="7886700" cy="1304599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You must be running 64-bit </a:t>
            </a:r>
            <a:r>
              <a:rPr lang="en-US" sz="2400" b="1" dirty="0">
                <a:solidFill>
                  <a:srgbClr val="FF0000"/>
                </a:solidFill>
              </a:rPr>
              <a:t>Ubuntu 18.04 </a:t>
            </a:r>
            <a:r>
              <a:rPr lang="en-US" sz="2400" dirty="0"/>
              <a:t>(or later) with a minimum of 3GB of free disk space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400" dirty="0"/>
              <a:t>Accept</a:t>
            </a:r>
            <a:r>
              <a:rPr lang="en-US" sz="2400" b="1" dirty="0"/>
              <a:t> all default settings </a:t>
            </a:r>
            <a:r>
              <a:rPr lang="en-US" sz="2400" dirty="0"/>
              <a:t>for the following installations: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32</a:t>
            </a:fld>
            <a:endParaRPr lang="en-US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9615F114-B357-4530-A601-720E9069E45C}"/>
              </a:ext>
            </a:extLst>
          </p:cNvPr>
          <p:cNvSpPr txBox="1">
            <a:spLocks/>
          </p:cNvSpPr>
          <p:nvPr/>
        </p:nvSpPr>
        <p:spPr>
          <a:xfrm>
            <a:off x="628650" y="3070693"/>
            <a:ext cx="7886700" cy="315771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Install </a:t>
            </a:r>
            <a:r>
              <a:rPr lang="en-US" sz="2000" b="1" dirty="0"/>
              <a:t>Git </a:t>
            </a:r>
            <a:r>
              <a:rPr lang="en-US" sz="2000" dirty="0"/>
              <a:t>– </a:t>
            </a:r>
            <a:r>
              <a:rPr lang="en-US" sz="2000" dirty="0">
                <a:hlinkClick r:id="rId2"/>
              </a:rPr>
              <a:t>https://git-scm.com/book/en/v2/Getting-Started-Installing-Git</a:t>
            </a:r>
            <a:r>
              <a:rPr lang="en-US" sz="2000" dirty="0"/>
              <a:t> (I recommend using '</a:t>
            </a:r>
            <a:r>
              <a:rPr lang="en-US" sz="2000" dirty="0" err="1"/>
              <a:t>sudo</a:t>
            </a:r>
            <a:r>
              <a:rPr lang="en-US" sz="2000" dirty="0"/>
              <a:t> apt install git-all')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eriod"/>
            </a:pPr>
            <a:r>
              <a:rPr lang="en-US" sz="2000" dirty="0"/>
              <a:t>Install </a:t>
            </a:r>
            <a:r>
              <a:rPr lang="en-US" sz="2000" b="1" dirty="0"/>
              <a:t>Miniconda3</a:t>
            </a:r>
            <a:r>
              <a:rPr lang="en-US" sz="2000" dirty="0"/>
              <a:t> for Linux – please read this first: </a:t>
            </a:r>
            <a:r>
              <a:rPr lang="en-US" sz="2000" dirty="0">
                <a:hlinkClick r:id="rId3"/>
              </a:rPr>
              <a:t>https://docs.conda.io/projects/conda/en/latest/user-guide/install/linux.html</a:t>
            </a:r>
            <a:r>
              <a:rPr lang="en-US" sz="2000" dirty="0"/>
              <a:t> - then do this:</a:t>
            </a:r>
            <a:endParaRPr lang="en-US" sz="2000" b="1" dirty="0"/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lphaLcParenR"/>
            </a:pPr>
            <a:r>
              <a:rPr lang="en-US" sz="1600" dirty="0"/>
              <a:t>If on an </a:t>
            </a:r>
            <a:r>
              <a:rPr lang="en-US" sz="1600" b="1" dirty="0">
                <a:solidFill>
                  <a:srgbClr val="FF0000"/>
                </a:solidFill>
              </a:rPr>
              <a:t>Intel</a:t>
            </a:r>
            <a:r>
              <a:rPr lang="en-US" sz="1600" dirty="0"/>
              <a:t> PC: download and run the script </a:t>
            </a:r>
            <a:r>
              <a:rPr lang="en-US" sz="1600" b="1" dirty="0"/>
              <a:t>Miniconda3 Linux 64-bit</a:t>
            </a:r>
            <a:r>
              <a:rPr lang="en-US" sz="1600" dirty="0"/>
              <a:t> </a:t>
            </a:r>
            <a:r>
              <a:rPr lang="en-US" sz="1600" dirty="0">
                <a:hlinkClick r:id="rId4"/>
              </a:rPr>
              <a:t>https://repo.anaconda.com/miniconda/Miniconda3-latest-Linux-x86_64.sh</a:t>
            </a:r>
            <a:endParaRPr lang="en-US" sz="1600" dirty="0"/>
          </a:p>
          <a:p>
            <a:pPr marL="914400" lvl="1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lphaLcParenR"/>
            </a:pPr>
            <a:r>
              <a:rPr lang="en-US" sz="1600" dirty="0"/>
              <a:t>If on an </a:t>
            </a:r>
            <a:r>
              <a:rPr lang="en-US" sz="1600" b="1" dirty="0">
                <a:solidFill>
                  <a:srgbClr val="FF0000"/>
                </a:solidFill>
              </a:rPr>
              <a:t>ARM</a:t>
            </a:r>
            <a:r>
              <a:rPr lang="en-US" sz="1600" dirty="0"/>
              <a:t> PC: download and run the script </a:t>
            </a:r>
            <a:r>
              <a:rPr lang="en-US" sz="1600" b="1" dirty="0"/>
              <a:t>Miniconda3 Linux-aarch64 64-bit</a:t>
            </a:r>
            <a:r>
              <a:rPr lang="en-US" sz="1600" dirty="0"/>
              <a:t> </a:t>
            </a:r>
            <a:r>
              <a:rPr lang="en-US" sz="1600" dirty="0">
                <a:hlinkClick r:id="rId5"/>
              </a:rPr>
              <a:t>https://repo.anaconda.com/miniconda/Miniconda3-latest-Linux-aarch64.sh</a:t>
            </a:r>
            <a:r>
              <a:rPr lang="en-US" sz="16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7229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B9FEE01-B1CD-4202-8C62-FAE5AC91C2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042" y="3166027"/>
            <a:ext cx="7749915" cy="31903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Ubuntu Linux – </a:t>
            </a:r>
            <a:r>
              <a:rPr lang="en-US" sz="3200" b="1" dirty="0">
                <a:latin typeface="+mn-lt"/>
              </a:rPr>
              <a:t>Phase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1033" y="2157674"/>
            <a:ext cx="8080635" cy="793707"/>
          </a:xfrm>
        </p:spPr>
        <p:txBody>
          <a:bodyPr>
            <a:noAutofit/>
          </a:bodyPr>
          <a:lstStyle/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1800" dirty="0">
                <a:latin typeface="Consolas" panose="020B0609020204030204" pitchFamily="49" charset="0"/>
              </a:rPr>
              <a:t>cd $HOME/Downloads</a:t>
            </a:r>
          </a:p>
          <a:p>
            <a:pPr marL="342900" indent="-3429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1800" dirty="0">
                <a:latin typeface="Consolas" panose="020B0609020204030204" pitchFamily="49" charset="0"/>
              </a:rPr>
              <a:t>bash Miniconda3-latest-Linux-x86_64.sh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33</a:t>
            </a:fld>
            <a:endParaRPr lang="en-US" dirty="0"/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BA8990C-8D06-4B4B-B540-76D7B4817B52}"/>
              </a:ext>
            </a:extLst>
          </p:cNvPr>
          <p:cNvGrpSpPr/>
          <p:nvPr/>
        </p:nvGrpSpPr>
        <p:grpSpPr>
          <a:xfrm>
            <a:off x="5654159" y="4469200"/>
            <a:ext cx="1076632" cy="369332"/>
            <a:chOff x="4968362" y="2079211"/>
            <a:chExt cx="1076632" cy="369332"/>
          </a:xfrm>
        </p:grpSpPr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A244521-213D-4FD1-9F2D-96041FB745B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5B66372-C288-4D9D-B01F-78B8E14A4E2C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1CBBD2B-AAA6-4264-ACEA-9C8EE7E37806}"/>
              </a:ext>
            </a:extLst>
          </p:cNvPr>
          <p:cNvGrpSpPr/>
          <p:nvPr/>
        </p:nvGrpSpPr>
        <p:grpSpPr>
          <a:xfrm>
            <a:off x="7645036" y="4595712"/>
            <a:ext cx="1076632" cy="369332"/>
            <a:chOff x="4704120" y="2356972"/>
            <a:chExt cx="1076632" cy="369332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8F9625D8-B7AB-40E2-A4F3-ED025842F0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22956BA-88B4-43F2-BBC3-0024A9E4E09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1151E37B-5399-4623-B6FD-F5856A89BC87}"/>
              </a:ext>
            </a:extLst>
          </p:cNvPr>
          <p:cNvSpPr txBox="1"/>
          <p:nvPr/>
        </p:nvSpPr>
        <p:spPr>
          <a:xfrm>
            <a:off x="1337872" y="1398216"/>
            <a:ext cx="64682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To run the Miniconda install script that you downloaded,</a:t>
            </a:r>
          </a:p>
          <a:p>
            <a:pPr algn="ctr"/>
            <a:r>
              <a:rPr lang="en-US" sz="1800" b="1" dirty="0">
                <a:solidFill>
                  <a:srgbClr val="FF0000"/>
                </a:solidFill>
              </a:rPr>
              <a:t>open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Terminal session, and type these </a:t>
            </a:r>
            <a:r>
              <a:rPr lang="en-US" sz="1800" b="1" u="sng" dirty="0">
                <a:solidFill>
                  <a:srgbClr val="FF0000"/>
                </a:solidFill>
              </a:rPr>
              <a:t>two</a:t>
            </a:r>
            <a:r>
              <a:rPr lang="en-US" sz="1800" b="1" dirty="0">
                <a:solidFill>
                  <a:srgbClr val="FF0000"/>
                </a:solidFill>
              </a:rPr>
              <a:t> commands</a:t>
            </a:r>
            <a:endParaRPr 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07790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Ubuntu Linux – </a:t>
            </a:r>
            <a:r>
              <a:rPr lang="en-US" sz="3200" b="1" dirty="0">
                <a:latin typeface="+mn-lt"/>
              </a:rPr>
              <a:t>Phase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1536"/>
            <a:ext cx="8223042" cy="4351338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conda</a:t>
            </a:r>
            <a:r>
              <a:rPr lang="en-US" sz="2000" dirty="0">
                <a:latin typeface="Consolas" panose="020B0609020204030204" pitchFamily="49" charset="0"/>
              </a:rPr>
              <a:t> update -y -n base </a:t>
            </a:r>
            <a:r>
              <a:rPr lang="en-US" sz="2000" dirty="0" err="1">
                <a:latin typeface="Consolas" panose="020B0609020204030204" pitchFamily="49" charset="0"/>
              </a:rPr>
              <a:t>conda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git clone </a:t>
            </a:r>
            <a:r>
              <a:rPr lang="en-US" sz="2000" dirty="0">
                <a:latin typeface="Consolas" panose="020B0609020204030204" pitchFamily="49" charset="0"/>
                <a:hlinkClick r:id="rId2"/>
              </a:rPr>
              <a:t>https://github.com/dbiersach/scicomp-demos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source scicomp-demos/installers/ubuntu-install.sh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E37884-B504-4048-8B5C-C46377D5F890}"/>
              </a:ext>
            </a:extLst>
          </p:cNvPr>
          <p:cNvSpPr txBox="1"/>
          <p:nvPr/>
        </p:nvSpPr>
        <p:spPr>
          <a:xfrm>
            <a:off x="1337872" y="1398216"/>
            <a:ext cx="6468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Start a Terminal session and execute these </a:t>
            </a:r>
            <a:r>
              <a:rPr lang="en-US" sz="1800" b="1" u="sng" dirty="0">
                <a:solidFill>
                  <a:srgbClr val="FF0000"/>
                </a:solidFill>
              </a:rPr>
              <a:t>four</a:t>
            </a:r>
            <a:r>
              <a:rPr lang="en-US" sz="1800" b="1" dirty="0">
                <a:solidFill>
                  <a:srgbClr val="FF0000"/>
                </a:solidFill>
              </a:rPr>
              <a:t> commands: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762EC06-AA58-4873-AED7-7786D8C04F7F}"/>
              </a:ext>
            </a:extLst>
          </p:cNvPr>
          <p:cNvSpPr txBox="1"/>
          <p:nvPr/>
        </p:nvSpPr>
        <p:spPr>
          <a:xfrm>
            <a:off x="1296649" y="4048027"/>
            <a:ext cx="6550701" cy="23083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Note: If when trying to run </a:t>
            </a:r>
            <a:r>
              <a:rPr lang="en-US" b="1" dirty="0" err="1"/>
              <a:t>conda</a:t>
            </a:r>
            <a:r>
              <a:rPr lang="en-US" b="1" dirty="0"/>
              <a:t> update</a:t>
            </a:r>
            <a:r>
              <a:rPr lang="en-US" dirty="0"/>
              <a:t>… your computer says it </a:t>
            </a:r>
            <a:r>
              <a:rPr lang="en-US" dirty="0">
                <a:solidFill>
                  <a:srgbClr val="FF0000"/>
                </a:solidFill>
              </a:rPr>
              <a:t>cannot find '</a:t>
            </a:r>
            <a:r>
              <a:rPr lang="en-US" dirty="0" err="1">
                <a:solidFill>
                  <a:srgbClr val="FF0000"/>
                </a:solidFill>
              </a:rPr>
              <a:t>conda</a:t>
            </a:r>
            <a:r>
              <a:rPr lang="en-US" dirty="0">
                <a:solidFill>
                  <a:srgbClr val="FF0000"/>
                </a:solidFill>
              </a:rPr>
              <a:t>'…</a:t>
            </a:r>
          </a:p>
          <a:p>
            <a:endParaRPr lang="en-US" dirty="0"/>
          </a:p>
          <a:p>
            <a:r>
              <a:rPr lang="en-US" dirty="0"/>
              <a:t>First, manually locate the </a:t>
            </a:r>
            <a:r>
              <a:rPr lang="en-US" dirty="0" err="1"/>
              <a:t>conda</a:t>
            </a:r>
            <a:r>
              <a:rPr lang="en-US" dirty="0"/>
              <a:t> binary/executable on your filesystem and open a Terminal session in </a:t>
            </a:r>
            <a:r>
              <a:rPr lang="en-US" i="1" dirty="0"/>
              <a:t>that</a:t>
            </a:r>
            <a:r>
              <a:rPr lang="en-US" dirty="0"/>
              <a:t> folder.</a:t>
            </a:r>
          </a:p>
          <a:p>
            <a:endParaRPr lang="en-US" dirty="0"/>
          </a:p>
          <a:p>
            <a:r>
              <a:rPr lang="en-US" dirty="0"/>
              <a:t>Then enter the following command: </a:t>
            </a:r>
            <a:r>
              <a:rPr lang="en-US" b="1" dirty="0" err="1">
                <a:latin typeface="Consolas" panose="020B0609020204030204" pitchFamily="49" charset="0"/>
              </a:rPr>
              <a:t>conda</a:t>
            </a:r>
            <a:r>
              <a:rPr lang="en-US" b="1" dirty="0">
                <a:latin typeface="Consolas" panose="020B0609020204030204" pitchFamily="49" charset="0"/>
              </a:rPr>
              <a:t> </a:t>
            </a:r>
            <a:r>
              <a:rPr lang="en-US" b="1" dirty="0" err="1">
                <a:latin typeface="Consolas" panose="020B0609020204030204" pitchFamily="49" charset="0"/>
              </a:rPr>
              <a:t>init</a:t>
            </a:r>
            <a:r>
              <a:rPr lang="en-US" b="1" dirty="0">
                <a:latin typeface="Consolas" panose="020B0609020204030204" pitchFamily="49" charset="0"/>
              </a:rPr>
              <a:t> bash</a:t>
            </a:r>
          </a:p>
          <a:p>
            <a:r>
              <a:rPr lang="en-US" dirty="0"/>
              <a:t>Then close that Terminal session, and restart Phase 2 on this slide</a:t>
            </a:r>
          </a:p>
        </p:txBody>
      </p:sp>
    </p:spTree>
    <p:extLst>
      <p:ext uri="{BB962C8B-B14F-4D97-AF65-F5344CB8AC3E}">
        <p14:creationId xmlns:p14="http://schemas.microsoft.com/office/powerpoint/2010/main" val="6058710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4D78A5-86E9-4724-89B2-13F2D632AA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5939" y="1377278"/>
            <a:ext cx="7876190" cy="492380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Ubuntu Linux – </a:t>
            </a:r>
            <a:r>
              <a:rPr lang="en-US" sz="3200" b="1" dirty="0">
                <a:latin typeface="+mn-lt"/>
              </a:rPr>
              <a:t>Phase 2 (screenshot)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35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9CBC0D7-BAAF-4595-8B8D-49028CBE1F6B}"/>
              </a:ext>
            </a:extLst>
          </p:cNvPr>
          <p:cNvGrpSpPr/>
          <p:nvPr/>
        </p:nvGrpSpPr>
        <p:grpSpPr>
          <a:xfrm>
            <a:off x="6321012" y="1814771"/>
            <a:ext cx="1076632" cy="369332"/>
            <a:chOff x="4968362" y="2079211"/>
            <a:chExt cx="1076632" cy="369332"/>
          </a:xfrm>
        </p:grpSpPr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542C46B2-8FD6-4CA6-93D8-3C7FFEF8CF3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61A7149-589D-4637-BAF9-8D7F2A0E8792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A5F6D957-F9EB-4F0E-A01D-65F3F9561DFB}"/>
              </a:ext>
            </a:extLst>
          </p:cNvPr>
          <p:cNvGrpSpPr/>
          <p:nvPr/>
        </p:nvGrpSpPr>
        <p:grpSpPr>
          <a:xfrm>
            <a:off x="4231823" y="2890193"/>
            <a:ext cx="1076632" cy="369332"/>
            <a:chOff x="4704120" y="2356972"/>
            <a:chExt cx="1076632" cy="369332"/>
          </a:xfrm>
        </p:grpSpPr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58D00062-97C0-44C8-B04D-63FB902E950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13A1312-E296-453A-8DA1-728B9CEB232B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708CD26-084D-421F-AE8E-07043F8EC81D}"/>
              </a:ext>
            </a:extLst>
          </p:cNvPr>
          <p:cNvGrpSpPr/>
          <p:nvPr/>
        </p:nvGrpSpPr>
        <p:grpSpPr>
          <a:xfrm>
            <a:off x="7824170" y="3082354"/>
            <a:ext cx="1068643" cy="369332"/>
            <a:chOff x="3647644" y="4910075"/>
            <a:chExt cx="1068643" cy="369332"/>
          </a:xfrm>
        </p:grpSpPr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3F862952-9736-442D-833D-EAE4AD3846ED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84E7ECDA-78DF-4E70-B0BB-527FE52692C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54E26CC-2421-47F9-A780-1A74B45FFB4A}"/>
              </a:ext>
            </a:extLst>
          </p:cNvPr>
          <p:cNvGrpSpPr/>
          <p:nvPr/>
        </p:nvGrpSpPr>
        <p:grpSpPr>
          <a:xfrm>
            <a:off x="7435096" y="4532618"/>
            <a:ext cx="1064340" cy="369332"/>
            <a:chOff x="3647644" y="5421073"/>
            <a:chExt cx="1064340" cy="369332"/>
          </a:xfrm>
        </p:grpSpPr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0D0AE70-A7C9-4C75-A8DA-CD72B0325A2A}"/>
                </a:ext>
              </a:extLst>
            </p:cNvPr>
            <p:cNvSpPr txBox="1"/>
            <p:nvPr/>
          </p:nvSpPr>
          <p:spPr>
            <a:xfrm>
              <a:off x="4328526" y="5421073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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3D2B68EE-A458-4A47-9AAB-74691BDFA8A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59443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81752564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44D90F4F-FD76-442A-B453-B12FF5557C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191" y="3569925"/>
            <a:ext cx="7847619" cy="156190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141536"/>
            <a:ext cx="7886700" cy="1287464"/>
          </a:xfrm>
        </p:spPr>
        <p:txBody>
          <a:bodyPr>
            <a:noAutofit/>
          </a:bodyPr>
          <a:lstStyle/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conda</a:t>
            </a:r>
            <a:r>
              <a:rPr lang="en-US" sz="2000" dirty="0">
                <a:latin typeface="Consolas" panose="020B0609020204030204" pitchFamily="49" charset="0"/>
              </a:rPr>
              <a:t> activate 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</a:t>
            </a: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>
                <a:latin typeface="Consolas" panose="020B0609020204030204" pitchFamily="49" charset="0"/>
              </a:rPr>
              <a:t>cd $HOME/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-demos/labs</a:t>
            </a:r>
            <a:r>
              <a:rPr lang="en-US" sz="2000">
                <a:latin typeface="Consolas" panose="020B0609020204030204" pitchFamily="49" charset="0"/>
              </a:rPr>
              <a:t>/welcome</a:t>
            </a:r>
            <a:endParaRPr lang="en-US" sz="2000" dirty="0">
              <a:latin typeface="Consolas" panose="020B0609020204030204" pitchFamily="49" charset="0"/>
            </a:endParaRPr>
          </a:p>
          <a:p>
            <a:pPr marL="457200" indent="-45720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Font typeface="+mj-lt"/>
              <a:buAutoNum type="arabicParenR"/>
            </a:pPr>
            <a:r>
              <a:rPr lang="en-US" sz="2000" dirty="0" err="1">
                <a:latin typeface="Consolas" panose="020B0609020204030204" pitchFamily="49" charset="0"/>
              </a:rPr>
              <a:t>jupyter</a:t>
            </a:r>
            <a:r>
              <a:rPr lang="en-US" sz="2000" dirty="0">
                <a:latin typeface="Consolas" panose="020B0609020204030204" pitchFamily="49" charset="0"/>
              </a:rPr>
              <a:t> lab </a:t>
            </a:r>
            <a:r>
              <a:rPr lang="en-US" sz="2000" dirty="0" err="1">
                <a:latin typeface="Consolas" panose="020B0609020204030204" pitchFamily="49" charset="0"/>
              </a:rPr>
              <a:t>welcome.ipynb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Ubuntu Linux – </a:t>
            </a:r>
            <a:r>
              <a:rPr lang="en-US" sz="3200" b="1" dirty="0">
                <a:latin typeface="+mn-lt"/>
              </a:rPr>
              <a:t>Phase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6D845F-481B-449B-A258-B2D47FC47049}"/>
              </a:ext>
            </a:extLst>
          </p:cNvPr>
          <p:cNvSpPr txBox="1"/>
          <p:nvPr/>
        </p:nvSpPr>
        <p:spPr>
          <a:xfrm>
            <a:off x="1238562" y="1398216"/>
            <a:ext cx="666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Start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Terminal session and execute these </a:t>
            </a:r>
            <a:r>
              <a:rPr lang="en-US" sz="1800" b="1" u="sng" dirty="0">
                <a:solidFill>
                  <a:srgbClr val="FF0000"/>
                </a:solidFill>
              </a:rPr>
              <a:t>three</a:t>
            </a:r>
            <a:r>
              <a:rPr lang="en-US" sz="1800" b="1" dirty="0">
                <a:solidFill>
                  <a:srgbClr val="FF0000"/>
                </a:solidFill>
              </a:rPr>
              <a:t> commands:</a:t>
            </a:r>
            <a:endParaRPr lang="en-US" b="1" dirty="0">
              <a:solidFill>
                <a:srgbClr val="FF0000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612E07F-473A-473D-898F-9163BBC4D7CD}"/>
              </a:ext>
            </a:extLst>
          </p:cNvPr>
          <p:cNvGrpSpPr/>
          <p:nvPr/>
        </p:nvGrpSpPr>
        <p:grpSpPr>
          <a:xfrm>
            <a:off x="6426606" y="3996535"/>
            <a:ext cx="1076632" cy="369332"/>
            <a:chOff x="4968362" y="2079211"/>
            <a:chExt cx="1076632" cy="36933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B0C8DDFF-47B8-4B03-A7BD-128195C259C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968362" y="2263877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54D15A3-22BE-4D75-BA14-446AA65E1DBE}"/>
                </a:ext>
              </a:extLst>
            </p:cNvPr>
            <p:cNvSpPr txBox="1"/>
            <p:nvPr/>
          </p:nvSpPr>
          <p:spPr>
            <a:xfrm>
              <a:off x="5661536" y="2079211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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276A7CF-7396-46FD-8E49-ACC9BBBF13C0}"/>
              </a:ext>
            </a:extLst>
          </p:cNvPr>
          <p:cNvGrpSpPr/>
          <p:nvPr/>
        </p:nvGrpSpPr>
        <p:grpSpPr>
          <a:xfrm>
            <a:off x="7094245" y="4173706"/>
            <a:ext cx="1076632" cy="369332"/>
            <a:chOff x="4704120" y="2356972"/>
            <a:chExt cx="1076632" cy="369332"/>
          </a:xfrm>
        </p:grpSpPr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658992F-C0BE-4D3B-94E5-8145F9CDED6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704120" y="2541638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4BB5592-D208-48DB-B8A4-54E476644869}"/>
                </a:ext>
              </a:extLst>
            </p:cNvPr>
            <p:cNvSpPr txBox="1"/>
            <p:nvPr/>
          </p:nvSpPr>
          <p:spPr>
            <a:xfrm>
              <a:off x="5397294" y="2356972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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862F43D-4543-4BA8-BE62-CDEAB3238540}"/>
              </a:ext>
            </a:extLst>
          </p:cNvPr>
          <p:cNvGrpSpPr/>
          <p:nvPr/>
        </p:nvGrpSpPr>
        <p:grpSpPr>
          <a:xfrm>
            <a:off x="1068005" y="4535077"/>
            <a:ext cx="1068643" cy="369332"/>
            <a:chOff x="3647644" y="4910075"/>
            <a:chExt cx="1068643" cy="369332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D6F54F8-0AC3-48B8-A876-9F3A04B41D9F}"/>
                </a:ext>
              </a:extLst>
            </p:cNvPr>
            <p:cNvSpPr txBox="1"/>
            <p:nvPr/>
          </p:nvSpPr>
          <p:spPr>
            <a:xfrm>
              <a:off x="4332829" y="4910075"/>
              <a:ext cx="3834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ln>
                    <a:solidFill>
                      <a:srgbClr val="FF0000"/>
                    </a:solidFill>
                  </a:ln>
                  <a:solidFill>
                    <a:srgbClr val="FF0000"/>
                  </a:solidFill>
                  <a:sym typeface="Wingdings" panose="05000000000000000000" pitchFamily="2" charset="2"/>
                </a:rPr>
                <a:t></a:t>
              </a:r>
              <a:endParaRPr lang="en-US" dirty="0">
                <a:ln>
                  <a:solidFill>
                    <a:srgbClr val="FF0000"/>
                  </a:solidFill>
                </a:ln>
                <a:solidFill>
                  <a:srgbClr val="FF0000"/>
                </a:solidFill>
              </a:endParaRPr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DD4D9574-9BAD-4616-B1F3-DCBADB11C7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647644" y="5094741"/>
              <a:ext cx="693174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80515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D7F1BCC1-821D-4BC3-8E46-9D20CBE6FA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45" y="1468581"/>
            <a:ext cx="7462111" cy="48877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Run the Welcome Notebook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37</a:t>
            </a:fld>
            <a:endParaRPr lang="en-US"/>
          </a:p>
        </p:txBody>
      </p:sp>
      <p:sp>
        <p:nvSpPr>
          <p:cNvPr id="21" name="Speech Bubble: Rectangle with Corners Rounded 20">
            <a:extLst>
              <a:ext uri="{FF2B5EF4-FFF2-40B4-BE49-F238E27FC236}">
                <a16:creationId xmlns:a16="http://schemas.microsoft.com/office/drawing/2014/main" id="{FB70542E-CE07-4024-91C9-32200E403BE1}"/>
              </a:ext>
            </a:extLst>
          </p:cNvPr>
          <p:cNvSpPr/>
          <p:nvPr/>
        </p:nvSpPr>
        <p:spPr>
          <a:xfrm>
            <a:off x="2083633" y="2572036"/>
            <a:ext cx="1611442" cy="575898"/>
          </a:xfrm>
          <a:prstGeom prst="wedgeRoundRectCallout">
            <a:avLst>
              <a:gd name="adj1" fmla="val 116841"/>
              <a:gd name="adj2" fmla="val -12621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Click the "Play" button </a:t>
            </a:r>
          </a:p>
        </p:txBody>
      </p:sp>
      <p:sp>
        <p:nvSpPr>
          <p:cNvPr id="6" name="Speech Bubble: Rectangle with Corners Rounded 5">
            <a:extLst>
              <a:ext uri="{FF2B5EF4-FFF2-40B4-BE49-F238E27FC236}">
                <a16:creationId xmlns:a16="http://schemas.microsoft.com/office/drawing/2014/main" id="{27F11392-3EEA-4365-8BA1-386E21760CA7}"/>
              </a:ext>
            </a:extLst>
          </p:cNvPr>
          <p:cNvSpPr/>
          <p:nvPr/>
        </p:nvSpPr>
        <p:spPr>
          <a:xfrm>
            <a:off x="1793823" y="4813521"/>
            <a:ext cx="1901252" cy="575898"/>
          </a:xfrm>
          <a:prstGeom prst="wedgeRoundRectCallout">
            <a:avLst>
              <a:gd name="adj1" fmla="val -51654"/>
              <a:gd name="adj2" fmla="val -12881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Double click to open this file</a:t>
            </a:r>
          </a:p>
        </p:txBody>
      </p:sp>
    </p:spTree>
    <p:extLst>
      <p:ext uri="{BB962C8B-B14F-4D97-AF65-F5344CB8AC3E}">
        <p14:creationId xmlns:p14="http://schemas.microsoft.com/office/powerpoint/2010/main" val="204504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Success!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38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FAFF94-5791-4651-A6A6-2B955BB40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9619" y="1807704"/>
            <a:ext cx="5504762" cy="4209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42669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A75CC74-F6B0-4379-9909-2DCCFB065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4116" y="1277644"/>
            <a:ext cx="6115767" cy="526126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Phase 4</a:t>
            </a:r>
            <a:r>
              <a:rPr lang="en-US" sz="3200" dirty="0">
                <a:latin typeface="+mn-lt"/>
              </a:rPr>
              <a:t> – Shutdown Jupyter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39</a:t>
            </a:fld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1EF576C-4D10-4ACB-9135-E30DD836DC86}"/>
              </a:ext>
            </a:extLst>
          </p:cNvPr>
          <p:cNvSpPr/>
          <p:nvPr/>
        </p:nvSpPr>
        <p:spPr>
          <a:xfrm>
            <a:off x="1757528" y="4939258"/>
            <a:ext cx="689548" cy="20236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42EE0845-C73A-44A4-B134-B9DD9252099A}"/>
              </a:ext>
            </a:extLst>
          </p:cNvPr>
          <p:cNvSpPr/>
          <p:nvPr/>
        </p:nvSpPr>
        <p:spPr>
          <a:xfrm>
            <a:off x="2564568" y="3200399"/>
            <a:ext cx="2725712" cy="1347859"/>
          </a:xfrm>
          <a:prstGeom prst="wedgeRoundRectCallout">
            <a:avLst>
              <a:gd name="adj1" fmla="val -56805"/>
              <a:gd name="adj2" fmla="val 83952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 File…Shut Down, discard any changes, and then close this web browser window</a:t>
            </a:r>
          </a:p>
        </p:txBody>
      </p:sp>
    </p:spTree>
    <p:extLst>
      <p:ext uri="{BB962C8B-B14F-4D97-AF65-F5344CB8AC3E}">
        <p14:creationId xmlns:p14="http://schemas.microsoft.com/office/powerpoint/2010/main" val="2551500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EF8DD7-204C-4595-8C20-94478E161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562" y="2356491"/>
            <a:ext cx="6666876" cy="413638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b="1" dirty="0">
                <a:latin typeface="+mn-lt"/>
              </a:rPr>
              <a:t>Viewing the Courseware Slides</a:t>
            </a:r>
            <a:endParaRPr lang="en-US" sz="320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40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1F8AB5-2C4A-4463-93DA-40D80FFC98CA}"/>
              </a:ext>
            </a:extLst>
          </p:cNvPr>
          <p:cNvSpPr txBox="1"/>
          <p:nvPr/>
        </p:nvSpPr>
        <p:spPr>
          <a:xfrm>
            <a:off x="1238562" y="1398216"/>
            <a:ext cx="6666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b="1" dirty="0">
                <a:solidFill>
                  <a:srgbClr val="FF0000"/>
                </a:solidFill>
              </a:rPr>
              <a:t>In a </a:t>
            </a:r>
            <a:r>
              <a:rPr lang="en-US" sz="1800" b="1" u="sng" dirty="0">
                <a:solidFill>
                  <a:srgbClr val="FF0000"/>
                </a:solidFill>
              </a:rPr>
              <a:t>new</a:t>
            </a:r>
            <a:r>
              <a:rPr lang="en-US" sz="1800" b="1" dirty="0">
                <a:solidFill>
                  <a:srgbClr val="FF0000"/>
                </a:solidFill>
              </a:rPr>
              <a:t> Terminal session, execute this command: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11BB7281-27F5-45AB-A4A8-3899C844D7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96971" y="1872095"/>
            <a:ext cx="5150058" cy="473031"/>
          </a:xfrm>
        </p:spPr>
        <p:txBody>
          <a:bodyPr>
            <a:noAutofit/>
          </a:bodyPr>
          <a:lstStyle/>
          <a:p>
            <a:pPr marL="0" indent="0" algn="ctr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sz="2000" dirty="0" err="1">
                <a:latin typeface="Consolas" panose="020B0609020204030204" pitchFamily="49" charset="0"/>
              </a:rPr>
              <a:t>xdg</a:t>
            </a:r>
            <a:r>
              <a:rPr lang="en-US" sz="2000" dirty="0">
                <a:latin typeface="Consolas" panose="020B0609020204030204" pitchFamily="49" charset="0"/>
              </a:rPr>
              <a:t>-open $HOME/</a:t>
            </a:r>
            <a:r>
              <a:rPr lang="en-US" sz="2000" dirty="0" err="1">
                <a:latin typeface="Consolas" panose="020B0609020204030204" pitchFamily="49" charset="0"/>
              </a:rPr>
              <a:t>scicomp</a:t>
            </a:r>
            <a:r>
              <a:rPr lang="en-US" sz="2000" dirty="0">
                <a:latin typeface="Consolas" panose="020B0609020204030204" pitchFamily="49" charset="0"/>
              </a:rPr>
              <a:t>-demos/slides</a:t>
            </a:r>
            <a:endParaRPr lang="en-US" sz="2400" dirty="0">
              <a:latin typeface="Consolas" panose="020B0609020204030204" pitchFamily="49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67E0145-D8DA-4627-BE04-26E92C5967ED}"/>
              </a:ext>
            </a:extLst>
          </p:cNvPr>
          <p:cNvSpPr/>
          <p:nvPr/>
        </p:nvSpPr>
        <p:spPr>
          <a:xfrm>
            <a:off x="4362137" y="4092699"/>
            <a:ext cx="2578309" cy="190358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23607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Troubleshooting Tip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sz="2000" dirty="0"/>
              <a:t>If you are in a PowerShell or Terminal (bash/</a:t>
            </a:r>
            <a:r>
              <a:rPr lang="en-US" sz="2000" dirty="0" err="1"/>
              <a:t>zsh</a:t>
            </a:r>
            <a:r>
              <a:rPr lang="en-US" sz="2000" dirty="0"/>
              <a:t>) session, and when trying to run </a:t>
            </a:r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conda</a:t>
            </a:r>
            <a:r>
              <a:rPr lang="en-US" sz="2000" b="1" dirty="0">
                <a:solidFill>
                  <a:srgbClr val="00B050"/>
                </a:solidFill>
                <a:latin typeface="Consolas" panose="020B0609020204030204" pitchFamily="49" charset="0"/>
              </a:rPr>
              <a:t> activate </a:t>
            </a:r>
            <a:r>
              <a:rPr lang="en-US" sz="2000" b="1" dirty="0" err="1">
                <a:solidFill>
                  <a:srgbClr val="00B050"/>
                </a:solidFill>
                <a:latin typeface="Consolas" panose="020B0609020204030204" pitchFamily="49" charset="0"/>
              </a:rPr>
              <a:t>scicompdemos</a:t>
            </a:r>
            <a:r>
              <a:rPr lang="en-US" sz="2000" dirty="0"/>
              <a:t> your computer reports it cannot find '</a:t>
            </a:r>
            <a:r>
              <a:rPr lang="en-US" sz="2000" dirty="0" err="1"/>
              <a:t>conda</a:t>
            </a:r>
            <a:r>
              <a:rPr lang="en-US" sz="2000" dirty="0"/>
              <a:t>'…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sz="2000" dirty="0"/>
              <a:t>Manually locate the </a:t>
            </a:r>
            <a:r>
              <a:rPr lang="en-US" sz="2000" b="1" dirty="0" err="1"/>
              <a:t>conda</a:t>
            </a:r>
            <a:r>
              <a:rPr lang="en-US" sz="2000" dirty="0"/>
              <a:t> binary/executable on your filesystem and open a terminal session in that folder. Then type one of the following commands, based upon your platform: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For Microsoft Windows: </a:t>
            </a:r>
            <a:r>
              <a:rPr lang="en-US" sz="2000" b="1" dirty="0" err="1">
                <a:latin typeface="Consolas" panose="020B0609020204030204" pitchFamily="49" charset="0"/>
              </a:rPr>
              <a:t>conda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</a:rPr>
              <a:t>init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</a:rPr>
              <a:t>powershell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For Apple macOS: </a:t>
            </a:r>
            <a:r>
              <a:rPr lang="en-US" sz="2000" b="1" dirty="0" err="1">
                <a:latin typeface="Consolas" panose="020B0609020204030204" pitchFamily="49" charset="0"/>
              </a:rPr>
              <a:t>conda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</a:rPr>
              <a:t>init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</a:rPr>
              <a:t>zsh</a:t>
            </a:r>
            <a:endParaRPr lang="en-US" sz="2000" b="1" dirty="0">
              <a:latin typeface="Consolas" panose="020B0609020204030204" pitchFamily="49" charset="0"/>
            </a:endParaRPr>
          </a:p>
          <a:p>
            <a:pPr lvl="1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For Chromebook Linux or Ubuntu: </a:t>
            </a:r>
            <a:r>
              <a:rPr lang="en-US" sz="2000" b="1" dirty="0" err="1">
                <a:latin typeface="Consolas" panose="020B0609020204030204" pitchFamily="49" charset="0"/>
              </a:rPr>
              <a:t>conda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</a:rPr>
              <a:t>init</a:t>
            </a:r>
            <a:r>
              <a:rPr lang="en-US" sz="2000" b="1" dirty="0">
                <a:latin typeface="Consolas" panose="020B0609020204030204" pitchFamily="49" charset="0"/>
              </a:rPr>
              <a:t> bash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r>
              <a:rPr lang="en-US" sz="2000" dirty="0"/>
              <a:t>The command '</a:t>
            </a:r>
            <a:r>
              <a:rPr lang="en-US" sz="2000" b="1" dirty="0" err="1">
                <a:latin typeface="Consolas" panose="020B0609020204030204" pitchFamily="49" charset="0"/>
              </a:rPr>
              <a:t>conda</a:t>
            </a:r>
            <a:r>
              <a:rPr lang="en-US" sz="2000" b="1" dirty="0">
                <a:latin typeface="Consolas" panose="020B0609020204030204" pitchFamily="49" charset="0"/>
              </a:rPr>
              <a:t> </a:t>
            </a:r>
            <a:r>
              <a:rPr lang="en-US" sz="2000" b="1" dirty="0" err="1">
                <a:latin typeface="Consolas" panose="020B0609020204030204" pitchFamily="49" charset="0"/>
              </a:rPr>
              <a:t>init</a:t>
            </a:r>
            <a:r>
              <a:rPr lang="en-US" sz="2000" dirty="0"/>
              <a:t>' will update your shell's path to include where the </a:t>
            </a:r>
            <a:r>
              <a:rPr lang="en-US" sz="2000" b="1" dirty="0" err="1"/>
              <a:t>conda</a:t>
            </a:r>
            <a:r>
              <a:rPr lang="en-US" sz="2000" dirty="0"/>
              <a:t> executable (program) can be located</a:t>
            </a:r>
          </a:p>
          <a:p>
            <a:pPr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25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Troubleshooting Tip #2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sz="2000" dirty="0"/>
              <a:t>If you try to open a </a:t>
            </a:r>
            <a:r>
              <a:rPr lang="en-US" sz="2000" b="1" dirty="0">
                <a:solidFill>
                  <a:srgbClr val="0070C0"/>
                </a:solidFill>
              </a:rPr>
              <a:t>Jupyter Lab Notebook </a:t>
            </a:r>
            <a:r>
              <a:rPr lang="en-US" sz="2000" dirty="0"/>
              <a:t>file (such as </a:t>
            </a:r>
            <a:r>
              <a:rPr lang="en-US" sz="2000" b="1" dirty="0" err="1"/>
              <a:t>welcome.ipynb</a:t>
            </a:r>
            <a:r>
              <a:rPr lang="en-US" sz="2000" dirty="0"/>
              <a:t>) and your default browser opens but then reports "file not found" or "access denied"…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sz="2000" dirty="0"/>
              <a:t>Open a terminal session and type these two commands: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1200" dirty="0" err="1">
                <a:latin typeface="Consolas" panose="020B0609020204030204" pitchFamily="49" charset="0"/>
              </a:rPr>
              <a:t>jupyter</a:t>
            </a:r>
            <a:r>
              <a:rPr lang="en-US" sz="1200" dirty="0">
                <a:latin typeface="Consolas" panose="020B0609020204030204" pitchFamily="49" charset="0"/>
              </a:rPr>
              <a:t> lab --generate-config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1200" dirty="0">
                <a:latin typeface="Consolas" panose="020B0609020204030204" pitchFamily="49" charset="0"/>
              </a:rPr>
              <a:t>echo '</a:t>
            </a:r>
            <a:r>
              <a:rPr lang="en-US" sz="1200" dirty="0" err="1">
                <a:latin typeface="Consolas" panose="020B0609020204030204" pitchFamily="49" charset="0"/>
              </a:rPr>
              <a:t>c.ServerApp.use_redirect_file</a:t>
            </a:r>
            <a:r>
              <a:rPr lang="en-US" sz="1200" dirty="0">
                <a:latin typeface="Consolas" panose="020B0609020204030204" pitchFamily="49" charset="0"/>
              </a:rPr>
              <a:t> = False' &gt;&gt; $HOME/.jupyter/jupyter_lab_config.py</a:t>
            </a:r>
          </a:p>
          <a:p>
            <a:pPr marL="0" lvl="1" indent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endParaRPr lang="en-US" sz="2000" dirty="0"/>
          </a:p>
          <a:p>
            <a:pPr marL="0" lvl="1" indent="0">
              <a:spcBef>
                <a:spcPts val="0"/>
              </a:spcBef>
              <a:spcAft>
                <a:spcPts val="1200"/>
              </a:spcAft>
              <a:buClr>
                <a:schemeClr val="tx1"/>
              </a:buClr>
              <a:buNone/>
            </a:pPr>
            <a:r>
              <a:rPr lang="en-US" sz="2000" dirty="0"/>
              <a:t>The last command above appends an option to the end of the </a:t>
            </a:r>
            <a:r>
              <a:rPr lang="en-US" sz="2000" b="1" dirty="0"/>
              <a:t>jupter_lab_config.py file </a:t>
            </a:r>
            <a:r>
              <a:rPr lang="en-US" sz="2000" dirty="0"/>
              <a:t>to ensure ensure your browser can open a notebook file following the initial page redirection requested by the local </a:t>
            </a:r>
            <a:r>
              <a:rPr lang="en-US" sz="2000" dirty="0" err="1"/>
              <a:t>Juptyer</a:t>
            </a:r>
            <a:r>
              <a:rPr lang="en-US" sz="2000" dirty="0"/>
              <a:t> web server</a:t>
            </a:r>
          </a:p>
          <a:p>
            <a:pPr marL="457200" lvl="1" indent="0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endParaRPr lang="en-US" sz="1200" dirty="0">
              <a:latin typeface="Consolas" panose="020B0609020204030204" pitchFamily="49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2604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424355A-0B59-4D2B-B136-23F37A68F6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4820" y="2998033"/>
            <a:ext cx="4691887" cy="354688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03455"/>
          </a:xfrm>
        </p:spPr>
        <p:txBody>
          <a:bodyPr>
            <a:noAutofit/>
          </a:bodyPr>
          <a:lstStyle/>
          <a:p>
            <a:pPr algn="ctr"/>
            <a:r>
              <a:rPr lang="en-US" sz="3200" dirty="0">
                <a:latin typeface="+mn-lt"/>
              </a:rPr>
              <a:t>Manually Downloading the SciComp Demos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6698" y="1620266"/>
            <a:ext cx="8088130" cy="1172408"/>
          </a:xfrm>
        </p:spPr>
        <p:txBody>
          <a:bodyPr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/>
              <a:t>The SciComp Demonstrations software can be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i="1" dirty="0"/>
              <a:t>manually</a:t>
            </a:r>
            <a:r>
              <a:rPr lang="en-US" sz="2400" dirty="0"/>
              <a:t> downloaded as a single </a:t>
            </a:r>
            <a:r>
              <a:rPr lang="en-US" sz="2400" b="1" dirty="0"/>
              <a:t>ZIP</a:t>
            </a:r>
            <a:r>
              <a:rPr lang="en-US" sz="2400" dirty="0"/>
              <a:t> file from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None/>
            </a:pPr>
            <a:r>
              <a:rPr lang="en-US" sz="2400" dirty="0"/>
              <a:t> </a:t>
            </a:r>
            <a:r>
              <a:rPr lang="en-US" sz="2400" dirty="0">
                <a:hlinkClick r:id="rId3"/>
              </a:rPr>
              <a:t>https://github.com/dbiersach/scicomp-demos</a:t>
            </a: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0AD656-6FF9-465D-B7B0-1CD0DD39CD23}" type="slidenum">
              <a:rPr lang="en-US" smtClean="0"/>
              <a:t>43</a:t>
            </a:fld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D95B10C-F8A3-4B3D-BB7C-7F58D043B332}"/>
              </a:ext>
            </a:extLst>
          </p:cNvPr>
          <p:cNvSpPr/>
          <p:nvPr/>
        </p:nvSpPr>
        <p:spPr>
          <a:xfrm>
            <a:off x="6233410" y="3885629"/>
            <a:ext cx="584617" cy="284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46FB0CD-220D-4E98-89A5-5E43F831E8E8}"/>
              </a:ext>
            </a:extLst>
          </p:cNvPr>
          <p:cNvSpPr/>
          <p:nvPr/>
        </p:nvSpPr>
        <p:spPr>
          <a:xfrm>
            <a:off x="4369633" y="5896810"/>
            <a:ext cx="836952" cy="284812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Connector: Elbow 9">
            <a:extLst>
              <a:ext uri="{FF2B5EF4-FFF2-40B4-BE49-F238E27FC236}">
                <a16:creationId xmlns:a16="http://schemas.microsoft.com/office/drawing/2014/main" id="{CFD82FB7-2063-4C7B-92D3-992000512564}"/>
              </a:ext>
            </a:extLst>
          </p:cNvPr>
          <p:cNvCxnSpPr>
            <a:stCxn id="7" idx="2"/>
            <a:endCxn id="8" idx="3"/>
          </p:cNvCxnSpPr>
          <p:nvPr/>
        </p:nvCxnSpPr>
        <p:spPr>
          <a:xfrm rot="5400000">
            <a:off x="4931765" y="4445261"/>
            <a:ext cx="1868775" cy="1319134"/>
          </a:xfrm>
          <a:prstGeom prst="bentConnector2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9216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7162</TotalTime>
  <Words>2214</Words>
  <Application>Microsoft Office PowerPoint</Application>
  <PresentationFormat>On-screen Show (4:3)</PresentationFormat>
  <Paragraphs>276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Arial</vt:lpstr>
      <vt:lpstr>Calibri</vt:lpstr>
      <vt:lpstr>Calibri Light</vt:lpstr>
      <vt:lpstr>Consolas</vt:lpstr>
      <vt:lpstr>Office Theme</vt:lpstr>
      <vt:lpstr>PowerPoint Presentation</vt:lpstr>
      <vt:lpstr>Preparing for the SciComp Demonstrations</vt:lpstr>
      <vt:lpstr>Installing the SciComp Demonstration Labs</vt:lpstr>
      <vt:lpstr>Microsoft Windows – Phase 1</vt:lpstr>
      <vt:lpstr>Microsoft Windows – Phase 1</vt:lpstr>
      <vt:lpstr>Microsoft Windows – Phase 2</vt:lpstr>
      <vt:lpstr>Microsoft Windows – Phase 2 (screenshot)</vt:lpstr>
      <vt:lpstr>Microsoft Windows – Phase 3</vt:lpstr>
      <vt:lpstr>Phase 4 – Run the Welcome Notebook </vt:lpstr>
      <vt:lpstr>Phase 4 – Success!</vt:lpstr>
      <vt:lpstr>Phase 4 – Shutdown Jupyter</vt:lpstr>
      <vt:lpstr>Viewing the Courseware Slides</vt:lpstr>
      <vt:lpstr>Apple macOS – Phase 1</vt:lpstr>
      <vt:lpstr>Apple macOS – Phase 1</vt:lpstr>
      <vt:lpstr>Apple macOS – Phase 1</vt:lpstr>
      <vt:lpstr>Apple macOS – Phase 2</vt:lpstr>
      <vt:lpstr>Apple macOS – Phase 2 (screenshot)</vt:lpstr>
      <vt:lpstr>Apple macOS – Phase 3</vt:lpstr>
      <vt:lpstr>Phase 4 – Run the Welcome Notebook </vt:lpstr>
      <vt:lpstr>Phase 4 – Success!</vt:lpstr>
      <vt:lpstr>Phase 4 – Shutdown Jupyter</vt:lpstr>
      <vt:lpstr>Viewing the Courseware Slides</vt:lpstr>
      <vt:lpstr>Google Chromebook Linux – Phase 1</vt:lpstr>
      <vt:lpstr>Google Chromebook Linux – Phase 1</vt:lpstr>
      <vt:lpstr>Google Chromebook Linux – Phase 1</vt:lpstr>
      <vt:lpstr>Google Chromebook Linux – Phase 1</vt:lpstr>
      <vt:lpstr>Google Chromebook Linux – Phase 2</vt:lpstr>
      <vt:lpstr>Google Chromebook Linux – Phase 3</vt:lpstr>
      <vt:lpstr>Phase 4 – Run the Welcome Notebook </vt:lpstr>
      <vt:lpstr>Phase 4 – Success!</vt:lpstr>
      <vt:lpstr>Phase 4 – Shutdown Jupyter</vt:lpstr>
      <vt:lpstr>Ubuntu Linux – Phase 1</vt:lpstr>
      <vt:lpstr>Ubuntu Linux – Phase 1</vt:lpstr>
      <vt:lpstr>Ubuntu Linux – Phase 2</vt:lpstr>
      <vt:lpstr>Ubuntu Linux – Phase 2 (screenshot)</vt:lpstr>
      <vt:lpstr>Ubuntu Linux – Phase 3</vt:lpstr>
      <vt:lpstr>Phase 4 – Run the Welcome Notebook </vt:lpstr>
      <vt:lpstr>Phase 4 – Success!</vt:lpstr>
      <vt:lpstr>Phase 4 – Shutdown Jupyter</vt:lpstr>
      <vt:lpstr>Viewing the Courseware Slides</vt:lpstr>
      <vt:lpstr>Troubleshooting Tip #1</vt:lpstr>
      <vt:lpstr>Troubleshooting Tip #2</vt:lpstr>
      <vt:lpstr>Manually Downloading the SciComp Demos</vt:lpstr>
    </vt:vector>
  </TitlesOfParts>
  <Company>Personal Use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MSN Biersach</dc:creator>
  <cp:lastModifiedBy>David MSN Biersach</cp:lastModifiedBy>
  <cp:revision>950</cp:revision>
  <cp:lastPrinted>2021-12-30T01:45:44Z</cp:lastPrinted>
  <dcterms:created xsi:type="dcterms:W3CDTF">2014-09-21T17:58:26Z</dcterms:created>
  <dcterms:modified xsi:type="dcterms:W3CDTF">2022-03-03T06:59:41Z</dcterms:modified>
</cp:coreProperties>
</file>