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1143" r:id="rId2"/>
    <p:sldId id="1114" r:id="rId3"/>
    <p:sldId id="397" r:id="rId4"/>
    <p:sldId id="993" r:id="rId5"/>
    <p:sldId id="992" r:id="rId6"/>
    <p:sldId id="1130" r:id="rId7"/>
    <p:sldId id="995" r:id="rId8"/>
    <p:sldId id="994" r:id="rId9"/>
    <p:sldId id="1126" r:id="rId10"/>
    <p:sldId id="1127" r:id="rId11"/>
    <p:sldId id="1128" r:id="rId12"/>
    <p:sldId id="1138" r:id="rId13"/>
    <p:sldId id="1097" r:id="rId14"/>
    <p:sldId id="1131" r:id="rId15"/>
    <p:sldId id="1132" r:id="rId16"/>
    <p:sldId id="1099" r:id="rId17"/>
    <p:sldId id="1100" r:id="rId18"/>
    <p:sldId id="1101" r:id="rId19"/>
    <p:sldId id="1095" r:id="rId20"/>
    <p:sldId id="1144" r:id="rId21"/>
    <p:sldId id="1147" r:id="rId22"/>
    <p:sldId id="1140" r:id="rId23"/>
    <p:sldId id="1104" r:id="rId24"/>
    <p:sldId id="1133" r:id="rId25"/>
    <p:sldId id="1135" r:id="rId26"/>
    <p:sldId id="1150" r:id="rId27"/>
    <p:sldId id="1105" r:id="rId28"/>
    <p:sldId id="1107" r:id="rId29"/>
    <p:sldId id="1151" r:id="rId30"/>
    <p:sldId id="1145" r:id="rId31"/>
    <p:sldId id="1148" r:id="rId32"/>
    <p:sldId id="1098" r:id="rId33"/>
    <p:sldId id="1137" r:id="rId34"/>
    <p:sldId id="1110" r:id="rId35"/>
    <p:sldId id="1111" r:id="rId36"/>
    <p:sldId id="1112" r:id="rId37"/>
    <p:sldId id="1121" r:id="rId38"/>
    <p:sldId id="1146" r:id="rId39"/>
    <p:sldId id="1149" r:id="rId40"/>
    <p:sldId id="1141" r:id="rId41"/>
    <p:sldId id="933" r:id="rId42"/>
    <p:sldId id="1125" r:id="rId43"/>
    <p:sldId id="1142" r:id="rId44"/>
  </p:sldIdLst>
  <p:sldSz cx="9144000" cy="6858000" type="screen4x3"/>
  <p:notesSz cx="6858000" cy="93138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11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419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33500" y="1163638"/>
            <a:ext cx="4191000" cy="31448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19" tIns="45559" rIns="91119" bIns="4555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81981"/>
            <a:ext cx="5486400" cy="3667652"/>
          </a:xfrm>
          <a:prstGeom prst="rect">
            <a:avLst/>
          </a:prstGeom>
        </p:spPr>
        <p:txBody>
          <a:bodyPr vert="horz" lIns="91119" tIns="45559" rIns="91119" bIns="4555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3/3/2022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3/3/2022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hyperlink" Target="mailto:dbiersach@bnl.gov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conda.io/en/latest/miniconda.html" TargetMode="External"/><Relationship Id="rId4" Type="http://schemas.openxmlformats.org/officeDocument/2006/relationships/hyperlink" Target="https://git-scm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2.xml"/><Relationship Id="rId4" Type="http://schemas.openxmlformats.org/officeDocument/2006/relationships/slide" Target="slide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win" TargetMode="External"/><Relationship Id="rId2" Type="http://schemas.openxmlformats.org/officeDocument/2006/relationships/hyperlink" Target="https://github.com/PowerShell/PowerShell/releases/download/v7.2.1/PowerShell-7.2.1-win-x64.msi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po.anaconda.com/miniconda/Miniconda3-latest-Windows-x86_64.ex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rew.sh/" TargetMode="External"/><Relationship Id="rId2" Type="http://schemas.openxmlformats.org/officeDocument/2006/relationships/hyperlink" Target="https://git-scm.com/download/mac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.anaconda.com/miniconda/Miniconda3-latest-MacOSX-arm64.sh" TargetMode="External"/><Relationship Id="rId5" Type="http://schemas.openxmlformats.org/officeDocument/2006/relationships/hyperlink" Target="https://repo.anaconda.com/miniconda/Miniconda3-latest-MacOSX-x86_64.sh" TargetMode="External"/><Relationship Id="rId4" Type="http://schemas.openxmlformats.org/officeDocument/2006/relationships/hyperlink" Target="https://conda.io/projects/conda/en/latest/user-guide/install/macos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minisem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.anaconda.com/miniconda/Miniconda3-latest-Linux-aarch64.sh" TargetMode="External"/><Relationship Id="rId2" Type="http://schemas.openxmlformats.org/officeDocument/2006/relationships/hyperlink" Target="https://repo.anaconda.com/miniconda/Miniconda3-latest-Linux-x86_64.sh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install/linux.html" TargetMode="External"/><Relationship Id="rId2" Type="http://schemas.openxmlformats.org/officeDocument/2006/relationships/hyperlink" Target="https://git-scm.com/book/en/v2/Getting-Started-Installing-Git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po.anaconda.com/miniconda/Miniconda3-latest-Linux-aarch64.sh" TargetMode="External"/><Relationship Id="rId4" Type="http://schemas.openxmlformats.org/officeDocument/2006/relationships/hyperlink" Target="https://repo.anaconda.com/miniconda/Miniconda3-latest-Linux-x86_64.sh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iersach/scicomp-demos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17C2B5E5-FA39-488F-AB21-780CCEC9629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18595" y="3116578"/>
            <a:ext cx="2055976" cy="10025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022AA9-25C0-416F-AD81-E38CA0BC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500" y="4895616"/>
            <a:ext cx="2191062" cy="16432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8DDF2C-2EBB-45B4-B100-C878037706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683" y="899099"/>
            <a:ext cx="2127777" cy="1409652"/>
          </a:xfrm>
          <a:prstGeom prst="rect">
            <a:avLst/>
          </a:prstGeom>
          <a:ln>
            <a:noFill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0AD656-6FF9-465D-B7B0-1CD0DD39CD23}" type="slidenum">
              <a:rPr lang="en-US">
                <a:solidFill>
                  <a:prstClr val="black"/>
                </a:solidFill>
                <a:latin typeface="Calibri" panose="020F0502020204030204"/>
              </a:rPr>
              <a:pPr>
                <a:defRPr/>
              </a:pPr>
              <a:t>1</a:t>
            </a:fld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64800" y="5517122"/>
            <a:ext cx="26436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Dave Biersach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5"/>
              </a:rPr>
              <a:t>dbiersach@bnl.gov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77647" y="899099"/>
            <a:ext cx="2653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Scientific Computing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prstClr val="black"/>
                </a:solidFill>
                <a:latin typeface="Calibri" panose="020F0502020204030204"/>
              </a:rPr>
              <a:t>Demonstrations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41886" y="3916225"/>
            <a:ext cx="24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Installing The Software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318A7-1014-4E9C-BBB9-5D54D96586CD}"/>
              </a:ext>
            </a:extLst>
          </p:cNvPr>
          <p:cNvSpPr txBox="1"/>
          <p:nvPr/>
        </p:nvSpPr>
        <p:spPr>
          <a:xfrm>
            <a:off x="6391478" y="2470473"/>
            <a:ext cx="21903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Using Python on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Microcontroller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/>
              </a:rPr>
              <a:t> Sensors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880B61-F5EE-49B8-AD9E-106E0D8FB1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623" y="4886637"/>
            <a:ext cx="1923894" cy="17267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B1C5A1-5BD1-4443-93C5-C732C9ED75D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2267" y="2978305"/>
            <a:ext cx="1569869" cy="15698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67B1E9-59CF-411C-A0FE-26DFB409C7F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1644" y="724782"/>
            <a:ext cx="3524434" cy="18792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A3A59CA-97D4-4D85-9359-08EF416FD86C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86294" y="2810269"/>
            <a:ext cx="1093475" cy="1923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B9FEA8-F51B-430D-AC12-93C534C517F3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1995" y="4915158"/>
            <a:ext cx="832702" cy="1708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66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Preparing for the SciComp Demonstrations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To run the </a:t>
            </a:r>
            <a:r>
              <a:rPr lang="en-US" sz="2400" b="1" dirty="0"/>
              <a:t>Scientific Computing Demonstrations</a:t>
            </a:r>
            <a:r>
              <a:rPr lang="en-US" sz="2400" dirty="0"/>
              <a:t>, students will write software using </a:t>
            </a:r>
            <a:r>
              <a:rPr lang="en-US" sz="2400" dirty="0">
                <a:hlinkClick r:id="rId2"/>
              </a:rPr>
              <a:t>Python</a:t>
            </a:r>
            <a:r>
              <a:rPr lang="en-US" sz="2400" dirty="0"/>
              <a:t> in </a:t>
            </a:r>
            <a:r>
              <a:rPr lang="en-US" sz="2400" dirty="0">
                <a:hlinkClick r:id="rId3"/>
              </a:rPr>
              <a:t>JupyterLab</a:t>
            </a:r>
            <a:r>
              <a:rPr lang="en-US" sz="2400" dirty="0"/>
              <a:t> Notebooks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To properly setup a local Python development environment on your computer, we will use free &amp; open-source tools like </a:t>
            </a:r>
            <a:r>
              <a:rPr lang="en-US" sz="2400" dirty="0">
                <a:hlinkClick r:id="rId4"/>
              </a:rPr>
              <a:t>Git</a:t>
            </a:r>
            <a:r>
              <a:rPr lang="en-US" sz="2400" dirty="0"/>
              <a:t> and </a:t>
            </a:r>
            <a:r>
              <a:rPr lang="en-US" sz="2400" dirty="0">
                <a:hlinkClick r:id="rId5"/>
              </a:rPr>
              <a:t>Miniconda</a:t>
            </a:r>
            <a:r>
              <a:rPr lang="en-US" sz="2400" dirty="0"/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you already have these applications on your computer, you may not need to reinstall them, but please ensure you are running </a:t>
            </a:r>
            <a:r>
              <a:rPr lang="en-US" sz="2400" b="1" dirty="0">
                <a:solidFill>
                  <a:srgbClr val="FF0000"/>
                </a:solidFill>
              </a:rPr>
              <a:t>the most up-to-date versions </a:t>
            </a:r>
            <a:r>
              <a:rPr lang="en-US" sz="2400" dirty="0"/>
              <a:t>of these apps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b="1" dirty="0"/>
              <a:t>Note</a:t>
            </a:r>
            <a:r>
              <a:rPr lang="en-US" sz="2400" dirty="0"/>
              <a:t>: If you already have the full </a:t>
            </a:r>
            <a:r>
              <a:rPr lang="en-US" sz="2400" b="1" dirty="0">
                <a:solidFill>
                  <a:srgbClr val="7030A0"/>
                </a:solidFill>
              </a:rPr>
              <a:t>Anaconda</a:t>
            </a:r>
            <a:r>
              <a:rPr lang="en-US" sz="2400" dirty="0"/>
              <a:t> distribution on your computer, you </a:t>
            </a:r>
            <a:r>
              <a:rPr lang="en-US" sz="2400" b="1" dirty="0">
                <a:solidFill>
                  <a:srgbClr val="00B050"/>
                </a:solidFill>
              </a:rPr>
              <a:t>do not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need to also install Miniconda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34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Installing the SciComp Demonstration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7792"/>
            <a:ext cx="7886700" cy="197016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Microsoft Windows</a:t>
            </a:r>
            <a:r>
              <a:rPr lang="en-US" sz="2400" dirty="0"/>
              <a:t>, go to </a:t>
            </a:r>
            <a:r>
              <a:rPr lang="en-US" sz="2400" dirty="0">
                <a:hlinkClick r:id="rId2" action="ppaction://hlinksldjump"/>
              </a:rPr>
              <a:t>slide # 4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Apple macOS</a:t>
            </a:r>
            <a:r>
              <a:rPr lang="en-US" sz="2400" dirty="0"/>
              <a:t>, go to </a:t>
            </a:r>
            <a:r>
              <a:rPr lang="en-US" sz="2400" dirty="0">
                <a:hlinkClick r:id="rId3" action="ppaction://hlinksldjump"/>
              </a:rPr>
              <a:t>slide # 13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Google Chromebook Linux</a:t>
            </a:r>
            <a:r>
              <a:rPr lang="en-US" sz="2400" dirty="0"/>
              <a:t>, go to </a:t>
            </a:r>
            <a:r>
              <a:rPr lang="en-US" sz="2400" dirty="0">
                <a:hlinkClick r:id="rId4" action="ppaction://hlinksldjump"/>
              </a:rPr>
              <a:t>slide # 23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Ubuntu Linux</a:t>
            </a:r>
            <a:r>
              <a:rPr lang="en-US" sz="2400" dirty="0"/>
              <a:t>, go to </a:t>
            </a:r>
            <a:r>
              <a:rPr lang="en-US" sz="2400" dirty="0">
                <a:hlinkClick r:id="rId5" action="ppaction://hlinksldjump"/>
              </a:rPr>
              <a:t>slide # 32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E4649-1BAC-4780-97A4-96365CEC59AD}"/>
              </a:ext>
            </a:extLst>
          </p:cNvPr>
          <p:cNvSpPr txBox="1"/>
          <p:nvPr/>
        </p:nvSpPr>
        <p:spPr>
          <a:xfrm>
            <a:off x="1090591" y="5156022"/>
            <a:ext cx="6962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Note</a:t>
            </a:r>
            <a:r>
              <a:rPr lang="en-US" dirty="0">
                <a:solidFill>
                  <a:srgbClr val="7030A0"/>
                </a:solidFill>
              </a:rPr>
              <a:t>: Your output may not look </a:t>
            </a:r>
            <a:r>
              <a:rPr lang="en-US" i="1" dirty="0">
                <a:solidFill>
                  <a:srgbClr val="7030A0"/>
                </a:solidFill>
              </a:rPr>
              <a:t>exactly</a:t>
            </a:r>
            <a:r>
              <a:rPr lang="en-US" dirty="0">
                <a:solidFill>
                  <a:srgbClr val="7030A0"/>
                </a:solidFill>
              </a:rPr>
              <a:t> like the following screen shots.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Use your judgement, go with the flow, and see the big picture here.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Try to understand the </a:t>
            </a:r>
            <a:r>
              <a:rPr lang="en-US" u="sng" dirty="0">
                <a:solidFill>
                  <a:srgbClr val="7030A0"/>
                </a:solidFill>
              </a:rPr>
              <a:t>intent</a:t>
            </a:r>
            <a:r>
              <a:rPr lang="en-US" dirty="0">
                <a:solidFill>
                  <a:srgbClr val="7030A0"/>
                </a:solidFill>
              </a:rPr>
              <a:t> of these instructions, because your personal computer may be configured slightly different than what is shown here.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A15352-09C4-4D07-9C85-032A508907F9}"/>
              </a:ext>
            </a:extLst>
          </p:cNvPr>
          <p:cNvSpPr txBox="1"/>
          <p:nvPr/>
        </p:nvSpPr>
        <p:spPr>
          <a:xfrm>
            <a:off x="2951187" y="4030323"/>
            <a:ext cx="3241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If you run into problems,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see the Troubleshooting Tips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at the end of this slide deck</a:t>
            </a:r>
          </a:p>
        </p:txBody>
      </p:sp>
    </p:spTree>
    <p:extLst>
      <p:ext uri="{BB962C8B-B14F-4D97-AF65-F5344CB8AC3E}">
        <p14:creationId xmlns:p14="http://schemas.microsoft.com/office/powerpoint/2010/main" val="703697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67718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64-bit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Windows 10 (or later) with an </a:t>
            </a:r>
            <a:r>
              <a:rPr lang="en-US" sz="2400" b="1" dirty="0">
                <a:solidFill>
                  <a:srgbClr val="0070C0"/>
                </a:solidFill>
              </a:rPr>
              <a:t>Intel CPU </a:t>
            </a:r>
            <a:r>
              <a:rPr lang="en-US" sz="2400" dirty="0"/>
              <a:t>and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need </a:t>
            </a:r>
            <a:r>
              <a:rPr lang="en-US" sz="2400" b="1" dirty="0">
                <a:solidFill>
                  <a:srgbClr val="FF0000"/>
                </a:solidFill>
              </a:rPr>
              <a:t>local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administrator</a:t>
            </a:r>
            <a:r>
              <a:rPr lang="en-US" sz="2400" dirty="0"/>
              <a:t> rights on your machine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484537"/>
            <a:ext cx="7886700" cy="27438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PowerShell </a:t>
            </a:r>
            <a:r>
              <a:rPr lang="en-US" sz="2400" dirty="0"/>
              <a:t>(64-bit) </a:t>
            </a:r>
            <a:r>
              <a:rPr lang="en-US" sz="2400" dirty="0">
                <a:hlinkClick r:id="rId2"/>
              </a:rPr>
              <a:t>https://github.com/PowerShell/PowerShell/releases/download/v7.2.1/PowerShell-7.2.1-win-x64.msi</a:t>
            </a:r>
            <a:endParaRPr lang="en-US" sz="24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Git </a:t>
            </a:r>
            <a:r>
              <a:rPr lang="en-US" sz="2400" dirty="0"/>
              <a:t>(64-bit)</a:t>
            </a:r>
            <a:r>
              <a:rPr lang="en-US" sz="2400" b="1" dirty="0"/>
              <a:t> </a:t>
            </a:r>
            <a:r>
              <a:rPr lang="en-US" sz="2400" dirty="0"/>
              <a:t>- </a:t>
            </a:r>
            <a:r>
              <a:rPr lang="en-US" sz="2400" dirty="0">
                <a:hlinkClick r:id="rId3"/>
              </a:rPr>
              <a:t>https://git-scm.com/download/win</a:t>
            </a:r>
            <a:endParaRPr lang="en-US" sz="24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Miniconda3 Windows </a:t>
            </a:r>
            <a:r>
              <a:rPr lang="en-US" sz="2400" dirty="0"/>
              <a:t>(64-bit) </a:t>
            </a:r>
            <a:r>
              <a:rPr lang="en-US" sz="2400" dirty="0">
                <a:hlinkClick r:id="rId4"/>
              </a:rPr>
              <a:t>https://repo.anaconda.com/miniconda/Miniconda3-latest-Windows-x86_64.exe</a:t>
            </a:r>
            <a:r>
              <a:rPr lang="en-US" sz="24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8539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262580" y="1338254"/>
            <a:ext cx="3485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4 - Launch an Anaconda (Miniconda3) PowerShell Prompt: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6B7692-B647-4B28-8210-41055FFB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645" y="2079390"/>
            <a:ext cx="2457359" cy="3965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14DE92-E00D-4350-9337-0C8AFCC19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971" y="2079390"/>
            <a:ext cx="5282928" cy="29662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589D3A-73A7-488D-8AF7-FA1E79BC83A3}"/>
              </a:ext>
            </a:extLst>
          </p:cNvPr>
          <p:cNvSpPr txBox="1"/>
          <p:nvPr/>
        </p:nvSpPr>
        <p:spPr>
          <a:xfrm>
            <a:off x="4646788" y="1338254"/>
            <a:ext cx="2979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5 – Enter the command</a:t>
            </a:r>
          </a:p>
          <a:p>
            <a:pPr algn="ctr"/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powershell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6ADAC4-1605-4E87-8F74-0975F4218077}"/>
              </a:ext>
            </a:extLst>
          </p:cNvPr>
          <p:cNvSpPr txBox="1"/>
          <p:nvPr/>
        </p:nvSpPr>
        <p:spPr>
          <a:xfrm>
            <a:off x="4001163" y="5213379"/>
            <a:ext cx="4270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6 – Close this PowerShell window!</a:t>
            </a:r>
            <a:endParaRPr lang="en-US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1724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990694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Set-</a:t>
            </a:r>
            <a:r>
              <a:rPr lang="en-US" sz="2000" dirty="0" err="1">
                <a:latin typeface="Consolas" panose="020B0609020204030204" pitchFamily="49" charset="0"/>
              </a:rPr>
              <a:t>ExecutionPolicy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RemoteSigned</a:t>
            </a:r>
            <a:r>
              <a:rPr lang="en-US" sz="2000" dirty="0">
                <a:latin typeface="Consolas" panose="020B0609020204030204" pitchFamily="49" charset="0"/>
              </a:rPr>
              <a:t> -Scope </a:t>
            </a:r>
            <a:r>
              <a:rPr lang="en-US" sz="2000" dirty="0" err="1">
                <a:latin typeface="Consolas" panose="020B0609020204030204" pitchFamily="49" charset="0"/>
              </a:rPr>
              <a:t>CurrentUser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-demos/installers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.\windows-install.ps1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six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7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B2ABE5-EF1B-413B-BD7B-0232797C7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160" y="1616568"/>
            <a:ext cx="6318968" cy="444523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7075352" y="2903024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5504047" y="3056959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3980860" y="3939083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6730537" y="4103177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04FA8D-A16F-4417-B17C-53FECDEFA334}"/>
              </a:ext>
            </a:extLst>
          </p:cNvPr>
          <p:cNvGrpSpPr/>
          <p:nvPr/>
        </p:nvGrpSpPr>
        <p:grpSpPr>
          <a:xfrm>
            <a:off x="5404928" y="5429911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ABE596-7E3C-456D-AFA3-236E05266E9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0D11E3F-B3BF-412B-B4FE-0260A111B5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C41C5F-6E39-4C0E-AA47-524B5EA100FF}"/>
              </a:ext>
            </a:extLst>
          </p:cNvPr>
          <p:cNvGrpSpPr/>
          <p:nvPr/>
        </p:nvGrpSpPr>
        <p:grpSpPr>
          <a:xfrm>
            <a:off x="6364771" y="558519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8C35554-92D6-42BF-B918-C37373B2652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597579A-F785-4DEA-81E6-351996D06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56013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403EB0F-DB1C-47BB-9441-5A772A31C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99" y="3795604"/>
            <a:ext cx="7795272" cy="177804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5912136" y="47259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6546678" y="491809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8035536" y="51136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3949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5120FB-2BE9-4B39-8E4D-505BCBF73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556" y="1507735"/>
            <a:ext cx="7442499" cy="47523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375941" y="3501426"/>
            <a:ext cx="1611442" cy="575898"/>
          </a:xfrm>
          <a:prstGeom prst="wedgeRoundRectCallout">
            <a:avLst>
              <a:gd name="adj1" fmla="val 106608"/>
              <a:gd name="adj2" fmla="val -278483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4429594-581A-4F96-86CE-B1A2FE5F3FA7}"/>
              </a:ext>
            </a:extLst>
          </p:cNvPr>
          <p:cNvSpPr/>
          <p:nvPr/>
        </p:nvSpPr>
        <p:spPr>
          <a:xfrm>
            <a:off x="197370" y="4062334"/>
            <a:ext cx="1901252" cy="575898"/>
          </a:xfrm>
          <a:prstGeom prst="wedgeRoundRectCallout">
            <a:avLst>
              <a:gd name="adj1" fmla="val 37045"/>
              <a:gd name="adj2" fmla="val -23032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096702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297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240504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B067DC-CF4D-4131-8E7C-3B48EF58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836" y="2449674"/>
            <a:ext cx="7120328" cy="40892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session, execute this command: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>
                <a:latin typeface="Consolas" panose="020B0609020204030204" pitchFamily="49" charset="0"/>
              </a:rPr>
              <a:t>explorer $HOME\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-demos\slides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3800006" y="5269426"/>
            <a:ext cx="1836295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69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 64-bit </a:t>
            </a:r>
            <a:r>
              <a:rPr lang="en-US" sz="2400" b="1" dirty="0">
                <a:solidFill>
                  <a:srgbClr val="FF0000"/>
                </a:solidFill>
              </a:rPr>
              <a:t>macOS 11 </a:t>
            </a:r>
            <a:r>
              <a:rPr lang="en-US" sz="2400" dirty="0"/>
              <a:t>(or later) with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- </a:t>
            </a:r>
            <a:r>
              <a:rPr lang="en-US" sz="2000" dirty="0">
                <a:hlinkClick r:id="rId2"/>
              </a:rPr>
              <a:t>https://git-scm.com/download/mac</a:t>
            </a:r>
            <a:r>
              <a:rPr lang="en-US" sz="2000" dirty="0"/>
              <a:t> (I recommend using the </a:t>
            </a:r>
            <a:r>
              <a:rPr lang="en-US" sz="2000" dirty="0">
                <a:hlinkClick r:id="rId3"/>
              </a:rPr>
              <a:t>homebrew</a:t>
            </a:r>
            <a:r>
              <a:rPr lang="en-US" sz="2000" dirty="0"/>
              <a:t> install method for </a:t>
            </a:r>
            <a:r>
              <a:rPr lang="en-US" sz="2000" b="1" dirty="0"/>
              <a:t>Git</a:t>
            </a:r>
            <a:r>
              <a:rPr lang="en-US" sz="2000" dirty="0"/>
              <a:t> if you can)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macOS – please read this first: </a:t>
            </a:r>
            <a:r>
              <a:rPr lang="en-US" sz="2000" dirty="0">
                <a:hlinkClick r:id="rId4"/>
              </a:rPr>
              <a:t>https://conda.io/projects/conda/en/latest/user-guide/install/macos.html</a:t>
            </a:r>
            <a:r>
              <a:rPr lang="en-US" sz="2000" dirty="0"/>
              <a:t> - then do this: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using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CPU: download and run the script </a:t>
            </a:r>
            <a:r>
              <a:rPr lang="en-US" sz="1600" b="1" dirty="0"/>
              <a:t>Miniconda3 </a:t>
            </a:r>
            <a:r>
              <a:rPr lang="en-US" sz="1600" b="1" dirty="0" err="1"/>
              <a:t>MacOSX</a:t>
            </a:r>
            <a:r>
              <a:rPr lang="en-US" sz="1600" b="1" dirty="0"/>
              <a:t> 64-bit bash </a:t>
            </a:r>
            <a:r>
              <a:rPr lang="en-US" sz="1600" dirty="0">
                <a:hlinkClick r:id="rId5"/>
              </a:rPr>
              <a:t>https://repo.anaconda.com/miniconda/Miniconda3-latest-MacOSX-x86_64.sh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using an </a:t>
            </a:r>
            <a:r>
              <a:rPr lang="en-US" sz="1600" b="1" dirty="0">
                <a:solidFill>
                  <a:srgbClr val="FF0000"/>
                </a:solidFill>
              </a:rPr>
              <a:t>M1</a:t>
            </a:r>
            <a:r>
              <a:rPr lang="en-US" sz="1600" b="1" dirty="0">
                <a:solidFill>
                  <a:srgbClr val="7030A0"/>
                </a:solidFill>
              </a:rPr>
              <a:t> </a:t>
            </a:r>
            <a:r>
              <a:rPr lang="en-US" sz="1600" dirty="0"/>
              <a:t>CPU: download and run the script </a:t>
            </a:r>
            <a:r>
              <a:rPr lang="en-US" sz="1600" b="1" dirty="0"/>
              <a:t>Miniconda3 macOS Apple M1 64-bit bash </a:t>
            </a:r>
            <a:r>
              <a:rPr lang="en-US" sz="1600" dirty="0">
                <a:hlinkClick r:id="rId6"/>
              </a:rPr>
              <a:t>https://repo.anaconda.com/miniconda/Miniconda3-latest-MacOSX-arm64.sh</a:t>
            </a:r>
            <a:r>
              <a:rPr lang="en-US" sz="1600" dirty="0"/>
              <a:t> 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9808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After clicking on the appropriate script hyperlink in the prior slide (Phase 1 step # 2 a/b) based upon your CPU type, your browser will place the script in your </a:t>
            </a:r>
            <a:r>
              <a:rPr lang="en-US" sz="2400" b="1" dirty="0"/>
              <a:t>Downloads</a:t>
            </a:r>
            <a:r>
              <a:rPr lang="en-US" sz="2400" dirty="0"/>
              <a:t> folder: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4D2482-B17E-47C3-B076-0C6A322A6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32" y="2811437"/>
            <a:ext cx="6348335" cy="213039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12BAF39-5668-4E14-BF89-048E62279F3D}"/>
              </a:ext>
            </a:extLst>
          </p:cNvPr>
          <p:cNvSpPr/>
          <p:nvPr/>
        </p:nvSpPr>
        <p:spPr>
          <a:xfrm>
            <a:off x="3230380" y="2870616"/>
            <a:ext cx="2938072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50AFFD-DCB3-43F1-88A4-1B5D45AC48D3}"/>
              </a:ext>
            </a:extLst>
          </p:cNvPr>
          <p:cNvSpPr/>
          <p:nvPr/>
        </p:nvSpPr>
        <p:spPr>
          <a:xfrm>
            <a:off x="4102308" y="3718847"/>
            <a:ext cx="181880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79B57F-9A91-4053-8160-1A8BA9E7A8E5}"/>
              </a:ext>
            </a:extLst>
          </p:cNvPr>
          <p:cNvSpPr/>
          <p:nvPr/>
        </p:nvSpPr>
        <p:spPr>
          <a:xfrm>
            <a:off x="2133600" y="4515824"/>
            <a:ext cx="729522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F9FF7D-C63D-40E2-9F05-4D606639A8FA}"/>
              </a:ext>
            </a:extLst>
          </p:cNvPr>
          <p:cNvCxnSpPr>
            <a:stCxn id="12" idx="2"/>
            <a:endCxn id="14" idx="1"/>
          </p:cNvCxnSpPr>
          <p:nvPr/>
        </p:nvCxnSpPr>
        <p:spPr>
          <a:xfrm rot="5400000">
            <a:off x="2648244" y="2573330"/>
            <a:ext cx="1536529" cy="2565816"/>
          </a:xfrm>
          <a:prstGeom prst="bentConnector4">
            <a:avLst>
              <a:gd name="adj1" fmla="val 8415"/>
              <a:gd name="adj2" fmla="val 1089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A9BC033-CA3E-40F5-BC6D-050ABF3A6434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flipV="1">
            <a:off x="2863122" y="3827526"/>
            <a:ext cx="1239186" cy="79697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9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62845"/>
            <a:ext cx="7886700" cy="1788618"/>
          </a:xfrm>
        </p:spPr>
        <p:txBody>
          <a:bodyPr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Miniconda3-latest-MacOSX-x86_64.sh (if on Intel CPU)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1400" b="1" dirty="0">
                <a:solidFill>
                  <a:srgbClr val="0070C0"/>
                </a:solidFill>
                <a:latin typeface="Consolas" panose="020B0609020204030204" pitchFamily="49" charset="0"/>
              </a:rPr>
              <a:t>or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 startAt="2"/>
            </a:pPr>
            <a:r>
              <a:rPr lang="en-US" sz="1800" dirty="0">
                <a:latin typeface="Consolas" panose="020B0609020204030204" pitchFamily="49" charset="0"/>
              </a:rPr>
              <a:t>bash Miniconda3-latest-MacOSX-arm64.sh (if on M1 CPU)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70D6CB-F495-470F-90D7-C54E7A938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714" y="4273857"/>
            <a:ext cx="4428571" cy="24476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4151858" y="5335486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5709653" y="5987019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C051743-405B-4D8F-87CA-159EF9BDCA13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(iTerm2)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746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https://github.com/dbiersach/minisem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scicomp-labs/installers/mac-install.sh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After Phase 1 completes, close that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window, and then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</a:t>
            </a:r>
            <a:r>
              <a:rPr lang="en-US" sz="1800" b="1" dirty="0" err="1">
                <a:solidFill>
                  <a:srgbClr val="FF0000"/>
                </a:solidFill>
              </a:rPr>
              <a:t>iTerm</a:t>
            </a:r>
            <a:r>
              <a:rPr lang="en-US" sz="1800" b="1" dirty="0">
                <a:solidFill>
                  <a:srgbClr val="FF0000"/>
                </a:solidFill>
              </a:rPr>
              <a:t>)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38B78-D1D9-4409-86DF-E91B180CB1CC}"/>
              </a:ext>
            </a:extLst>
          </p:cNvPr>
          <p:cNvSpPr txBox="1"/>
          <p:nvPr/>
        </p:nvSpPr>
        <p:spPr>
          <a:xfrm>
            <a:off x="1686394" y="4184550"/>
            <a:ext cx="5771212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If when trying to run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</a:t>
            </a:r>
            <a:r>
              <a:rPr lang="en-US" dirty="0" err="1"/>
              <a:t>zsh</a:t>
            </a:r>
            <a:r>
              <a:rPr lang="en-US" dirty="0"/>
              <a:t>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zsh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/>
              <a:t>Then close that </a:t>
            </a:r>
            <a:r>
              <a:rPr lang="en-US" dirty="0" err="1"/>
              <a:t>zsh</a:t>
            </a:r>
            <a:r>
              <a:rPr lang="en-US" dirty="0"/>
              <a:t>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2415139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589C04-1A0E-4832-97C2-C48FFF0AB0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57" t="1991" r="2757" b="37177"/>
          <a:stretch/>
        </p:blipFill>
        <p:spPr>
          <a:xfrm>
            <a:off x="719349" y="1577038"/>
            <a:ext cx="7705302" cy="46216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2765675" y="2280932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1554404" y="3643243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3855393" y="4166002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3581307" y="5874338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9712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34229A7-3BC3-4728-BDFC-BC3A60B13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524" y="3566860"/>
            <a:ext cx="6380952" cy="273333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885357" y="1398216"/>
            <a:ext cx="7373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</a:t>
            </a:r>
            <a:r>
              <a:rPr lang="en-US" sz="1800" b="1" dirty="0" err="1">
                <a:solidFill>
                  <a:srgbClr val="FF0000"/>
                </a:solidFill>
              </a:rPr>
              <a:t>iTerm</a:t>
            </a:r>
            <a:r>
              <a:rPr lang="en-US" sz="1800" b="1" dirty="0">
                <a:solidFill>
                  <a:srgbClr val="FF0000"/>
                </a:solidFill>
              </a:rPr>
              <a:t>)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4187872" y="460406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2842630" y="5216747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3475852" y="5861013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719013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9EC9FC4-8537-4C2A-B0E6-A6680B5010AE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036091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5881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3552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AD50E0-A1EE-4A5C-8A4C-D7EA5F109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73" y="2765231"/>
            <a:ext cx="5831977" cy="38900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session, execute </a:t>
            </a:r>
            <a:r>
              <a:rPr lang="en-US" sz="1800" b="1" dirty="0" err="1">
                <a:solidFill>
                  <a:srgbClr val="FF0000"/>
                </a:solidFill>
              </a:rPr>
              <a:t>thse</a:t>
            </a:r>
            <a:r>
              <a:rPr lang="en-US" sz="1800" b="1" dirty="0">
                <a:solidFill>
                  <a:srgbClr val="FF0000"/>
                </a:solidFill>
              </a:rPr>
              <a:t> two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-labs/slides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open .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3770026" y="5007098"/>
            <a:ext cx="1963712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23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enable 64-bit </a:t>
            </a:r>
            <a:r>
              <a:rPr lang="en-US" sz="2400" b="1" dirty="0"/>
              <a:t>Linux</a:t>
            </a:r>
            <a:r>
              <a:rPr lang="en-US" sz="2400" dirty="0"/>
              <a:t> on your Chromebook (</a:t>
            </a:r>
            <a:r>
              <a:rPr lang="en-US" sz="2400" b="1" dirty="0">
                <a:solidFill>
                  <a:srgbClr val="00B050"/>
                </a:solidFill>
              </a:rPr>
              <a:t>Crostini</a:t>
            </a:r>
            <a:r>
              <a:rPr lang="en-US" sz="2400" dirty="0"/>
              <a:t>) and have a minimum of 3GB of free disk space remaining in the Linux partition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– Enter this command: </a:t>
            </a:r>
            <a:r>
              <a:rPr lang="en-US" sz="1800" b="1" dirty="0" err="1">
                <a:latin typeface="Consolas" panose="020B0609020204030204" pitchFamily="49" charset="0"/>
              </a:rPr>
              <a:t>sudo</a:t>
            </a:r>
            <a:r>
              <a:rPr lang="en-US" sz="1800" b="1" dirty="0">
                <a:latin typeface="Consolas" panose="020B0609020204030204" pitchFamily="49" charset="0"/>
              </a:rPr>
              <a:t> apt install –y git-all</a:t>
            </a:r>
            <a:endParaRPr lang="en-US" sz="20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– Using the built-in Chrome web browser (which runs outside of the Linux Terminal) go to </a:t>
            </a:r>
            <a:r>
              <a:rPr lang="en-US" sz="2000" b="1" dirty="0"/>
              <a:t>one</a:t>
            </a:r>
            <a:r>
              <a:rPr lang="en-US" sz="2000" dirty="0"/>
              <a:t> of these links:</a:t>
            </a:r>
            <a:endParaRPr lang="en-US" sz="2000" b="1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Chromebook, go to this link: </a:t>
            </a:r>
            <a:r>
              <a:rPr lang="en-US" sz="1600" dirty="0">
                <a:hlinkClick r:id="rId2"/>
              </a:rPr>
              <a:t>https://repo.anaconda.com/miniconda/Miniconda3-latest-Linux-x86_64.sh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ARM</a:t>
            </a:r>
            <a:r>
              <a:rPr lang="en-US" sz="1600" dirty="0"/>
              <a:t> Chromebook, go to this link: </a:t>
            </a:r>
            <a:r>
              <a:rPr lang="en-US" sz="1600" dirty="0">
                <a:hlinkClick r:id="rId3"/>
              </a:rPr>
              <a:t>https://repo.anaconda.com/miniconda/Miniconda3-latest-Linux-aarch64.sh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97950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15EFAC-1E12-4B99-87DE-619D45257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46" y="2773180"/>
            <a:ext cx="7944708" cy="35636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After clicking on the appropriate script hyperlink in the prior slide (Phase 1 step # 2 a/b) based upon your CPU type, your browser will place the script in your </a:t>
            </a:r>
            <a:r>
              <a:rPr lang="en-US" sz="2400" b="1" dirty="0"/>
              <a:t>Downloads</a:t>
            </a:r>
            <a:r>
              <a:rPr lang="en-US" sz="2400" dirty="0"/>
              <a:t> folder: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2BAF39-5668-4E14-BF89-048E62279F3D}"/>
              </a:ext>
            </a:extLst>
          </p:cNvPr>
          <p:cNvSpPr/>
          <p:nvPr/>
        </p:nvSpPr>
        <p:spPr>
          <a:xfrm>
            <a:off x="869429" y="4856813"/>
            <a:ext cx="101183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50AFFD-DCB3-43F1-88A4-1B5D45AC48D3}"/>
              </a:ext>
            </a:extLst>
          </p:cNvPr>
          <p:cNvSpPr/>
          <p:nvPr/>
        </p:nvSpPr>
        <p:spPr>
          <a:xfrm>
            <a:off x="3192904" y="3938192"/>
            <a:ext cx="181880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F9FF7D-C63D-40E2-9F05-4D606639A8FA}"/>
              </a:ext>
            </a:extLst>
          </p:cNvPr>
          <p:cNvCxnSpPr>
            <a:cxnSpLocks/>
            <a:stCxn id="12" idx="0"/>
            <a:endCxn id="13" idx="1"/>
          </p:cNvCxnSpPr>
          <p:nvPr/>
        </p:nvCxnSpPr>
        <p:spPr>
          <a:xfrm rot="5400000" flipH="1" flipV="1">
            <a:off x="1879155" y="3543064"/>
            <a:ext cx="809942" cy="1817556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91031EE-0984-4A79-93D0-F700DA3B002A}"/>
              </a:ext>
            </a:extLst>
          </p:cNvPr>
          <p:cNvSpPr/>
          <p:nvPr/>
        </p:nvSpPr>
        <p:spPr>
          <a:xfrm>
            <a:off x="984355" y="5176452"/>
            <a:ext cx="844446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3A28245-69B1-48FF-B47F-122D8F56B258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5400000">
            <a:off x="2400765" y="3583587"/>
            <a:ext cx="1129581" cy="2273507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9E2D97B6-E668-4EA5-A598-A7A6BC629AAD}"/>
              </a:ext>
            </a:extLst>
          </p:cNvPr>
          <p:cNvSpPr/>
          <p:nvPr/>
        </p:nvSpPr>
        <p:spPr>
          <a:xfrm>
            <a:off x="4555763" y="4451842"/>
            <a:ext cx="3014270" cy="1347859"/>
          </a:xfrm>
          <a:prstGeom prst="wedgeRoundRectCallout">
            <a:avLst>
              <a:gd name="adj1" fmla="val -64413"/>
              <a:gd name="adj2" fmla="val -4338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Drag-n-Drop</a:t>
            </a:r>
            <a:r>
              <a:rPr lang="en-US" dirty="0"/>
              <a:t> the script file from the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Downloads</a:t>
            </a:r>
            <a:r>
              <a:rPr lang="en-US" dirty="0"/>
              <a:t> folder to the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Linux files </a:t>
            </a:r>
            <a:r>
              <a:rPr lang="en-US" dirty="0"/>
              <a:t>folder</a:t>
            </a:r>
          </a:p>
        </p:txBody>
      </p:sp>
    </p:spTree>
    <p:extLst>
      <p:ext uri="{BB962C8B-B14F-4D97-AF65-F5344CB8AC3E}">
        <p14:creationId xmlns:p14="http://schemas.microsoft.com/office/powerpoint/2010/main" val="74088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21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4285F0-134A-4ADF-8F69-9A7B21AB9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850" y="4251345"/>
            <a:ext cx="6986300" cy="16608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4256785" y="4671216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6706497" y="4855882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0524E8A-2932-4D89-8BDC-F9D587CC26E6}"/>
              </a:ext>
            </a:extLst>
          </p:cNvPr>
          <p:cNvSpPr txBox="1"/>
          <p:nvPr/>
        </p:nvSpPr>
        <p:spPr>
          <a:xfrm>
            <a:off x="839449" y="1398216"/>
            <a:ext cx="7675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 in the Terminal window,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 based upon your CPU type: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7346A7-A3A9-43C5-B033-A01D0536317B}"/>
              </a:ext>
            </a:extLst>
          </p:cNvPr>
          <p:cNvSpPr txBox="1">
            <a:spLocks/>
          </p:cNvSpPr>
          <p:nvPr/>
        </p:nvSpPr>
        <p:spPr>
          <a:xfrm>
            <a:off x="628650" y="2268137"/>
            <a:ext cx="7886700" cy="17886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Miniconda3-latest-Linux-x86_64.sh</a:t>
            </a:r>
            <a:endParaRPr lang="en-US" sz="1800" i="1" dirty="0">
              <a:solidFill>
                <a:srgbClr val="0070C0"/>
              </a:solidFill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0070C0"/>
                </a:solidFill>
                <a:latin typeface="Consolas" panose="020B0609020204030204" pitchFamily="49" charset="0"/>
              </a:rPr>
              <a:t>or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 startAt="2"/>
            </a:pPr>
            <a:r>
              <a:rPr lang="en-US" sz="1800" dirty="0">
                <a:latin typeface="Consolas" panose="020B0609020204030204" pitchFamily="49" charset="0"/>
              </a:rPr>
              <a:t>bash Miniconda3-latest-Linux-aarch64.sh</a:t>
            </a:r>
          </a:p>
        </p:txBody>
      </p:sp>
    </p:spTree>
    <p:extLst>
      <p:ext uri="{BB962C8B-B14F-4D97-AF65-F5344CB8AC3E}">
        <p14:creationId xmlns:p14="http://schemas.microsoft.com/office/powerpoint/2010/main" val="3126981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992590-7EFF-4336-9E0E-9534FCAC4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11" y="2167008"/>
            <a:ext cx="6063521" cy="448350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2622858" y="6288432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0524E8A-2932-4D89-8BDC-F9D587CC26E6}"/>
              </a:ext>
            </a:extLst>
          </p:cNvPr>
          <p:cNvSpPr txBox="1"/>
          <p:nvPr/>
        </p:nvSpPr>
        <p:spPr>
          <a:xfrm>
            <a:off x="839449" y="1398216"/>
            <a:ext cx="7675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Accept the terms of the license, and type </a:t>
            </a:r>
            <a:r>
              <a:rPr lang="en-US" sz="1800" b="1" dirty="0"/>
              <a:t>yes</a:t>
            </a:r>
            <a:r>
              <a:rPr lang="en-US" sz="1800" b="1" dirty="0">
                <a:solidFill>
                  <a:srgbClr val="FF0000"/>
                </a:solidFill>
              </a:rPr>
              <a:t> at the final question.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When the installer finishes, </a:t>
            </a:r>
            <a:r>
              <a:rPr lang="en-US" b="1" dirty="0"/>
              <a:t>close</a:t>
            </a:r>
            <a:r>
              <a:rPr lang="en-US" b="1" dirty="0">
                <a:solidFill>
                  <a:srgbClr val="FF0000"/>
                </a:solidFill>
              </a:rPr>
              <a:t> this Terminal Session: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643DA34-AFA9-44C3-86CB-B3805792A43F}"/>
              </a:ext>
            </a:extLst>
          </p:cNvPr>
          <p:cNvGrpSpPr/>
          <p:nvPr/>
        </p:nvGrpSpPr>
        <p:grpSpPr>
          <a:xfrm>
            <a:off x="7572389" y="2142697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367773B-A6EA-491B-8066-D3272FBFD6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3752929-960A-4375-B2D3-50DBD06774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8424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49" y="2141536"/>
            <a:ext cx="8110617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scicomp-demos/installers/chromebook-install.sh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commands.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When the installer finishes, </a:t>
            </a:r>
            <a:r>
              <a:rPr lang="en-US" b="1" dirty="0"/>
              <a:t>close</a:t>
            </a:r>
            <a:r>
              <a:rPr lang="en-US" b="1" dirty="0">
                <a:solidFill>
                  <a:srgbClr val="FF0000"/>
                </a:solidFill>
              </a:rPr>
              <a:t> this Terminal Session:</a:t>
            </a:r>
          </a:p>
          <a:p>
            <a:pPr algn="ctr"/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A5D165-E11B-4FC8-9E02-54C815A5540A}"/>
              </a:ext>
            </a:extLst>
          </p:cNvPr>
          <p:cNvSpPr txBox="1"/>
          <p:nvPr/>
        </p:nvSpPr>
        <p:spPr>
          <a:xfrm>
            <a:off x="1296649" y="4048027"/>
            <a:ext cx="655070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Note: If when trying to run </a:t>
            </a:r>
            <a:r>
              <a:rPr lang="en-US" b="1" dirty="0" err="1"/>
              <a:t>conda</a:t>
            </a:r>
            <a:r>
              <a:rPr lang="en-US" b="1" dirty="0"/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Terminal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bash</a:t>
            </a:r>
          </a:p>
          <a:p>
            <a:r>
              <a:rPr lang="en-US" dirty="0"/>
              <a:t>Then close that Terminal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37940329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92079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12882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5120FB-2BE9-4B39-8E4D-505BCBF73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556" y="1507735"/>
            <a:ext cx="7442499" cy="47523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375941" y="3501426"/>
            <a:ext cx="1611442" cy="575898"/>
          </a:xfrm>
          <a:prstGeom prst="wedgeRoundRectCallout">
            <a:avLst>
              <a:gd name="adj1" fmla="val 106608"/>
              <a:gd name="adj2" fmla="val -278483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4429594-581A-4F96-86CE-B1A2FE5F3FA7}"/>
              </a:ext>
            </a:extLst>
          </p:cNvPr>
          <p:cNvSpPr/>
          <p:nvPr/>
        </p:nvSpPr>
        <p:spPr>
          <a:xfrm>
            <a:off x="197370" y="4062334"/>
            <a:ext cx="1901252" cy="575898"/>
          </a:xfrm>
          <a:prstGeom prst="wedgeRoundRectCallout">
            <a:avLst>
              <a:gd name="adj1" fmla="val 37045"/>
              <a:gd name="adj2" fmla="val -23032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401651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366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482405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 64-bit </a:t>
            </a:r>
            <a:r>
              <a:rPr lang="en-US" sz="2400" b="1" dirty="0">
                <a:solidFill>
                  <a:srgbClr val="FF0000"/>
                </a:solidFill>
              </a:rPr>
              <a:t>Ubuntu 18.04 </a:t>
            </a:r>
            <a:r>
              <a:rPr lang="en-US" sz="2400" dirty="0"/>
              <a:t>(or later) with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– </a:t>
            </a:r>
            <a:r>
              <a:rPr lang="en-US" sz="2000" dirty="0">
                <a:hlinkClick r:id="rId2"/>
              </a:rPr>
              <a:t>https://git-scm.com/book/en/v2/Getting-Started-Installing-Git</a:t>
            </a:r>
            <a:r>
              <a:rPr lang="en-US" sz="2000" dirty="0"/>
              <a:t> (I recommend using '</a:t>
            </a:r>
            <a:r>
              <a:rPr lang="en-US" sz="2000" dirty="0" err="1"/>
              <a:t>sudo</a:t>
            </a:r>
            <a:r>
              <a:rPr lang="en-US" sz="2000" dirty="0"/>
              <a:t> apt install git-all')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Linux – please read this first: </a:t>
            </a:r>
            <a:r>
              <a:rPr lang="en-US" sz="2000" dirty="0">
                <a:hlinkClick r:id="rId3"/>
              </a:rPr>
              <a:t>https://docs.conda.io/projects/conda/en/latest/user-guide/install/linux.html</a:t>
            </a:r>
            <a:r>
              <a:rPr lang="en-US" sz="2000" dirty="0"/>
              <a:t> - then do this:</a:t>
            </a:r>
            <a:endParaRPr lang="en-US" sz="2000" b="1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PC: download and run the script </a:t>
            </a:r>
            <a:r>
              <a:rPr lang="en-US" sz="1600" b="1" dirty="0"/>
              <a:t>Miniconda3 Linux 64-bit</a:t>
            </a:r>
            <a:r>
              <a:rPr lang="en-US" sz="1600" dirty="0"/>
              <a:t> </a:t>
            </a:r>
            <a:r>
              <a:rPr lang="en-US" sz="1600" dirty="0">
                <a:hlinkClick r:id="rId4"/>
              </a:rPr>
              <a:t>https://repo.anaconda.com/miniconda/Miniconda3-latest-Linux-x86_64.sh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ARM</a:t>
            </a:r>
            <a:r>
              <a:rPr lang="en-US" sz="1600" dirty="0"/>
              <a:t> PC: download and run the script </a:t>
            </a:r>
            <a:r>
              <a:rPr lang="en-US" sz="1600" b="1" dirty="0"/>
              <a:t>Miniconda3 Linux-aarch64 64-bit</a:t>
            </a:r>
            <a:r>
              <a:rPr lang="en-US" sz="1600" dirty="0"/>
              <a:t> </a:t>
            </a:r>
            <a:r>
              <a:rPr lang="en-US" sz="1600" dirty="0">
                <a:hlinkClick r:id="rId5"/>
              </a:rPr>
              <a:t>https://repo.anaconda.com/miniconda/Miniconda3-latest-Linux-aarch64.sh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7229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9FEE01-B1CD-4202-8C62-FAE5AC91C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2" y="3166027"/>
            <a:ext cx="7749915" cy="31903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033" y="2157674"/>
            <a:ext cx="8080635" cy="793707"/>
          </a:xfrm>
        </p:spPr>
        <p:txBody>
          <a:bodyPr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Miniconda3-latest-Linux-x86_64.sh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5654159" y="4469200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7645036" y="4595712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151E37B-5399-4623-B6FD-F5856A89BC87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7790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8223042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scicomp-demos/installers/ubuntu-install.sh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62EC06-AA58-4873-AED7-7786D8C04F7F}"/>
              </a:ext>
            </a:extLst>
          </p:cNvPr>
          <p:cNvSpPr txBox="1"/>
          <p:nvPr/>
        </p:nvSpPr>
        <p:spPr>
          <a:xfrm>
            <a:off x="1296649" y="4048027"/>
            <a:ext cx="655070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Note: If when trying to run </a:t>
            </a:r>
            <a:r>
              <a:rPr lang="en-US" b="1" dirty="0" err="1"/>
              <a:t>conda</a:t>
            </a:r>
            <a:r>
              <a:rPr lang="en-US" b="1" dirty="0"/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Terminal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bash</a:t>
            </a:r>
          </a:p>
          <a:p>
            <a:r>
              <a:rPr lang="en-US" dirty="0"/>
              <a:t>Then close that Terminal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605871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4D78A5-86E9-4724-89B2-13F2D632A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39" y="1377278"/>
            <a:ext cx="7876190" cy="492380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6321012" y="1814771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4231823" y="2890193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7824170" y="308235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7435096" y="4532618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75256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4D90F4F-FD76-442A-B453-B12FF5557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1" y="3569925"/>
            <a:ext cx="7847619" cy="156190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</a:t>
            </a:r>
            <a:r>
              <a:rPr lang="en-US" sz="2000">
                <a:latin typeface="Consolas" panose="020B0609020204030204" pitchFamily="49" charset="0"/>
              </a:rPr>
              <a:t>/welcome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6426606" y="399653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7094245" y="4173706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1068005" y="453507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80515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7F11392-3EEA-4365-8BA1-386E21760CA7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204504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26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25515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EF8DD7-204C-4595-8C20-94478E16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562" y="2356491"/>
            <a:ext cx="6666876" cy="41363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execute this command: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 err="1">
                <a:latin typeface="Consolas" panose="020B0609020204030204" pitchFamily="49" charset="0"/>
              </a:rPr>
              <a:t>xdg</a:t>
            </a:r>
            <a:r>
              <a:rPr lang="en-US" sz="2000" dirty="0">
                <a:latin typeface="Consolas" panose="020B0609020204030204" pitchFamily="49" charset="0"/>
              </a:rPr>
              <a:t>-open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-demos/slides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4362137" y="4092699"/>
            <a:ext cx="2578309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360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Troubleshooting Tip #1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If you are in a PowerShell or Terminal (bash/</a:t>
            </a:r>
            <a:r>
              <a:rPr lang="en-US" sz="2000" dirty="0" err="1"/>
              <a:t>zsh</a:t>
            </a:r>
            <a:r>
              <a:rPr lang="en-US" sz="2000" dirty="0"/>
              <a:t>) session, and when trying to run </a:t>
            </a:r>
            <a:r>
              <a:rPr lang="en-US" sz="20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conda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 activate </a:t>
            </a:r>
            <a:r>
              <a:rPr lang="en-US" sz="20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scicompdemos</a:t>
            </a:r>
            <a:r>
              <a:rPr lang="en-US" sz="2000" dirty="0"/>
              <a:t> your computer reports it cannot find '</a:t>
            </a:r>
            <a:r>
              <a:rPr lang="en-US" sz="2000" dirty="0" err="1"/>
              <a:t>conda</a:t>
            </a:r>
            <a:r>
              <a:rPr lang="en-US" sz="2000" dirty="0"/>
              <a:t>'…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Manually locate the </a:t>
            </a:r>
            <a:r>
              <a:rPr lang="en-US" sz="2000" b="1" dirty="0" err="1"/>
              <a:t>conda</a:t>
            </a:r>
            <a:r>
              <a:rPr lang="en-US" sz="2000" dirty="0"/>
              <a:t> binary/executable on your filesystem and open a terminal session in that folder. Then type one of the following commands, based upon your platform: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Microsoft Windows: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powershell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Apple macOS: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zsh</a:t>
            </a:r>
            <a:endParaRPr lang="en-US" sz="2000" b="1" dirty="0">
              <a:latin typeface="Consolas" panose="020B0609020204030204" pitchFamily="49" charset="0"/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Chromebook Linux or Ubuntu: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bash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command '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dirty="0"/>
              <a:t>' will update your shell's path to include where the </a:t>
            </a:r>
            <a:r>
              <a:rPr lang="en-US" sz="2000" b="1" dirty="0" err="1"/>
              <a:t>conda</a:t>
            </a:r>
            <a:r>
              <a:rPr lang="en-US" sz="2000" dirty="0"/>
              <a:t> executable (program) can be located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25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Troubleshooting Tip #2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If you try to open a </a:t>
            </a:r>
            <a:r>
              <a:rPr lang="en-US" sz="2000" b="1" dirty="0">
                <a:solidFill>
                  <a:srgbClr val="0070C0"/>
                </a:solidFill>
              </a:rPr>
              <a:t>Jupyter Lab Notebook </a:t>
            </a:r>
            <a:r>
              <a:rPr lang="en-US" sz="2000" dirty="0"/>
              <a:t>file (such as </a:t>
            </a:r>
            <a:r>
              <a:rPr lang="en-US" sz="2000" b="1" dirty="0" err="1"/>
              <a:t>welcome.ipynb</a:t>
            </a:r>
            <a:r>
              <a:rPr lang="en-US" sz="2000" dirty="0"/>
              <a:t>) and your default browser opens but then reports "file not found" or "access denied"…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Open a terminal session and type these two commands: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1200" dirty="0" err="1">
                <a:latin typeface="Consolas" panose="020B0609020204030204" pitchFamily="49" charset="0"/>
              </a:rPr>
              <a:t>jupyter</a:t>
            </a:r>
            <a:r>
              <a:rPr lang="en-US" sz="1200" dirty="0">
                <a:latin typeface="Consolas" panose="020B0609020204030204" pitchFamily="49" charset="0"/>
              </a:rPr>
              <a:t> lab --generate-config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1200" dirty="0">
                <a:latin typeface="Consolas" panose="020B0609020204030204" pitchFamily="49" charset="0"/>
              </a:rPr>
              <a:t>echo '</a:t>
            </a:r>
            <a:r>
              <a:rPr lang="en-US" sz="1200" dirty="0" err="1">
                <a:latin typeface="Consolas" panose="020B0609020204030204" pitchFamily="49" charset="0"/>
              </a:rPr>
              <a:t>c.ServerApp.use_redirect_file</a:t>
            </a:r>
            <a:r>
              <a:rPr lang="en-US" sz="1200" dirty="0">
                <a:latin typeface="Consolas" panose="020B0609020204030204" pitchFamily="49" charset="0"/>
              </a:rPr>
              <a:t> = False' &gt;&gt; $HOME/.jupyter/jupyter_lab_config.py</a:t>
            </a:r>
          </a:p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endParaRPr lang="en-US" sz="2000" dirty="0"/>
          </a:p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The last command above appends an option to the end of the </a:t>
            </a:r>
            <a:r>
              <a:rPr lang="en-US" sz="2000" b="1" dirty="0"/>
              <a:t>jupter_lab_config.py file </a:t>
            </a:r>
            <a:r>
              <a:rPr lang="en-US" sz="2000" dirty="0"/>
              <a:t>to ensure ensure your browser can open a notebook file following the initial page redirection requested by the local </a:t>
            </a:r>
            <a:r>
              <a:rPr lang="en-US" sz="2000" dirty="0" err="1"/>
              <a:t>Juptyer</a:t>
            </a:r>
            <a:r>
              <a:rPr lang="en-US" sz="2000" dirty="0"/>
              <a:t> web server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60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24355A-0B59-4D2B-B136-23F37A68F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820" y="2998033"/>
            <a:ext cx="4691887" cy="35468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Manually Downloading the SciComp Demos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6698" y="1620266"/>
            <a:ext cx="8088130" cy="1172408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dirty="0"/>
              <a:t>The SciComp Demonstrations software can be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i="1" dirty="0"/>
              <a:t>manually</a:t>
            </a:r>
            <a:r>
              <a:rPr lang="en-US" sz="2400" dirty="0"/>
              <a:t> downloaded as a single </a:t>
            </a:r>
            <a:r>
              <a:rPr lang="en-US" sz="2400" b="1" dirty="0"/>
              <a:t>ZIP</a:t>
            </a:r>
            <a:r>
              <a:rPr lang="en-US" sz="2400" dirty="0"/>
              <a:t> file from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dirty="0"/>
              <a:t> </a:t>
            </a:r>
            <a:r>
              <a:rPr lang="en-US" sz="2400" dirty="0">
                <a:hlinkClick r:id="rId3"/>
              </a:rPr>
              <a:t>https://github.com/dbiersach/scicomp-demos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95B10C-F8A3-4B3D-BB7C-7F58D043B332}"/>
              </a:ext>
            </a:extLst>
          </p:cNvPr>
          <p:cNvSpPr/>
          <p:nvPr/>
        </p:nvSpPr>
        <p:spPr>
          <a:xfrm>
            <a:off x="6233410" y="3885629"/>
            <a:ext cx="584617" cy="2848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6FB0CD-220D-4E98-89A5-5E43F831E8E8}"/>
              </a:ext>
            </a:extLst>
          </p:cNvPr>
          <p:cNvSpPr/>
          <p:nvPr/>
        </p:nvSpPr>
        <p:spPr>
          <a:xfrm>
            <a:off x="4369633" y="5896810"/>
            <a:ext cx="836952" cy="2848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FD82FB7-2063-4C7B-92D3-992000512564}"/>
              </a:ext>
            </a:extLst>
          </p:cNvPr>
          <p:cNvCxnSpPr>
            <a:stCxn id="7" idx="2"/>
            <a:endCxn id="8" idx="3"/>
          </p:cNvCxnSpPr>
          <p:nvPr/>
        </p:nvCxnSpPr>
        <p:spPr>
          <a:xfrm rot="5400000">
            <a:off x="4931765" y="4445261"/>
            <a:ext cx="1868775" cy="1319134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21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7232</TotalTime>
  <Words>2212</Words>
  <Application>Microsoft Office PowerPoint</Application>
  <PresentationFormat>On-screen Show (4:3)</PresentationFormat>
  <Paragraphs>277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Calibri Light</vt:lpstr>
      <vt:lpstr>Consolas</vt:lpstr>
      <vt:lpstr>Office Theme</vt:lpstr>
      <vt:lpstr>PowerPoint Presentation</vt:lpstr>
      <vt:lpstr>Preparing for the SciComp Demonstrations</vt:lpstr>
      <vt:lpstr>Installing the SciComp Demonstration Labs</vt:lpstr>
      <vt:lpstr>Microsoft Windows – Phase 1</vt:lpstr>
      <vt:lpstr>Microsoft Windows – Phase 1</vt:lpstr>
      <vt:lpstr>Microsoft Windows – Phase 2</vt:lpstr>
      <vt:lpstr>Microsoft Windows – Phase 2 (screenshot)</vt:lpstr>
      <vt:lpstr>Microsoft Windows – Phase 3</vt:lpstr>
      <vt:lpstr>Phase 4 – Run the Welcome Notebook </vt:lpstr>
      <vt:lpstr>Phase 4 – Success!</vt:lpstr>
      <vt:lpstr>Phase 4 – Shutdown Jupyter</vt:lpstr>
      <vt:lpstr>Viewing the Courseware Slides</vt:lpstr>
      <vt:lpstr>Apple macOS – Phase 1</vt:lpstr>
      <vt:lpstr>Apple macOS – Phase 1</vt:lpstr>
      <vt:lpstr>Apple macOS – Phase 1</vt:lpstr>
      <vt:lpstr>Apple macOS – Phase 2</vt:lpstr>
      <vt:lpstr>Apple macOS – Phase 2 (screenshot)</vt:lpstr>
      <vt:lpstr>Apple macOS – Phase 3</vt:lpstr>
      <vt:lpstr>Phase 4 – Run the Welcome Notebook </vt:lpstr>
      <vt:lpstr>Phase 4 – Success!</vt:lpstr>
      <vt:lpstr>Phase 4 – Shutdown Jupyter</vt:lpstr>
      <vt:lpstr>Viewing the Courseware Slides</vt:lpstr>
      <vt:lpstr>Google Chromebook Linux – Phase 1</vt:lpstr>
      <vt:lpstr>Google Chromebook Linux – Phase 1</vt:lpstr>
      <vt:lpstr>Google Chromebook Linux – Phase 1</vt:lpstr>
      <vt:lpstr>Google Chromebook Linux – Phase 1</vt:lpstr>
      <vt:lpstr>Google Chromebook Linux – Phase 2</vt:lpstr>
      <vt:lpstr>Google Chromebook Linux – Phase 3</vt:lpstr>
      <vt:lpstr>Phase 4 – Run the Welcome Notebook </vt:lpstr>
      <vt:lpstr>Phase 4 – Success!</vt:lpstr>
      <vt:lpstr>Phase 4 – Shutdown Jupyter</vt:lpstr>
      <vt:lpstr>Ubuntu Linux – Phase 1</vt:lpstr>
      <vt:lpstr>Ubuntu Linux – Phase 1</vt:lpstr>
      <vt:lpstr>Ubuntu Linux – Phase 2</vt:lpstr>
      <vt:lpstr>Ubuntu Linux – Phase 2 (screenshot)</vt:lpstr>
      <vt:lpstr>Ubuntu Linux – Phase 3</vt:lpstr>
      <vt:lpstr>Phase 4 – Run the Welcome Notebook </vt:lpstr>
      <vt:lpstr>Phase 4 – Success!</vt:lpstr>
      <vt:lpstr>Phase 4 – Shutdown Jupyter</vt:lpstr>
      <vt:lpstr>Viewing the Courseware Slides</vt:lpstr>
      <vt:lpstr>Troubleshooting Tip #1</vt:lpstr>
      <vt:lpstr>Troubleshooting Tip #2</vt:lpstr>
      <vt:lpstr>Manually Downloading the SciComp Demos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952</cp:revision>
  <cp:lastPrinted>2021-12-30T01:45:44Z</cp:lastPrinted>
  <dcterms:created xsi:type="dcterms:W3CDTF">2014-09-21T17:58:26Z</dcterms:created>
  <dcterms:modified xsi:type="dcterms:W3CDTF">2022-03-03T08:11:06Z</dcterms:modified>
</cp:coreProperties>
</file>