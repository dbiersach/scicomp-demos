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handoutMasterIdLst>
    <p:handoutMasterId r:id="rId34"/>
  </p:handoutMasterIdLst>
  <p:sldIdLst>
    <p:sldId id="858" r:id="rId2"/>
    <p:sldId id="952" r:id="rId3"/>
    <p:sldId id="399" r:id="rId4"/>
    <p:sldId id="400" r:id="rId5"/>
    <p:sldId id="953" r:id="rId6"/>
    <p:sldId id="455" r:id="rId7"/>
    <p:sldId id="402" r:id="rId8"/>
    <p:sldId id="958" r:id="rId9"/>
    <p:sldId id="982" r:id="rId10"/>
    <p:sldId id="990" r:id="rId11"/>
    <p:sldId id="403" r:id="rId12"/>
    <p:sldId id="960" r:id="rId13"/>
    <p:sldId id="406" r:id="rId14"/>
    <p:sldId id="962" r:id="rId15"/>
    <p:sldId id="408" r:id="rId16"/>
    <p:sldId id="409" r:id="rId17"/>
    <p:sldId id="410" r:id="rId18"/>
    <p:sldId id="411" r:id="rId19"/>
    <p:sldId id="412" r:id="rId20"/>
    <p:sldId id="413" r:id="rId21"/>
    <p:sldId id="414" r:id="rId22"/>
    <p:sldId id="964" r:id="rId23"/>
    <p:sldId id="421" r:id="rId24"/>
    <p:sldId id="422" r:id="rId25"/>
    <p:sldId id="423" r:id="rId26"/>
    <p:sldId id="424" r:id="rId27"/>
    <p:sldId id="425" r:id="rId28"/>
    <p:sldId id="967" r:id="rId29"/>
    <p:sldId id="989" r:id="rId30"/>
    <p:sldId id="452" r:id="rId31"/>
    <p:sldId id="432" r:id="rId32"/>
  </p:sldIdLst>
  <p:sldSz cx="9144000" cy="6858000" type="screen4x3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17E12F-AD05-4753-8EC0-1AFECB5CAFAB}" v="53" dt="2022-01-07T18:52:50.1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5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ersach, David" userId="14a9feb0-85a7-4da4-be8a-c1e22b637acc" providerId="ADAL" clId="{0217E12F-AD05-4753-8EC0-1AFECB5CAFAB}"/>
    <pc:docChg chg="addSld delSld modSld sldOrd">
      <pc:chgData name="Biersach, David" userId="14a9feb0-85a7-4da4-be8a-c1e22b637acc" providerId="ADAL" clId="{0217E12F-AD05-4753-8EC0-1AFECB5CAFAB}" dt="2022-01-07T18:52:50.100" v="55"/>
      <pc:docMkLst>
        <pc:docMk/>
      </pc:docMkLst>
      <pc:sldChg chg="add ord">
        <pc:chgData name="Biersach, David" userId="14a9feb0-85a7-4da4-be8a-c1e22b637acc" providerId="ADAL" clId="{0217E12F-AD05-4753-8EC0-1AFECB5CAFAB}" dt="2022-01-04T15:20:18.491" v="54"/>
        <pc:sldMkLst>
          <pc:docMk/>
          <pc:sldMk cId="2517184034" sldId="343"/>
        </pc:sldMkLst>
      </pc:sldChg>
      <pc:sldChg chg="modSp">
        <pc:chgData name="Biersach, David" userId="14a9feb0-85a7-4da4-be8a-c1e22b637acc" providerId="ADAL" clId="{0217E12F-AD05-4753-8EC0-1AFECB5CAFAB}" dt="2022-01-04T03:32:48.790" v="47" actId="20577"/>
        <pc:sldMkLst>
          <pc:docMk/>
          <pc:sldMk cId="3281877194" sldId="349"/>
        </pc:sldMkLst>
        <pc:spChg chg="mod">
          <ac:chgData name="Biersach, David" userId="14a9feb0-85a7-4da4-be8a-c1e22b637acc" providerId="ADAL" clId="{0217E12F-AD05-4753-8EC0-1AFECB5CAFAB}" dt="2022-01-04T03:32:48.790" v="47" actId="20577"/>
          <ac:spMkLst>
            <pc:docMk/>
            <pc:sldMk cId="3281877194" sldId="349"/>
            <ac:spMk id="3" creationId="{00000000-0000-0000-0000-000000000000}"/>
          </ac:spMkLst>
        </pc:spChg>
      </pc:sldChg>
      <pc:sldChg chg="add">
        <pc:chgData name="Biersach, David" userId="14a9feb0-85a7-4da4-be8a-c1e22b637acc" providerId="ADAL" clId="{0217E12F-AD05-4753-8EC0-1AFECB5CAFAB}" dt="2022-01-07T18:52:50.100" v="55"/>
        <pc:sldMkLst>
          <pc:docMk/>
          <pc:sldMk cId="3558933657" sldId="888"/>
        </pc:sldMkLst>
      </pc:sldChg>
      <pc:sldChg chg="modSp">
        <pc:chgData name="Biersach, David" userId="14a9feb0-85a7-4da4-be8a-c1e22b637acc" providerId="ADAL" clId="{0217E12F-AD05-4753-8EC0-1AFECB5CAFAB}" dt="2022-01-04T03:28:22.992" v="40" actId="20577"/>
        <pc:sldMkLst>
          <pc:docMk/>
          <pc:sldMk cId="2793407498" sldId="890"/>
        </pc:sldMkLst>
        <pc:spChg chg="mod">
          <ac:chgData name="Biersach, David" userId="14a9feb0-85a7-4da4-be8a-c1e22b637acc" providerId="ADAL" clId="{0217E12F-AD05-4753-8EC0-1AFECB5CAFAB}" dt="2022-01-04T03:28:22.992" v="40" actId="20577"/>
          <ac:spMkLst>
            <pc:docMk/>
            <pc:sldMk cId="2793407498" sldId="890"/>
            <ac:spMk id="3" creationId="{00000000-0000-0000-0000-000000000000}"/>
          </ac:spMkLst>
        </pc:spChg>
      </pc:sldChg>
      <pc:sldChg chg="add">
        <pc:chgData name="Biersach, David" userId="14a9feb0-85a7-4da4-be8a-c1e22b637acc" providerId="ADAL" clId="{0217E12F-AD05-4753-8EC0-1AFECB5CAFAB}" dt="2022-01-04T12:32:42.296" v="51"/>
        <pc:sldMkLst>
          <pc:docMk/>
          <pc:sldMk cId="3985509857" sldId="1124"/>
        </pc:sldMkLst>
      </pc:sldChg>
      <pc:sldChg chg="add del">
        <pc:chgData name="Biersach, David" userId="14a9feb0-85a7-4da4-be8a-c1e22b637acc" providerId="ADAL" clId="{0217E12F-AD05-4753-8EC0-1AFECB5CAFAB}" dt="2022-01-04T12:32:27.285" v="50"/>
        <pc:sldMkLst>
          <pc:docMk/>
          <pc:sldMk cId="2609216782" sldId="1142"/>
        </pc:sldMkLst>
      </pc:sldChg>
    </pc:docChg>
  </pc:docChgLst>
  <pc:docChgLst>
    <pc:chgData name="Biersach, David" userId="14a9feb0-85a7-4da4-be8a-c1e22b637acc" providerId="ADAL" clId="{6231E7D9-E8FD-4908-95BB-3604F3CA9764}"/>
    <pc:docChg chg="custSel delSld modSld">
      <pc:chgData name="Biersach, David" userId="14a9feb0-85a7-4da4-be8a-c1e22b637acc" providerId="ADAL" clId="{6231E7D9-E8FD-4908-95BB-3604F3CA9764}" dt="2020-05-29T19:25:56.584" v="2" actId="2696"/>
      <pc:docMkLst>
        <pc:docMk/>
      </pc:docMkLst>
      <pc:sldChg chg="del">
        <pc:chgData name="Biersach, David" userId="14a9feb0-85a7-4da4-be8a-c1e22b637acc" providerId="ADAL" clId="{6231E7D9-E8FD-4908-95BB-3604F3CA9764}" dt="2020-05-29T19:25:56.584" v="2" actId="2696"/>
        <pc:sldMkLst>
          <pc:docMk/>
          <pc:sldMk cId="1150352350" sldId="278"/>
        </pc:sldMkLst>
      </pc:sldChg>
      <pc:sldChg chg="modSp">
        <pc:chgData name="Biersach, David" userId="14a9feb0-85a7-4da4-be8a-c1e22b637acc" providerId="ADAL" clId="{6231E7D9-E8FD-4908-95BB-3604F3CA9764}" dt="2020-05-29T19:25:52.552" v="0" actId="27636"/>
        <pc:sldMkLst>
          <pc:docMk/>
          <pc:sldMk cId="206124625" sldId="464"/>
        </pc:sldMkLst>
        <pc:spChg chg="mod">
          <ac:chgData name="Biersach, David" userId="14a9feb0-85a7-4da4-be8a-c1e22b637acc" providerId="ADAL" clId="{6231E7D9-E8FD-4908-95BB-3604F3CA9764}" dt="2020-05-29T19:25:52.552" v="0" actId="27636"/>
          <ac:spMkLst>
            <pc:docMk/>
            <pc:sldMk cId="206124625" sldId="464"/>
            <ac:spMk id="3" creationId="{00000000-0000-0000-0000-000000000000}"/>
          </ac:spMkLst>
        </pc:spChg>
      </pc:sldChg>
      <pc:sldChg chg="modSp">
        <pc:chgData name="Biersach, David" userId="14a9feb0-85a7-4da4-be8a-c1e22b637acc" providerId="ADAL" clId="{6231E7D9-E8FD-4908-95BB-3604F3CA9764}" dt="2020-05-29T19:25:52.649" v="1" actId="27636"/>
        <pc:sldMkLst>
          <pc:docMk/>
          <pc:sldMk cId="320308749" sldId="465"/>
        </pc:sldMkLst>
        <pc:spChg chg="mod">
          <ac:chgData name="Biersach, David" userId="14a9feb0-85a7-4da4-be8a-c1e22b637acc" providerId="ADAL" clId="{6231E7D9-E8FD-4908-95BB-3604F3CA9764}" dt="2020-05-29T19:25:52.649" v="1" actId="27636"/>
          <ac:spMkLst>
            <pc:docMk/>
            <pc:sldMk cId="320308749" sldId="465"/>
            <ac:spMk id="3" creationId="{00000000-0000-0000-0000-000000000000}"/>
          </ac:spMkLst>
        </pc:spChg>
      </pc:sldChg>
    </pc:docChg>
  </pc:docChgLst>
  <pc:docChgLst>
    <pc:chgData name="David Biersach" userId="14a9feb0-85a7-4da4-be8a-c1e22b637acc" providerId="ADAL" clId="{5A6707B7-A14E-4209-A847-BC5B1C4758B8}"/>
    <pc:docChg chg="modSld sldOrd">
      <pc:chgData name="David Biersach" userId="14a9feb0-85a7-4da4-be8a-c1e22b637acc" providerId="ADAL" clId="{5A6707B7-A14E-4209-A847-BC5B1C4758B8}" dt="2022-01-05T04:07:39.729" v="6" actId="1076"/>
      <pc:docMkLst>
        <pc:docMk/>
      </pc:docMkLst>
      <pc:sldChg chg="ord">
        <pc:chgData name="David Biersach" userId="14a9feb0-85a7-4da4-be8a-c1e22b637acc" providerId="ADAL" clId="{5A6707B7-A14E-4209-A847-BC5B1C4758B8}" dt="2022-01-05T04:03:55.394" v="1"/>
        <pc:sldMkLst>
          <pc:docMk/>
          <pc:sldMk cId="2517184034" sldId="343"/>
        </pc:sldMkLst>
      </pc:sldChg>
      <pc:sldChg chg="modSp mod">
        <pc:chgData name="David Biersach" userId="14a9feb0-85a7-4da4-be8a-c1e22b637acc" providerId="ADAL" clId="{5A6707B7-A14E-4209-A847-BC5B1C4758B8}" dt="2022-01-05T04:07:39.729" v="6" actId="1076"/>
        <pc:sldMkLst>
          <pc:docMk/>
          <pc:sldMk cId="4125856511" sldId="979"/>
        </pc:sldMkLst>
        <pc:spChg chg="mod">
          <ac:chgData name="David Biersach" userId="14a9feb0-85a7-4da4-be8a-c1e22b637acc" providerId="ADAL" clId="{5A6707B7-A14E-4209-A847-BC5B1C4758B8}" dt="2022-01-05T04:07:39.729" v="6" actId="1076"/>
          <ac:spMkLst>
            <pc:docMk/>
            <pc:sldMk cId="4125856511" sldId="979"/>
            <ac:spMk id="7" creationId="{386F0342-CB00-4C7F-B805-DBF75E2587CB}"/>
          </ac:spMkLst>
        </pc:spChg>
        <pc:cxnChg chg="mod">
          <ac:chgData name="David Biersach" userId="14a9feb0-85a7-4da4-be8a-c1e22b637acc" providerId="ADAL" clId="{5A6707B7-A14E-4209-A847-BC5B1C4758B8}" dt="2022-01-05T04:07:39.729" v="6" actId="1076"/>
          <ac:cxnSpMkLst>
            <pc:docMk/>
            <pc:sldMk cId="4125856511" sldId="979"/>
            <ac:cxnSpMk id="16" creationId="{9724E30F-BBE1-4E88-84ED-C12860B5AC0E}"/>
          </ac:cxnSpMkLst>
        </pc:cxnChg>
        <pc:cxnChg chg="mod">
          <ac:chgData name="David Biersach" userId="14a9feb0-85a7-4da4-be8a-c1e22b637acc" providerId="ADAL" clId="{5A6707B7-A14E-4209-A847-BC5B1C4758B8}" dt="2022-01-05T04:07:39.729" v="6" actId="1076"/>
          <ac:cxnSpMkLst>
            <pc:docMk/>
            <pc:sldMk cId="4125856511" sldId="979"/>
            <ac:cxnSpMk id="17" creationId="{B9880807-81AA-44B9-85AA-98C4ADF23953}"/>
          </ac:cxnSpMkLst>
        </pc:cxnChg>
      </pc:sldChg>
      <pc:sldChg chg="ord">
        <pc:chgData name="David Biersach" userId="14a9feb0-85a7-4da4-be8a-c1e22b637acc" providerId="ADAL" clId="{5A6707B7-A14E-4209-A847-BC5B1C4758B8}" dt="2022-01-05T04:04:32.685" v="5"/>
        <pc:sldMkLst>
          <pc:docMk/>
          <pc:sldMk cId="3985509857" sldId="1124"/>
        </pc:sldMkLst>
      </pc:sldChg>
      <pc:sldChg chg="ord">
        <pc:chgData name="David Biersach" userId="14a9feb0-85a7-4da4-be8a-c1e22b637acc" providerId="ADAL" clId="{5A6707B7-A14E-4209-A847-BC5B1C4758B8}" dt="2022-01-05T04:04:06.071" v="3"/>
        <pc:sldMkLst>
          <pc:docMk/>
          <pc:sldMk cId="2609216782" sldId="114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A241AC98-512A-4A35-865E-757B6C1F07A2}" type="datetimeFigureOut">
              <a:rPr lang="en-US" smtClean="0"/>
              <a:t>3/3/2022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825528D0-251A-41BC-8967-C65EDA3B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95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3854CEE7-15DE-41D9-8CA2-D1E137B1D850}" type="datetimeFigureOut">
              <a:rPr lang="en-US" smtClean="0"/>
              <a:t>3/3/2022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69988"/>
            <a:ext cx="4213225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38" tIns="46319" rIns="92638" bIns="463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505662"/>
            <a:ext cx="5661660" cy="3687031"/>
          </a:xfrm>
          <a:prstGeom prst="rect">
            <a:avLst/>
          </a:prstGeom>
        </p:spPr>
        <p:txBody>
          <a:bodyPr vert="horz" lIns="92638" tIns="46319" rIns="92638" bIns="463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76317BBA-0BC6-419B-B826-088209688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92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0559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912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1577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877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024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556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1918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0404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9984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4994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3421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3509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1942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2008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8263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2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EB2C-244D-4423-AD97-018ED6478B87}" type="datetime1">
              <a:rPr lang="en-US" smtClean="0"/>
              <a:t>3/3/2022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6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32E-48CB-4EEB-A6B6-DEC7AD7CC976}" type="datetime1">
              <a:rPr lang="en-US" smtClean="0"/>
              <a:t>3/3/2022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6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E52C-3A57-458E-95F6-96B2FA9D1DD4}" type="datetime1">
              <a:rPr lang="en-US" smtClean="0"/>
              <a:t>3/3/2022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C747-A48A-4FF2-8EE4-3E95ECD1C2A8}" type="datetime1">
              <a:rPr lang="en-US" smtClean="0"/>
              <a:t>3/3/2022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758-AB7F-463D-B638-E1729B95E126}" type="datetime1">
              <a:rPr lang="en-US" smtClean="0"/>
              <a:t>3/3/2022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8C77-7DD0-4738-BF52-D0EC9F78A76E}" type="datetime1">
              <a:rPr lang="en-US" smtClean="0"/>
              <a:t>3/3/2022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1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70CF-13D9-4E1D-A74F-2CFE4953FCDB}" type="datetime1">
              <a:rPr lang="en-US" smtClean="0"/>
              <a:t>3/3/2022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7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49B9-4E1C-4967-B9CF-0BF9FECBE837}" type="datetime1">
              <a:rPr lang="en-US" smtClean="0"/>
              <a:t>3/3/2022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9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38CBB-1F06-4333-9BBF-66628B15E581}" type="datetime1">
              <a:rPr lang="en-US" smtClean="0"/>
              <a:t>3/3/2022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8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1D1F-7576-4C60-B4EB-5115BC56CF40}" type="datetime1">
              <a:rPr lang="en-US" smtClean="0"/>
              <a:t>3/3/2022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9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D1398-4D56-44F9-BA35-34ACF3159A64}" type="datetime1">
              <a:rPr lang="en-US" smtClean="0"/>
              <a:t>3/3/2022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3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EC883-F03C-4CA3-AF62-BEF30EEA4F65}" type="datetime1">
              <a:rPr lang="en-US" smtClean="0"/>
              <a:t>3/3/2022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6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png"/><Relationship Id="rId7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hyperlink" Target="mailto:dbiersach@bnl.gov" TargetMode="External"/><Relationship Id="rId10" Type="http://schemas.openxmlformats.org/officeDocument/2006/relationships/image" Target="../media/image8.png"/><Relationship Id="rId4" Type="http://schemas.openxmlformats.org/officeDocument/2006/relationships/image" Target="../media/image3.jpe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4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Relationship Id="rId5" Type="http://schemas.openxmlformats.org/officeDocument/2006/relationships/image" Target="NUL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0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emf"/><Relationship Id="rId4" Type="http://schemas.openxmlformats.org/officeDocument/2006/relationships/image" Target="NUL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24.png"/><Relationship Id="rId7" Type="http://schemas.openxmlformats.org/officeDocument/2006/relationships/image" Target="NUL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../media/image26.jpeg"/><Relationship Id="rId5" Type="http://schemas.openxmlformats.org/officeDocument/2006/relationships/image" Target="NULL"/><Relationship Id="rId10" Type="http://schemas.openxmlformats.org/officeDocument/2006/relationships/image" Target="../media/image25.png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NUL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57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../media/image39.jpeg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0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17C2B5E5-FA39-488F-AB21-780CCEC9629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18595" y="3116578"/>
            <a:ext cx="2055976" cy="10025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8022AA9-25C0-416F-AD81-E38CA0BC3B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37500" y="4895616"/>
            <a:ext cx="2191062" cy="16432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8DDF2C-2EBB-45B4-B100-C8780377068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683" y="899099"/>
            <a:ext cx="2127777" cy="1409652"/>
          </a:xfrm>
          <a:prstGeom prst="rect">
            <a:avLst/>
          </a:prstGeom>
          <a:ln>
            <a:noFill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0AD656-6FF9-465D-B7B0-1CD0DD39CD23}" type="slidenum">
              <a:rPr lang="en-US">
                <a:solidFill>
                  <a:prstClr val="black"/>
                </a:solidFill>
                <a:latin typeface="Calibri" panose="020F0502020204030204"/>
              </a:rPr>
              <a:pPr>
                <a:defRPr/>
              </a:pPr>
              <a:t>1</a:t>
            </a:fld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64800" y="5517122"/>
            <a:ext cx="26436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Dave Biersach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5"/>
              </a:rPr>
              <a:t>dbiersach@bnl.gov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77647" y="899099"/>
            <a:ext cx="26537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Scientific Computing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prstClr val="black"/>
                </a:solidFill>
                <a:latin typeface="Calibri" panose="020F0502020204030204"/>
              </a:rPr>
              <a:t>Demonstrations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41886" y="3916225"/>
            <a:ext cx="2489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Continued Fractions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1318A7-1014-4E9C-BBB9-5D54D96586CD}"/>
              </a:ext>
            </a:extLst>
          </p:cNvPr>
          <p:cNvSpPr txBox="1"/>
          <p:nvPr/>
        </p:nvSpPr>
        <p:spPr>
          <a:xfrm>
            <a:off x="6391478" y="2470473"/>
            <a:ext cx="21903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Using Python on a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Microcontroller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</a:t>
            </a:r>
            <a:r>
              <a:rPr lang="en-US" sz="2000" b="1" dirty="0">
                <a:solidFill>
                  <a:srgbClr val="FF0000"/>
                </a:solidFill>
                <a:latin typeface="Calibri" panose="020F0502020204030204"/>
              </a:rPr>
              <a:t> Sensors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C880B61-F5EE-49B8-AD9E-106E0D8FB1E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1623" y="4886637"/>
            <a:ext cx="1923894" cy="17267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CB1C5A1-5BD1-4443-93C5-C732C9ED75DA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72267" y="2978305"/>
            <a:ext cx="1569869" cy="15698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667B1E9-59CF-411C-A0FE-26DFB409C7FD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01644" y="724782"/>
            <a:ext cx="3524434" cy="18792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A3A59CA-97D4-4D85-9359-08EF416FD86C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86294" y="2810269"/>
            <a:ext cx="1093475" cy="19231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B9FEA8-F51B-430D-AC12-93C534C517F3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81995" y="4915158"/>
            <a:ext cx="832702" cy="170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656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Lab Goals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13019" y="1825625"/>
                <a:ext cx="8007349" cy="4840898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Gain an appreciation for </a:t>
                </a:r>
                <a:r>
                  <a:rPr lang="en-US" sz="2400" b="1" dirty="0"/>
                  <a:t>Continued Fractions</a:t>
                </a:r>
                <a:r>
                  <a:rPr lang="en-US" sz="2400" dirty="0"/>
                  <a:t> in nature</a:t>
                </a:r>
                <a:endParaRPr lang="en-US" sz="2400" b="1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Understand the three types of CFs:  1) finite, 2) infinite with repeating </a:t>
                </a:r>
                <a:r>
                  <a:rPr lang="en-US" sz="2400" i="1" u="sng" dirty="0"/>
                  <a:t>sequence</a:t>
                </a:r>
                <a:r>
                  <a:rPr lang="en-US" sz="2400" dirty="0"/>
                  <a:t>, 3) infinite with repeating </a:t>
                </a:r>
                <a:r>
                  <a:rPr lang="en-US" sz="2400" i="1" u="sng" dirty="0"/>
                  <a:t>pattern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Write code to </a:t>
                </a:r>
                <a:r>
                  <a:rPr lang="en-US" sz="2400" b="1" dirty="0"/>
                  <a:t>generate</a:t>
                </a:r>
                <a:r>
                  <a:rPr lang="en-US" sz="2400" dirty="0"/>
                  <a:t> a generalized CF for a real number, and how to </a:t>
                </a:r>
                <a:r>
                  <a:rPr lang="en-US" sz="2400" b="1" dirty="0"/>
                  <a:t>expand</a:t>
                </a:r>
                <a:r>
                  <a:rPr lang="en-US" sz="2400" dirty="0"/>
                  <a:t> that CF to produce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convergents</a:t>
                </a:r>
                <a:r>
                  <a:rPr lang="en-US" sz="2400" dirty="0"/>
                  <a:t> of the original number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Appreciate the hidden underlying simplicity of the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generalized continued fraction </a:t>
                </a:r>
                <a:r>
                  <a:rPr lang="en-US" sz="2400" dirty="0"/>
                  <a:t>for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3019" y="1825625"/>
                <a:ext cx="8007349" cy="4840898"/>
              </a:xfrm>
              <a:blipFill>
                <a:blip r:embed="rId3"/>
                <a:stretch>
                  <a:fillRect l="-1066" t="-1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283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Expanding Your Definition of a “Number”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918" y="1468581"/>
            <a:ext cx="7102164" cy="4887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943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</a:t>
            </a:fld>
            <a:endParaRPr lang="en-US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28650" y="365127"/>
            <a:ext cx="7886700" cy="6303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latin typeface="+mn-lt"/>
              </a:rPr>
              <a:t>Continued Fractions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64DDF4-B4B7-46F9-A512-964DBA5AD253}"/>
                  </a:ext>
                </a:extLst>
              </p:cNvPr>
              <p:cNvSpPr txBox="1"/>
              <p:nvPr/>
            </p:nvSpPr>
            <p:spPr>
              <a:xfrm>
                <a:off x="2540547" y="1354234"/>
                <a:ext cx="4062907" cy="16413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⋱</m:t>
                                  </m:r>
                                </m:den>
                              </m:f>
                            </m:den>
                          </m:f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64DDF4-B4B7-46F9-A512-964DBA5AD2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547" y="1354234"/>
                <a:ext cx="4062907" cy="16413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EE4B9E1-3B13-43B9-A506-56A12A4F9C9F}"/>
                  </a:ext>
                </a:extLst>
              </p:cNvPr>
              <p:cNvSpPr txBox="1"/>
              <p:nvPr/>
            </p:nvSpPr>
            <p:spPr>
              <a:xfrm>
                <a:off x="1747684" y="3313636"/>
                <a:ext cx="56486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rgbClr val="0070C0"/>
                    </a:solidFill>
                  </a:rPr>
                  <a:t>In a </a:t>
                </a:r>
                <a:r>
                  <a:rPr lang="en-US" sz="2400" u="sng" dirty="0">
                    <a:solidFill>
                      <a:srgbClr val="0070C0"/>
                    </a:solidFill>
                  </a:rPr>
                  <a:t>standard</a:t>
                </a:r>
                <a:r>
                  <a:rPr lang="en-US" sz="2400" dirty="0">
                    <a:solidFill>
                      <a:srgbClr val="0070C0"/>
                    </a:solidFill>
                  </a:rPr>
                  <a:t> continued fraction,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EE4B9E1-3B13-43B9-A506-56A12A4F9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7684" y="3313636"/>
                <a:ext cx="5648632" cy="461665"/>
              </a:xfrm>
              <a:prstGeom prst="rect">
                <a:avLst/>
              </a:prstGeom>
              <a:blipFill>
                <a:blip r:embed="rId3"/>
                <a:stretch>
                  <a:fillRect l="-648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D5E82CF-86BB-43F0-9969-A9C4F75210FC}"/>
                  </a:ext>
                </a:extLst>
              </p:cNvPr>
              <p:cNvSpPr txBox="1"/>
              <p:nvPr/>
            </p:nvSpPr>
            <p:spPr>
              <a:xfrm>
                <a:off x="2284611" y="4285841"/>
                <a:ext cx="3895875" cy="15392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𝟐𝟒𝟓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=3+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4+</m:t>
                          </m:r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12+</m:t>
                              </m:r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den>
                          </m:f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D5E82CF-86BB-43F0-9969-A9C4F7521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4611" y="4285841"/>
                <a:ext cx="3895875" cy="15392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B135D0F9-555C-469A-BE7B-4575FB0EC3CC}"/>
              </a:ext>
            </a:extLst>
          </p:cNvPr>
          <p:cNvSpPr/>
          <p:nvPr/>
        </p:nvSpPr>
        <p:spPr>
          <a:xfrm>
            <a:off x="5053147" y="5324168"/>
            <a:ext cx="427703" cy="3834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B04615-3289-4836-B075-B88FAEDFA765}"/>
              </a:ext>
            </a:extLst>
          </p:cNvPr>
          <p:cNvSpPr/>
          <p:nvPr/>
        </p:nvSpPr>
        <p:spPr>
          <a:xfrm>
            <a:off x="3775588" y="4525297"/>
            <a:ext cx="280220" cy="3834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08A2BC-A9D9-447C-A401-092EB1E4DC67}"/>
              </a:ext>
            </a:extLst>
          </p:cNvPr>
          <p:cNvSpPr/>
          <p:nvPr/>
        </p:nvSpPr>
        <p:spPr>
          <a:xfrm>
            <a:off x="4395020" y="4935423"/>
            <a:ext cx="280220" cy="3834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1742A3-CF79-46D9-A75B-59A3D22C827B}"/>
              </a:ext>
            </a:extLst>
          </p:cNvPr>
          <p:cNvSpPr/>
          <p:nvPr/>
        </p:nvSpPr>
        <p:spPr>
          <a:xfrm>
            <a:off x="5844511" y="5515897"/>
            <a:ext cx="280220" cy="3834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204C95-E148-46C9-A766-BDB2804C30EC}"/>
              </a:ext>
            </a:extLst>
          </p:cNvPr>
          <p:cNvSpPr/>
          <p:nvPr/>
        </p:nvSpPr>
        <p:spPr>
          <a:xfrm>
            <a:off x="5508523" y="4285841"/>
            <a:ext cx="206477" cy="3834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F3048F-80E5-43BB-94AC-8CFAE16A2F5F}"/>
              </a:ext>
            </a:extLst>
          </p:cNvPr>
          <p:cNvSpPr/>
          <p:nvPr/>
        </p:nvSpPr>
        <p:spPr>
          <a:xfrm>
            <a:off x="5803492" y="4748305"/>
            <a:ext cx="206477" cy="3834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69D3B7-7B17-426D-A890-383D23FD7336}"/>
              </a:ext>
            </a:extLst>
          </p:cNvPr>
          <p:cNvSpPr/>
          <p:nvPr/>
        </p:nvSpPr>
        <p:spPr>
          <a:xfrm>
            <a:off x="6216447" y="5121971"/>
            <a:ext cx="206477" cy="3834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50522D-78A1-45B5-BE42-AAA40E995AEC}"/>
              </a:ext>
            </a:extLst>
          </p:cNvPr>
          <p:cNvSpPr/>
          <p:nvPr/>
        </p:nvSpPr>
        <p:spPr>
          <a:xfrm>
            <a:off x="6526163" y="5515897"/>
            <a:ext cx="206477" cy="3834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9711AA-5C42-4BAA-936C-90C6B8733B82}"/>
              </a:ext>
            </a:extLst>
          </p:cNvPr>
          <p:cNvSpPr/>
          <p:nvPr/>
        </p:nvSpPr>
        <p:spPr>
          <a:xfrm>
            <a:off x="7051421" y="3354298"/>
            <a:ext cx="206477" cy="3834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BADCC31B-B3FF-4A71-91E4-C7FE16B5E564}"/>
              </a:ext>
            </a:extLst>
          </p:cNvPr>
          <p:cNvCxnSpPr>
            <a:stCxn id="19" idx="3"/>
          </p:cNvCxnSpPr>
          <p:nvPr/>
        </p:nvCxnSpPr>
        <p:spPr>
          <a:xfrm flipH="1">
            <a:off x="5844511" y="3546027"/>
            <a:ext cx="1413387" cy="933102"/>
          </a:xfrm>
          <a:prstGeom prst="bentConnector3">
            <a:avLst>
              <a:gd name="adj1" fmla="val -16174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1EC0C015-07CA-4D6E-893C-6CD8842168C0}"/>
              </a:ext>
            </a:extLst>
          </p:cNvPr>
          <p:cNvCxnSpPr>
            <a:cxnSpLocks/>
            <a:stCxn id="19" idx="3"/>
            <a:endCxn id="16" idx="3"/>
          </p:cNvCxnSpPr>
          <p:nvPr/>
        </p:nvCxnSpPr>
        <p:spPr>
          <a:xfrm flipH="1">
            <a:off x="6009969" y="3546027"/>
            <a:ext cx="1247929" cy="1394007"/>
          </a:xfrm>
          <a:prstGeom prst="bentConnector3">
            <a:avLst>
              <a:gd name="adj1" fmla="val -18318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6A121601-EB26-4E2D-8FC8-C72429D66E06}"/>
              </a:ext>
            </a:extLst>
          </p:cNvPr>
          <p:cNvCxnSpPr>
            <a:cxnSpLocks/>
            <a:stCxn id="19" idx="3"/>
            <a:endCxn id="17" idx="3"/>
          </p:cNvCxnSpPr>
          <p:nvPr/>
        </p:nvCxnSpPr>
        <p:spPr>
          <a:xfrm flipH="1">
            <a:off x="6422924" y="3546027"/>
            <a:ext cx="834974" cy="1767673"/>
          </a:xfrm>
          <a:prstGeom prst="bentConnector3">
            <a:avLst>
              <a:gd name="adj1" fmla="val -27378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2488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8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E2B078-275C-4AC1-AF75-D771BDD7A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003" y="1893230"/>
            <a:ext cx="6171247" cy="15364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55447" y="1252151"/>
            <a:ext cx="66331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What is the simple CF encoding for </a:t>
            </a:r>
            <a:r>
              <a:rPr lang="en-US" sz="2000" b="1" dirty="0">
                <a:solidFill>
                  <a:srgbClr val="FF0000"/>
                </a:solidFill>
              </a:rPr>
              <a:t>3.245</a:t>
            </a:r>
            <a:r>
              <a:rPr lang="en-US" sz="2000" dirty="0"/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9925" y="4403124"/>
            <a:ext cx="55852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 CF is an </a:t>
            </a:r>
            <a:r>
              <a:rPr lang="en-US" sz="2400" i="1" dirty="0"/>
              <a:t>encoding</a:t>
            </a:r>
            <a:r>
              <a:rPr lang="en-US" sz="2400" dirty="0"/>
              <a:t> scheme</a:t>
            </a:r>
          </a:p>
          <a:p>
            <a:pPr algn="ctr"/>
            <a:endParaRPr lang="en-US" sz="2000" b="1" dirty="0"/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3.245 = [3; 4, 12, 4]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All </a:t>
            </a:r>
            <a:r>
              <a:rPr lang="en-US" sz="2000" b="1" dirty="0">
                <a:solidFill>
                  <a:srgbClr val="0070C0"/>
                </a:solidFill>
              </a:rPr>
              <a:t>rational</a:t>
            </a:r>
            <a:r>
              <a:rPr lang="en-US" sz="2000" dirty="0"/>
              <a:t> numbers have a CF of </a:t>
            </a:r>
            <a:r>
              <a:rPr lang="en-US" sz="2000" b="1" u="sng" dirty="0"/>
              <a:t>finite</a:t>
            </a:r>
            <a:r>
              <a:rPr lang="en-US" sz="2000" dirty="0"/>
              <a:t> length!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</a:t>
            </a:fld>
            <a:endParaRPr lang="en-US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628650" y="365127"/>
            <a:ext cx="7886700" cy="6303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latin typeface="+mn-lt"/>
              </a:rPr>
              <a:t>Continued Fractions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A3E388-63A2-4198-8BAF-92304233EB33}"/>
              </a:ext>
            </a:extLst>
          </p:cNvPr>
          <p:cNvSpPr/>
          <p:nvPr/>
        </p:nvSpPr>
        <p:spPr>
          <a:xfrm>
            <a:off x="6438900" y="2220861"/>
            <a:ext cx="1211383" cy="3023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64AA2D-7956-4945-B43B-06ED26551748}"/>
              </a:ext>
            </a:extLst>
          </p:cNvPr>
          <p:cNvSpPr/>
          <p:nvPr/>
        </p:nvSpPr>
        <p:spPr>
          <a:xfrm>
            <a:off x="1927959" y="2523203"/>
            <a:ext cx="1211383" cy="3023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1459AAAB-8BED-45B2-9E23-0BB01D53D1CE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flipH="1">
            <a:off x="1927959" y="2372032"/>
            <a:ext cx="5722324" cy="302342"/>
          </a:xfrm>
          <a:prstGeom prst="bentConnector5">
            <a:avLst>
              <a:gd name="adj1" fmla="val -3995"/>
              <a:gd name="adj2" fmla="val 571951"/>
              <a:gd name="adj3" fmla="val 113016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6F2496B-D107-46CF-9778-B1F3DA88CD75}"/>
              </a:ext>
            </a:extLst>
          </p:cNvPr>
          <p:cNvSpPr/>
          <p:nvPr/>
        </p:nvSpPr>
        <p:spPr>
          <a:xfrm>
            <a:off x="6436445" y="2520746"/>
            <a:ext cx="1211383" cy="3023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9BA092-F84B-431D-86E6-02F82D392D97}"/>
              </a:ext>
            </a:extLst>
          </p:cNvPr>
          <p:cNvSpPr/>
          <p:nvPr/>
        </p:nvSpPr>
        <p:spPr>
          <a:xfrm>
            <a:off x="1925504" y="2823088"/>
            <a:ext cx="1211383" cy="3023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205CBCD1-EE13-4B50-89BC-7DDF15CE7D65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 flipH="1">
            <a:off x="1925504" y="2671917"/>
            <a:ext cx="5722324" cy="302342"/>
          </a:xfrm>
          <a:prstGeom prst="bentConnector5">
            <a:avLst>
              <a:gd name="adj1" fmla="val -3995"/>
              <a:gd name="adj2" fmla="val 571951"/>
              <a:gd name="adj3" fmla="val 113016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peech Bubble: Rectangle with Corners Rounded 20">
            <a:extLst>
              <a:ext uri="{FF2B5EF4-FFF2-40B4-BE49-F238E27FC236}">
                <a16:creationId xmlns:a16="http://schemas.microsoft.com/office/drawing/2014/main" id="{F8183972-4256-4D02-9EBB-09E1AD786C61}"/>
              </a:ext>
            </a:extLst>
          </p:cNvPr>
          <p:cNvSpPr/>
          <p:nvPr/>
        </p:nvSpPr>
        <p:spPr>
          <a:xfrm>
            <a:off x="6819152" y="3683162"/>
            <a:ext cx="1657351" cy="811161"/>
          </a:xfrm>
          <a:prstGeom prst="wedgeRoundRectCallout">
            <a:avLst>
              <a:gd name="adj1" fmla="val -99587"/>
              <a:gd name="adj2" fmla="val -8386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We stop when this difference is zero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1B9B44D-3CFF-476C-B4EA-F689F1DE87C8}"/>
              </a:ext>
            </a:extLst>
          </p:cNvPr>
          <p:cNvSpPr/>
          <p:nvPr/>
        </p:nvSpPr>
        <p:spPr>
          <a:xfrm>
            <a:off x="3937819" y="2220861"/>
            <a:ext cx="383458" cy="12081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52B0D04-8B7E-4FCE-A304-340DDEC70950}"/>
              </a:ext>
            </a:extLst>
          </p:cNvPr>
          <p:cNvSpPr/>
          <p:nvPr/>
        </p:nvSpPr>
        <p:spPr>
          <a:xfrm>
            <a:off x="5266078" y="5132439"/>
            <a:ext cx="589935" cy="3539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96DC3FBA-40B0-4908-8DD3-65B546B4C6EC}"/>
              </a:ext>
            </a:extLst>
          </p:cNvPr>
          <p:cNvCxnSpPr>
            <a:cxnSpLocks/>
            <a:stCxn id="22" idx="2"/>
            <a:endCxn id="23" idx="3"/>
          </p:cNvCxnSpPr>
          <p:nvPr/>
        </p:nvCxnSpPr>
        <p:spPr>
          <a:xfrm rot="16200000" flipH="1">
            <a:off x="4052570" y="3505977"/>
            <a:ext cx="1880420" cy="1726465"/>
          </a:xfrm>
          <a:prstGeom prst="bentConnector4">
            <a:avLst>
              <a:gd name="adj1" fmla="val 45294"/>
              <a:gd name="adj2" fmla="val 128618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3681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 animBg="1"/>
      <p:bldP spid="12" grpId="1" animBg="1"/>
      <p:bldP spid="13" grpId="0" animBg="1"/>
      <p:bldP spid="13" grpId="1" animBg="1"/>
      <p:bldP spid="18" grpId="0" animBg="1"/>
      <p:bldP spid="18" grpId="1" animBg="1"/>
      <p:bldP spid="19" grpId="0" animBg="1"/>
      <p:bldP spid="19" grpId="1" animBg="1"/>
      <p:bldP spid="21" grpId="0" animBg="1"/>
      <p:bldP spid="21" grpId="1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255447" y="1252151"/>
            <a:ext cx="66331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What is the simple CF encoding for </a:t>
            </a:r>
            <a:r>
              <a:rPr lang="en-US" sz="2000" b="1" dirty="0">
                <a:solidFill>
                  <a:srgbClr val="FF0000"/>
                </a:solidFill>
              </a:rPr>
              <a:t>0.825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(= </a:t>
            </a:r>
            <a:r>
              <a:rPr lang="en-US" sz="2000" b="1" dirty="0"/>
              <a:t>33/40</a:t>
            </a:r>
            <a:r>
              <a:rPr lang="en-US" sz="2000" dirty="0"/>
              <a:t>)?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9925" y="4403124"/>
            <a:ext cx="55852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 CF is an </a:t>
            </a:r>
            <a:r>
              <a:rPr lang="en-US" sz="2400" i="1" dirty="0"/>
              <a:t>encoding</a:t>
            </a:r>
            <a:r>
              <a:rPr lang="en-US" sz="2400" dirty="0"/>
              <a:t> scheme</a:t>
            </a:r>
          </a:p>
          <a:p>
            <a:pPr algn="ctr"/>
            <a:endParaRPr lang="en-US" sz="2000" b="1" dirty="0"/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0.825 = [0; 1, 4, 1, 2, 2]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All </a:t>
            </a:r>
            <a:r>
              <a:rPr lang="en-US" sz="2000" b="1" dirty="0">
                <a:solidFill>
                  <a:srgbClr val="0070C0"/>
                </a:solidFill>
              </a:rPr>
              <a:t>rational</a:t>
            </a:r>
            <a:r>
              <a:rPr lang="en-US" sz="2000" dirty="0"/>
              <a:t> numbers have a CF of </a:t>
            </a:r>
            <a:r>
              <a:rPr lang="en-US" sz="2000" b="1" u="sng" dirty="0"/>
              <a:t>finite</a:t>
            </a:r>
            <a:r>
              <a:rPr lang="en-US" sz="2000" dirty="0"/>
              <a:t> length!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6</a:t>
            </a:fld>
            <a:endParaRPr lang="en-US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628650" y="365127"/>
            <a:ext cx="7886700" cy="6303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latin typeface="+mn-lt"/>
              </a:rPr>
              <a:t>Continued Fractions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8C1C26-A145-4AEA-95F2-73806FB0B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579" y="1908895"/>
            <a:ext cx="6224842" cy="215758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1C24BC6-13F0-4ADB-BDFD-F3113DCC8AB9}"/>
              </a:ext>
            </a:extLst>
          </p:cNvPr>
          <p:cNvSpPr/>
          <p:nvPr/>
        </p:nvSpPr>
        <p:spPr>
          <a:xfrm>
            <a:off x="3937819" y="2220860"/>
            <a:ext cx="383458" cy="18456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31E0FF-BCEB-4C81-BBA7-265B96C84923}"/>
              </a:ext>
            </a:extLst>
          </p:cNvPr>
          <p:cNvSpPr/>
          <p:nvPr/>
        </p:nvSpPr>
        <p:spPr>
          <a:xfrm>
            <a:off x="5266078" y="5132439"/>
            <a:ext cx="589935" cy="3539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B31740A4-FD26-4C57-873B-D7B2D2DA7B4D}"/>
              </a:ext>
            </a:extLst>
          </p:cNvPr>
          <p:cNvCxnSpPr>
            <a:cxnSpLocks/>
            <a:stCxn id="7" idx="2"/>
            <a:endCxn id="10" idx="3"/>
          </p:cNvCxnSpPr>
          <p:nvPr/>
        </p:nvCxnSpPr>
        <p:spPr>
          <a:xfrm rot="16200000" flipH="1">
            <a:off x="4371310" y="3824716"/>
            <a:ext cx="1242941" cy="1726465"/>
          </a:xfrm>
          <a:prstGeom prst="bentConnector4">
            <a:avLst>
              <a:gd name="adj1" fmla="val 16776"/>
              <a:gd name="adj2" fmla="val 136306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713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8171A6-E50C-419D-B200-9018F8658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944" y="2231874"/>
            <a:ext cx="7368113" cy="25317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9373" y="1252151"/>
            <a:ext cx="5585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How do we expand (decode) a simple CF?</a:t>
            </a:r>
          </a:p>
          <a:p>
            <a:pPr algn="ctr"/>
            <a:r>
              <a:rPr lang="en-US" sz="2000" b="1" dirty="0">
                <a:solidFill>
                  <a:srgbClr val="FF0000"/>
                </a:solidFill>
              </a:rPr>
              <a:t>[0; 1, 4, 1, 2, 2] = ??</a:t>
            </a:r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1779373" y="5095102"/>
            <a:ext cx="558525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Each row gives a better and better</a:t>
            </a:r>
          </a:p>
          <a:p>
            <a:pPr algn="ctr"/>
            <a:r>
              <a:rPr lang="en-US" sz="2000" dirty="0"/>
              <a:t>approximation </a:t>
            </a:r>
            <a:r>
              <a:rPr lang="en-US" sz="2000" b="1" dirty="0"/>
              <a:t>(h / k)</a:t>
            </a:r>
            <a:r>
              <a:rPr lang="en-US" sz="2000" dirty="0"/>
              <a:t> to the original number </a:t>
            </a:r>
            <a:r>
              <a:rPr lang="en-US" sz="2000" b="1" dirty="0"/>
              <a:t>x</a:t>
            </a:r>
          </a:p>
          <a:p>
            <a:pPr algn="ctr"/>
            <a:endParaRPr lang="en-US" sz="2000" dirty="0"/>
          </a:p>
          <a:p>
            <a:pPr algn="ctr"/>
            <a:r>
              <a:rPr lang="en-US" sz="2000" b="1" dirty="0">
                <a:solidFill>
                  <a:srgbClr val="FF0000"/>
                </a:solidFill>
              </a:rPr>
              <a:t>[0; 1, 4, 1, 2, 2] = 0.825 </a:t>
            </a:r>
            <a:r>
              <a:rPr lang="en-US" sz="2000" dirty="0"/>
              <a:t>(= </a:t>
            </a:r>
            <a:r>
              <a:rPr lang="en-US" sz="2000" b="1" dirty="0"/>
              <a:t>33/40</a:t>
            </a:r>
            <a:r>
              <a:rPr lang="en-US" sz="2000" dirty="0"/>
              <a:t>)</a:t>
            </a:r>
          </a:p>
          <a:p>
            <a:pPr algn="ctr"/>
            <a:endParaRPr lang="en-US" sz="2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7</a:t>
            </a:fld>
            <a:endParaRPr lang="en-US" dirty="0"/>
          </a:p>
        </p:txBody>
      </p:sp>
      <p:cxnSp>
        <p:nvCxnSpPr>
          <p:cNvPr id="7" name="Connector: Elbow 6"/>
          <p:cNvCxnSpPr>
            <a:cxnSpLocks/>
            <a:stCxn id="11" idx="2"/>
            <a:endCxn id="15" idx="0"/>
          </p:cNvCxnSpPr>
          <p:nvPr/>
        </p:nvCxnSpPr>
        <p:spPr>
          <a:xfrm rot="5400000">
            <a:off x="2838166" y="1584856"/>
            <a:ext cx="1166005" cy="1813130"/>
          </a:xfrm>
          <a:prstGeom prst="bentConnector3">
            <a:avLst>
              <a:gd name="adj1" fmla="val 17113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628650" y="365127"/>
            <a:ext cx="7886700" cy="6303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latin typeface="+mn-lt"/>
              </a:rPr>
              <a:t>Continued Fractions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0C685B-DAB9-4C70-BB39-74BA7D506264}"/>
              </a:ext>
            </a:extLst>
          </p:cNvPr>
          <p:cNvSpPr/>
          <p:nvPr/>
        </p:nvSpPr>
        <p:spPr>
          <a:xfrm>
            <a:off x="2374493" y="3074424"/>
            <a:ext cx="280219" cy="16891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8D16B1D-35B3-4E48-99FB-FCBE30E6F582}"/>
                  </a:ext>
                </a:extLst>
              </p:cNvPr>
              <p:cNvSpPr txBox="1"/>
              <p:nvPr/>
            </p:nvSpPr>
            <p:spPr>
              <a:xfrm>
                <a:off x="6850273" y="1431507"/>
                <a:ext cx="1412759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8D16B1D-35B3-4E48-99FB-FCBE30E6F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0273" y="1431507"/>
                <a:ext cx="1412759" cy="6223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273F85D2-8BBB-4F66-83EB-A4B99312246A}"/>
              </a:ext>
            </a:extLst>
          </p:cNvPr>
          <p:cNvSpPr/>
          <p:nvPr/>
        </p:nvSpPr>
        <p:spPr>
          <a:xfrm>
            <a:off x="7975837" y="4505495"/>
            <a:ext cx="280219" cy="257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7ACE67BF-2AFA-4415-AF4F-72F2B49D5FD6}"/>
              </a:ext>
            </a:extLst>
          </p:cNvPr>
          <p:cNvCxnSpPr>
            <a:cxnSpLocks/>
            <a:stCxn id="18" idx="3"/>
            <a:endCxn id="19" idx="3"/>
          </p:cNvCxnSpPr>
          <p:nvPr/>
        </p:nvCxnSpPr>
        <p:spPr>
          <a:xfrm flipH="1">
            <a:off x="8256056" y="1742682"/>
            <a:ext cx="6976" cy="2891793"/>
          </a:xfrm>
          <a:prstGeom prst="bentConnector3">
            <a:avLst>
              <a:gd name="adj1" fmla="val -3276950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D36A320B-6470-47EC-B32C-16F97210245F}"/>
              </a:ext>
            </a:extLst>
          </p:cNvPr>
          <p:cNvSpPr/>
          <p:nvPr/>
        </p:nvSpPr>
        <p:spPr>
          <a:xfrm>
            <a:off x="3486156" y="1548582"/>
            <a:ext cx="1683154" cy="3598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32D0086-2BEA-4FC3-AFE0-4CF6DD2639F0}"/>
                  </a:ext>
                </a:extLst>
              </p:cNvPr>
              <p:cNvSpPr txBox="1"/>
              <p:nvPr/>
            </p:nvSpPr>
            <p:spPr>
              <a:xfrm>
                <a:off x="204950" y="504169"/>
                <a:ext cx="2331920" cy="461152"/>
              </a:xfrm>
              <a:prstGeom prst="rect">
                <a:avLst/>
              </a:prstGeom>
              <a:noFill/>
              <a:ln w="28575">
                <a:solidFill>
                  <a:srgbClr val="0070C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lang="en-US" sz="1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32D0086-2BEA-4FC3-AFE0-4CF6DD263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950" y="504169"/>
                <a:ext cx="2331920" cy="461152"/>
              </a:xfrm>
              <a:prstGeom prst="rect">
                <a:avLst/>
              </a:prstGeom>
              <a:blipFill>
                <a:blip r:embed="rId5"/>
                <a:stretch>
                  <a:fillRect l="-517"/>
                </a:stretch>
              </a:blipFill>
              <a:ln w="28575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2419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Cell 1 - </a:t>
            </a:r>
            <a:r>
              <a:rPr lang="en-US" sz="3200" b="1" dirty="0" err="1">
                <a:latin typeface="+mn-lt"/>
              </a:rPr>
              <a:t>continued_fractions.ipynb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9AB65C-67E0-4C9F-B708-3A0367DC304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72"/>
          <a:stretch/>
        </p:blipFill>
        <p:spPr>
          <a:xfrm>
            <a:off x="1476534" y="3582558"/>
            <a:ext cx="6072339" cy="2234076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2C557D6F-8369-4A57-B2C3-21DE554E5511}"/>
              </a:ext>
            </a:extLst>
          </p:cNvPr>
          <p:cNvGrpSpPr/>
          <p:nvPr/>
        </p:nvGrpSpPr>
        <p:grpSpPr>
          <a:xfrm>
            <a:off x="4416847" y="3524262"/>
            <a:ext cx="1076632" cy="369332"/>
            <a:chOff x="4968362" y="2079211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DCC4A75-2EB4-4298-9BC7-A4F385D1EC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60BA379-0382-4D9A-9B67-4E02CAD21D86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A49B21B-EC36-4D3F-93AF-7E80645011F1}"/>
              </a:ext>
            </a:extLst>
          </p:cNvPr>
          <p:cNvGrpSpPr/>
          <p:nvPr/>
        </p:nvGrpSpPr>
        <p:grpSpPr>
          <a:xfrm>
            <a:off x="2600968" y="3741453"/>
            <a:ext cx="1076632" cy="369332"/>
            <a:chOff x="4704120" y="2356972"/>
            <a:chExt cx="1076632" cy="369332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296144E-EC6A-4FED-B1D2-DDE7D1F100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9C02D82-B17E-4DFF-9782-904914EFB5F4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D77B976-426D-44FA-AED6-214773E40E88}"/>
              </a:ext>
            </a:extLst>
          </p:cNvPr>
          <p:cNvGrpSpPr/>
          <p:nvPr/>
        </p:nvGrpSpPr>
        <p:grpSpPr>
          <a:xfrm>
            <a:off x="4567402" y="4178786"/>
            <a:ext cx="1068643" cy="369332"/>
            <a:chOff x="3647644" y="4910075"/>
            <a:chExt cx="1068643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8037B5F-A32D-491D-AAEE-3834576161D1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2F805840-DA84-42CB-95D7-E4CB0FE81D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E0BF181-78C5-4231-A18D-184878CDEA23}"/>
              </a:ext>
            </a:extLst>
          </p:cNvPr>
          <p:cNvGrpSpPr/>
          <p:nvPr/>
        </p:nvGrpSpPr>
        <p:grpSpPr>
          <a:xfrm>
            <a:off x="3534096" y="4648644"/>
            <a:ext cx="1064340" cy="369332"/>
            <a:chOff x="3647644" y="5421073"/>
            <a:chExt cx="1064340" cy="36933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5CAAC69-BC90-441D-B512-2A26A4B7BA7B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6D68105-9FC5-4C0D-ABD3-017ED737BF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E2EF834-E3FB-4333-A918-7E0A3C3004AD}"/>
              </a:ext>
            </a:extLst>
          </p:cNvPr>
          <p:cNvGrpSpPr/>
          <p:nvPr/>
        </p:nvGrpSpPr>
        <p:grpSpPr>
          <a:xfrm>
            <a:off x="3235877" y="5077936"/>
            <a:ext cx="1068643" cy="369332"/>
            <a:chOff x="3647644" y="5359159"/>
            <a:chExt cx="1068643" cy="36933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B53E755-D3F2-4F49-8783-B7505B47D204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F98A3A07-C5CC-4B83-89E3-7CE92959E6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6DA29CEF-555B-466F-AF69-76B60B8E03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8938" y="1726282"/>
            <a:ext cx="5106124" cy="1271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120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16150D-9DB0-4E4D-A1D6-DFBF02A57BF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83"/>
          <a:stretch/>
        </p:blipFill>
        <p:spPr>
          <a:xfrm>
            <a:off x="1454048" y="1468581"/>
            <a:ext cx="6016009" cy="26383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Cell 1 - </a:t>
            </a:r>
            <a:r>
              <a:rPr lang="en-US" sz="3200" b="1" dirty="0" err="1">
                <a:latin typeface="+mn-lt"/>
              </a:rPr>
              <a:t>continued_fractions.ipynb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9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869568F-CD17-414A-9DD9-44788A50E80D}"/>
              </a:ext>
            </a:extLst>
          </p:cNvPr>
          <p:cNvGrpSpPr/>
          <p:nvPr/>
        </p:nvGrpSpPr>
        <p:grpSpPr>
          <a:xfrm>
            <a:off x="3173083" y="1419216"/>
            <a:ext cx="1076632" cy="369332"/>
            <a:chOff x="4968362" y="2079211"/>
            <a:chExt cx="1076632" cy="369332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F00DF02C-A84D-4909-8358-C0C5E4B330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AFA2A49-0C25-4E71-9E96-8833DA7B9F46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20AE4DE-C1B5-4511-8946-2D3A6CD50BCF}"/>
              </a:ext>
            </a:extLst>
          </p:cNvPr>
          <p:cNvGrpSpPr/>
          <p:nvPr/>
        </p:nvGrpSpPr>
        <p:grpSpPr>
          <a:xfrm>
            <a:off x="4167172" y="1849065"/>
            <a:ext cx="1076632" cy="369332"/>
            <a:chOff x="4704120" y="2356972"/>
            <a:chExt cx="1076632" cy="369332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E949C03-B022-4EBC-81BE-8E6F57D1B7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4C00437-F784-4C1A-8256-9C39AC777113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E222E1C-0961-4496-9072-A60D9B20D3CB}"/>
              </a:ext>
            </a:extLst>
          </p:cNvPr>
          <p:cNvGrpSpPr/>
          <p:nvPr/>
        </p:nvGrpSpPr>
        <p:grpSpPr>
          <a:xfrm>
            <a:off x="3327781" y="2287740"/>
            <a:ext cx="1068643" cy="369332"/>
            <a:chOff x="3647644" y="4910075"/>
            <a:chExt cx="1068643" cy="36933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6647595-0E60-43B0-9C8B-9359B479278E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0106484-F247-44FC-8983-9551113482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8CC2451-5D5E-4621-A0A6-ACDCEE2D26CE}"/>
              </a:ext>
            </a:extLst>
          </p:cNvPr>
          <p:cNvGrpSpPr/>
          <p:nvPr/>
        </p:nvGrpSpPr>
        <p:grpSpPr>
          <a:xfrm>
            <a:off x="4711634" y="2802748"/>
            <a:ext cx="1064340" cy="369332"/>
            <a:chOff x="3647644" y="5421073"/>
            <a:chExt cx="1064340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D7BC62A-447B-40E1-9988-FA6B05230293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B2C5136-AC05-458F-828A-E776BA8EC6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9DDF532-D0B2-4078-9684-781868A2401E}"/>
              </a:ext>
            </a:extLst>
          </p:cNvPr>
          <p:cNvGrpSpPr/>
          <p:nvPr/>
        </p:nvGrpSpPr>
        <p:grpSpPr>
          <a:xfrm>
            <a:off x="3132429" y="3807452"/>
            <a:ext cx="1068643" cy="369332"/>
            <a:chOff x="3647644" y="5359159"/>
            <a:chExt cx="1068643" cy="3693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CE7883E-A171-437E-901E-E26A9A9F3276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0D29F41-C4BD-4A5A-93DC-4CB5C58237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44CBB58A-8CDC-4431-B9D8-4776859F85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084" y="4217335"/>
            <a:ext cx="5308682" cy="24802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C8AF3CE-CA71-4675-AA38-589196F4665E}"/>
                  </a:ext>
                </a:extLst>
              </p:cNvPr>
              <p:cNvSpPr txBox="1"/>
              <p:nvPr/>
            </p:nvSpPr>
            <p:spPr>
              <a:xfrm>
                <a:off x="298273" y="4928267"/>
                <a:ext cx="2331920" cy="461152"/>
              </a:xfrm>
              <a:prstGeom prst="rect">
                <a:avLst/>
              </a:prstGeom>
              <a:noFill/>
              <a:ln w="28575">
                <a:solidFill>
                  <a:srgbClr val="0070C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lang="en-US" sz="1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C8AF3CE-CA71-4675-AA38-589196F466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273" y="4928267"/>
                <a:ext cx="2331920" cy="461152"/>
              </a:xfrm>
              <a:prstGeom prst="rect">
                <a:avLst/>
              </a:prstGeom>
              <a:blipFill>
                <a:blip r:embed="rId5"/>
                <a:stretch>
                  <a:fillRect l="-517"/>
                </a:stretch>
              </a:blipFill>
              <a:ln w="28575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5948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6520F3F-D735-437A-88EF-1B622EB74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650" y="1526240"/>
            <a:ext cx="6166701" cy="51177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Cell 1 - </a:t>
            </a:r>
            <a:r>
              <a:rPr lang="en-US" sz="3200" b="1" dirty="0" err="1">
                <a:latin typeface="+mn-lt"/>
              </a:rPr>
              <a:t>continued_fractions.ipynb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10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E7B74B-6428-49F6-898D-7C60FA3F8414}"/>
              </a:ext>
            </a:extLst>
          </p:cNvPr>
          <p:cNvSpPr txBox="1"/>
          <p:nvPr/>
        </p:nvSpPr>
        <p:spPr>
          <a:xfrm>
            <a:off x="322289" y="5296690"/>
            <a:ext cx="1963711" cy="923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All </a:t>
            </a:r>
            <a:r>
              <a:rPr lang="en-US" sz="1800" b="1" dirty="0">
                <a:solidFill>
                  <a:srgbClr val="0070C0"/>
                </a:solidFill>
              </a:rPr>
              <a:t>rational</a:t>
            </a:r>
            <a:r>
              <a:rPr lang="en-US" sz="1800" dirty="0"/>
              <a:t> numbers have a CF of </a:t>
            </a:r>
            <a:r>
              <a:rPr lang="en-US" sz="1800" b="1" u="sng" dirty="0"/>
              <a:t>finite</a:t>
            </a:r>
            <a:r>
              <a:rPr lang="en-US" sz="1800" dirty="0"/>
              <a:t> length!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52C0CA-FDA2-4874-9D55-635F497B75A6}"/>
              </a:ext>
            </a:extLst>
          </p:cNvPr>
          <p:cNvSpPr txBox="1"/>
          <p:nvPr/>
        </p:nvSpPr>
        <p:spPr>
          <a:xfrm>
            <a:off x="4087510" y="3731940"/>
            <a:ext cx="34890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We can encode a number into a CF, and then get the same number back when we decode that CF!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CCB17F-5059-4E53-8317-3E5C2F54E086}"/>
              </a:ext>
            </a:extLst>
          </p:cNvPr>
          <p:cNvSpPr/>
          <p:nvPr/>
        </p:nvSpPr>
        <p:spPr>
          <a:xfrm>
            <a:off x="2353456" y="4729397"/>
            <a:ext cx="4399613" cy="8394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17110B-8F4E-41E4-8AE1-E6A59C356935}"/>
              </a:ext>
            </a:extLst>
          </p:cNvPr>
          <p:cNvSpPr/>
          <p:nvPr/>
        </p:nvSpPr>
        <p:spPr>
          <a:xfrm>
            <a:off x="2353456" y="5758721"/>
            <a:ext cx="4399613" cy="8394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449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3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63827" y="935277"/>
            <a:ext cx="7216346" cy="578619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1.4142135623730950488016887242096980785696718753769480731766797379907324784621070388503875343276415727350138462309122970249248360558507372126441214970999358314132226659275055927557999505011527820605714701095599716059702745345968620147285174186408891986095523292304843087143214508397626036279952514079896872533965463318088296406206152583523950547457502877599617298355752203375318570113543746034084988471603868999706990048150305440277903164542478230684929369186215805784631115966687130130156185689872372352885092648612494977154218334204285686060146824720771435854874155657069677653720226485447015858801620758474922657226002085584466521458398893944370926591800311388246468157082630100594858704003186480342194897278290641045072636881313739855256117322040245091227700226941127573627280495738108967504018369868368450725799364729060762996941380475654823728997180326802474420629269124859052181004459842150591120249441341728531478105803603371077309182869314710171111683916581726889419758716582152128229518488472089694633862891562882765952635140542267653239694617511291602408715510135150455381287560052631468017127402653969470240300517495318862925631385188163478001569369176881852378684052287837629389214300655869568685964595155501644724509836896036887323114389415576651040883914292338113206052433629485317049915771756228549741438999188021762430965206564211827316726257539594717255934637238632261482742622208671155839599926521176252698917540988159348640083457085181472231814204070426509056532333398436457865796796519267292399875366617215982578860263363617827495994219403777753681426217738799194551397231274066898329989895386728822856378697749662519966583525776198939322845344735694794962952168891485492538904755828834526096524096542889394538646625744927556381964410316979833061852019379384940057156333720548068540575867999670121372239475821426306585132217408832382947287617393647467837431960001592188807347857617252211867490424977366929207311096369721608933708661156734585334833295254675851644710757848602463600834449114818587655554286455123314219926311332517970608436559704352856410087918500760361009159465670676883605571740076756905096136719401324935605240185999105062108163597726431380605467010293569971042425105781749531057255934984451126922780344913506637568747760283162829605532422426957534529028838768446429173282770888318087025339852338122749990812371892540726475367850304821591801886167108972869229201197599880703818543332536460211082299279293072871780799888099176741774108983060800326311816427988231171543638696617029999341616148786860180455055539869131151860103863753250045581860448040750241195184305674533683613674597374423988553285179308960373898915173195874134428817842125021916951875593444387396189314549999906107587049090260883517636224749757858858368037457931157339802099986622186949922595913276423619410592100328026149874566599688874067956167391859572888642473463585886864496822386006983352642799056283165613913942557649062065186021647263033362975075697870606606856498160092718709292153132368281356988937097416504474590960537472796524477094099241238710614470543986743647338477454819100872886222149589529591187892149179833981083788278153065562315810360648675873036014502273208829351341387227684176678436905294286984908384557445794095986260742499549168028530773989382960362133539875320509199893607513906444495768456993471276364507163279154701597733548638939423257277540038260274785674172580951416307159597849818009443560379390985590168272154034581581521004936662953448827107292396602321638238266612626830502572781169451035379371568823365932297823192986064679789864092085609558142614363631004615594332550474493975933999125419532300932175304476533964706627611661753518754646209676345587386164880198848497479264045065444896910040794211816925796857563784881498986416854994916357614484047021033989215342377037233353115645944389703653166721949049351882905806307401346862641672470110653463493916407146285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1"/>
              <p:cNvSpPr txBox="1">
                <a:spLocks/>
              </p:cNvSpPr>
              <p:nvPr/>
            </p:nvSpPr>
            <p:spPr>
              <a:xfrm>
                <a:off x="628650" y="365127"/>
                <a:ext cx="7886700" cy="63039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e>
                    </m:rad>
                  </m:oMath>
                </a14:m>
                <a:r>
                  <a:rPr lang="en-US" sz="3200" dirty="0">
                    <a:latin typeface="+mn-lt"/>
                  </a:rPr>
                  <a:t> to 3,600 digits </a:t>
                </a:r>
              </a:p>
            </p:txBody>
          </p:sp>
        </mc:Choice>
        <mc:Fallback xmlns="">
          <p:sp>
            <p:nvSpPr>
              <p:cNvPr id="5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65127"/>
                <a:ext cx="7886700" cy="630390"/>
              </a:xfrm>
              <a:prstGeom prst="rect">
                <a:avLst/>
              </a:prstGeom>
              <a:blipFill>
                <a:blip r:embed="rId2"/>
                <a:stretch>
                  <a:fillRect t="-12621" b="-242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1182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Cell 2 - </a:t>
            </a:r>
            <a:r>
              <a:rPr lang="en-US" sz="3200" b="1" dirty="0" err="1">
                <a:latin typeface="+mn-lt"/>
              </a:rPr>
              <a:t>continued_fractions.ipynb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145881-ACE8-4812-A17D-BC6329389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953" y="1648502"/>
            <a:ext cx="8238095" cy="15904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8192848-7987-45EE-8A5D-2E22FBF6F7F4}"/>
              </a:ext>
            </a:extLst>
          </p:cNvPr>
          <p:cNvSpPr/>
          <p:nvPr/>
        </p:nvSpPr>
        <p:spPr>
          <a:xfrm>
            <a:off x="2666219" y="2424690"/>
            <a:ext cx="187377" cy="1461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5EE39D-B150-44E3-AC99-296E9193D230}"/>
              </a:ext>
            </a:extLst>
          </p:cNvPr>
          <p:cNvSpPr/>
          <p:nvPr/>
        </p:nvSpPr>
        <p:spPr>
          <a:xfrm>
            <a:off x="3117069" y="2885065"/>
            <a:ext cx="187377" cy="1461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67A384-7025-42C2-9298-40C271D4CA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8825" y="3637299"/>
            <a:ext cx="5706351" cy="271905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3B1FA51-014F-48BB-8CF5-8954EAA87327}"/>
              </a:ext>
            </a:extLst>
          </p:cNvPr>
          <p:cNvSpPr/>
          <p:nvPr/>
        </p:nvSpPr>
        <p:spPr>
          <a:xfrm>
            <a:off x="3905250" y="2425159"/>
            <a:ext cx="3975100" cy="1461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5D58EB-DCDB-4012-8ADE-858341FAB83B}"/>
              </a:ext>
            </a:extLst>
          </p:cNvPr>
          <p:cNvSpPr/>
          <p:nvPr/>
        </p:nvSpPr>
        <p:spPr>
          <a:xfrm>
            <a:off x="907373" y="2757487"/>
            <a:ext cx="811452" cy="4204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63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701113" y="995517"/>
                <a:ext cx="5741773" cy="429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What is the simple CF encoding for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113</m:t>
                        </m:r>
                      </m:e>
                    </m:rad>
                  </m:oMath>
                </a14:m>
                <a:r>
                  <a:rPr lang="en-US" sz="2000" dirty="0"/>
                  <a:t> ?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1113" y="995517"/>
                <a:ext cx="5741773" cy="429092"/>
              </a:xfrm>
              <a:prstGeom prst="rect">
                <a:avLst/>
              </a:prstGeom>
              <a:blipFill>
                <a:blip r:embed="rId2"/>
                <a:stretch>
                  <a:fillRect b="-23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779373" y="5894172"/>
                <a:ext cx="5585255" cy="4976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𝟏𝟏𝟑</m:t>
                        </m:r>
                      </m:e>
                    </m:rad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= [10; {1,1,1,2,2,1,1,1,20}]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9373" y="5894172"/>
                <a:ext cx="5585255" cy="497637"/>
              </a:xfrm>
              <a:prstGeom prst="rect">
                <a:avLst/>
              </a:prstGeom>
              <a:blipFill rotWithShape="0">
                <a:blip r:embed="rId4"/>
                <a:stretch>
                  <a:fillRect t="-2439" b="-26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13</a:t>
            </a:fld>
            <a:endParaRPr lang="en-US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628650" y="365127"/>
            <a:ext cx="7886700" cy="6303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latin typeface="+mn-lt"/>
              </a:rPr>
              <a:t>Continued Fractions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8829C3-99BB-47BB-A077-62992F2D4B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2973" y="1507668"/>
            <a:ext cx="4438052" cy="435481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C2591D7-FD11-40B4-829A-CF907B43333A}"/>
              </a:ext>
            </a:extLst>
          </p:cNvPr>
          <p:cNvSpPr/>
          <p:nvPr/>
        </p:nvSpPr>
        <p:spPr>
          <a:xfrm>
            <a:off x="3554361" y="1954161"/>
            <a:ext cx="833284" cy="19467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CE5F8F-8E8A-4710-A208-196F40D674C8}"/>
              </a:ext>
            </a:extLst>
          </p:cNvPr>
          <p:cNvSpPr/>
          <p:nvPr/>
        </p:nvSpPr>
        <p:spPr>
          <a:xfrm>
            <a:off x="3554361" y="3905866"/>
            <a:ext cx="833284" cy="19467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llout: Bent Line 9">
            <a:extLst>
              <a:ext uri="{FF2B5EF4-FFF2-40B4-BE49-F238E27FC236}">
                <a16:creationId xmlns:a16="http://schemas.microsoft.com/office/drawing/2014/main" id="{E1A254F5-7615-4323-95D3-2D6BA4399C95}"/>
              </a:ext>
            </a:extLst>
          </p:cNvPr>
          <p:cNvSpPr/>
          <p:nvPr/>
        </p:nvSpPr>
        <p:spPr>
          <a:xfrm>
            <a:off x="7088443" y="5560141"/>
            <a:ext cx="1155905" cy="302342"/>
          </a:xfrm>
          <a:prstGeom prst="borderCallout2">
            <a:avLst>
              <a:gd name="adj1" fmla="val 118750"/>
              <a:gd name="adj2" fmla="val 32345"/>
              <a:gd name="adj3" fmla="val 204116"/>
              <a:gd name="adj4" fmla="val 7634"/>
              <a:gd name="adj5" fmla="val 207421"/>
              <a:gd name="adj6" fmla="val -39508"/>
            </a:avLst>
          </a:prstGeom>
          <a:solidFill>
            <a:schemeClr val="bg1"/>
          </a:solidFill>
          <a:ln w="28575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Period = 9</a:t>
            </a:r>
          </a:p>
        </p:txBody>
      </p:sp>
    </p:spTree>
    <p:extLst>
      <p:ext uri="{BB962C8B-B14F-4D97-AF65-F5344CB8AC3E}">
        <p14:creationId xmlns:p14="http://schemas.microsoft.com/office/powerpoint/2010/main" val="2368629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9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Cell 3 - </a:t>
            </a:r>
            <a:r>
              <a:rPr lang="en-US" sz="3200" b="1" dirty="0" err="1">
                <a:latin typeface="+mn-lt"/>
              </a:rPr>
              <a:t>continued_fractions.ipynb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C23023-EE22-43CA-AFCF-0C1FCC45F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191" y="1775887"/>
            <a:ext cx="8047619" cy="1552381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797DE12-0E58-4337-9FFB-5C5D0F6D8B93}"/>
                  </a:ext>
                </a:extLst>
              </p:cNvPr>
              <p:cNvSpPr txBox="1"/>
              <p:nvPr/>
            </p:nvSpPr>
            <p:spPr>
              <a:xfrm>
                <a:off x="1412114" y="4616117"/>
                <a:ext cx="5585255" cy="4976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𝟏𝟏𝟑</m:t>
                        </m:r>
                      </m:e>
                    </m:rad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= [10; {1,1,1,2,2,1,1,1,20}]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797DE12-0E58-4337-9FFB-5C5D0F6D8B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114" y="4616117"/>
                <a:ext cx="5585255" cy="497637"/>
              </a:xfrm>
              <a:prstGeom prst="rect">
                <a:avLst/>
              </a:prstGeom>
              <a:blipFill>
                <a:blip r:embed="rId4"/>
                <a:stretch>
                  <a:fillRect t="-2439" b="-26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allout: Bent Line 7">
            <a:extLst>
              <a:ext uri="{FF2B5EF4-FFF2-40B4-BE49-F238E27FC236}">
                <a16:creationId xmlns:a16="http://schemas.microsoft.com/office/drawing/2014/main" id="{E08B0B64-E351-4605-9C51-7D0D84845419}"/>
              </a:ext>
            </a:extLst>
          </p:cNvPr>
          <p:cNvSpPr/>
          <p:nvPr/>
        </p:nvSpPr>
        <p:spPr>
          <a:xfrm>
            <a:off x="6721184" y="4282086"/>
            <a:ext cx="1155905" cy="302342"/>
          </a:xfrm>
          <a:prstGeom prst="borderCallout2">
            <a:avLst>
              <a:gd name="adj1" fmla="val 118750"/>
              <a:gd name="adj2" fmla="val 32345"/>
              <a:gd name="adj3" fmla="val 204116"/>
              <a:gd name="adj4" fmla="val 7634"/>
              <a:gd name="adj5" fmla="val 207421"/>
              <a:gd name="adj6" fmla="val -39508"/>
            </a:avLst>
          </a:prstGeom>
          <a:solidFill>
            <a:schemeClr val="bg1"/>
          </a:solidFill>
          <a:ln w="28575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Period = 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0D7205-68C0-4B81-A814-F3E1364EAAE5}"/>
              </a:ext>
            </a:extLst>
          </p:cNvPr>
          <p:cNvSpPr/>
          <p:nvPr/>
        </p:nvSpPr>
        <p:spPr>
          <a:xfrm>
            <a:off x="3800007" y="2495862"/>
            <a:ext cx="4219731" cy="2153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C28FE5E-C6DB-4959-9387-A66E32E5805E}"/>
              </a:ext>
            </a:extLst>
          </p:cNvPr>
          <p:cNvCxnSpPr/>
          <p:nvPr/>
        </p:nvCxnSpPr>
        <p:spPr>
          <a:xfrm flipH="1">
            <a:off x="7780137" y="2136439"/>
            <a:ext cx="112184" cy="41154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2113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63827" y="829258"/>
            <a:ext cx="7216346" cy="578619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2.7182818284590452353602874713526624977572470936999595749669676277240766303535475945713821785251664274274663919320030599218174135966290435729003342952605956307381323286279434907632338298807531952510190115738341879307021540891499348841675092447614606680822648001684774118537423454424371075390777449920695517027618386062613313845830007520449338265602976067371132007093287091274437470472306969772093101416928368190255151086574637721112523897844250569536967707854499699679468644549059879316368892300987931277361782154249992295763514822082698951936680331825288693984964651058209392398294887933203625094431173012381970684161403970198376793206832823764648042953118023287825098194558153017567173613320698112509961818815930416903515988885193458072738667385894228792284998920868058257492796104841984443634632449684875602336248270419786232090021609902353043699418491463140934317381436405462531520961836908887070167683964243781405927145635490613031072085103837505101157477041718986106873969655212671546889570350354021234078498193343210681701210056278802351930332247450158539047304199577770935036604169973297250886876966403555707162268447162560798826517871341951246652010305921236677194325278675398558944896970964097545918569563802363701621120477427228364896134225164450781824423529486363721417402388934412479635743702637552944483379980161254922785092577825620926226483262779333865664816277251640191059004916449982893150566047258027786318641551956532442586982946959308019152987211725563475463964479101459040905862984967912874068705048958586717479854667757573205681288459205413340539220001137863009455606881667400169842055804033637953764520304024322566135278369511778838638744396625322498506549958862342818997077332761717839280349465014345588970719425863987727547109629537415211151368350627526023264847287039207643100595841166120545297030236472549296669381151373227536450988890313602057248176585118063036442812314965507047510254465011727211555194866850800368532281831521960037356252794495158284188294787610852639813955990067376482922443752871846245780361929819713991475644882626039033814418232625150974827987779964373089970388867782271383605772978824125611907176639465070633045279546618550966661856647097113444740160704626215680717481877844371436988218559670959102596862002353718588748569652200050311734392073211390803293634479727355955277349071783793421637012050054513263835440001863239914907054797780566978533580489669062951194324730995876552368128590413832411607226029983305353708761389396391779574540161372236187893652605381558415871869255386061647798340254351284396129460352913325942794904337299085731580290958631382683291477116396337092400316894586360606458459251269946557248391865642097526850823075442545993769170419777800853627309417101634349076964237222943523661255725088147792231519747780605696725380171807763603462459278778465850656050780844211529697521890874019660906651803516501792504619501366585436632712549639908549144200014574760819302212066024330096412704894390397177195180699086998606636583232278709376502260149291011517177635944602023249300280401867723910288097866605651183260043688508817157238669842242201024950551881694803221002515426494639812873677658927688163598312477886520141174110913601164995076629077943646005851941998560162647907615321038727557126992518275687989302761761146162549356495903798045838182323368612016243736569846703785853305275833337939907521660692380533698879565137285593883499894707416181550125397064648171946708348197214488898790676503795903669672494992545279033729636162658976039498576741397359441023744329709355477982629614591442936451428617158587339746791897571211956187385783644758448423555581050025611492391518893099463428413936080383091662818811503715284967059741625628236092168075150177725387402564253470879089137291722828611515915683725241630772254406337875931059826760944203261924285317018781772960235413060672136046000389661093647095141417185777014180606443636815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28650" y="365127"/>
            <a:ext cx="7886700" cy="6303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i="1" dirty="0">
                <a:solidFill>
                  <a:srgbClr val="FF0000"/>
                </a:solidFill>
                <a:latin typeface="+mn-lt"/>
              </a:rPr>
              <a:t>e</a:t>
            </a:r>
            <a:r>
              <a:rPr lang="en-US" sz="3200" dirty="0">
                <a:latin typeface="+mn-lt"/>
              </a:rPr>
              <a:t> to 3,600 digits </a:t>
            </a:r>
          </a:p>
        </p:txBody>
      </p:sp>
    </p:spTree>
    <p:extLst>
      <p:ext uri="{BB962C8B-B14F-4D97-AF65-F5344CB8AC3E}">
        <p14:creationId xmlns:p14="http://schemas.microsoft.com/office/powerpoint/2010/main" val="17970006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4154E09-A233-4575-921F-24426E3AD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054" y="1007683"/>
            <a:ext cx="4555997" cy="44705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976566" y="5684355"/>
                <a:ext cx="558525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= [2; {1,2n,1}] for n &gt; 0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en-US" sz="2400" b="1" baseline="30000" dirty="0">
                    <a:solidFill>
                      <a:srgbClr val="FF0000"/>
                    </a:solidFill>
                  </a:rPr>
                  <a:t>2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 = [7;2,{1,1,3n,12n+6,3n+2}] for n &gt; 0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6566" y="5684355"/>
                <a:ext cx="5585255" cy="830997"/>
              </a:xfrm>
              <a:prstGeom prst="rect">
                <a:avLst/>
              </a:prstGeom>
              <a:blipFill>
                <a:blip r:embed="rId3"/>
                <a:stretch>
                  <a:fillRect t="-583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cxnSpLocks/>
            <a:stCxn id="2" idx="2"/>
          </p:cNvCxnSpPr>
          <p:nvPr/>
        </p:nvCxnSpPr>
        <p:spPr>
          <a:xfrm>
            <a:off x="2266950" y="4134452"/>
            <a:ext cx="2144103" cy="16171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16</a:t>
            </a:fld>
            <a:endParaRPr lang="en-US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628650" y="365127"/>
            <a:ext cx="7886700" cy="6303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latin typeface="+mn-lt"/>
              </a:rPr>
              <a:t>Continued Fraction for </a:t>
            </a:r>
            <a:r>
              <a:rPr lang="en-US" sz="3200" b="1" i="1" dirty="0">
                <a:solidFill>
                  <a:srgbClr val="FF0000"/>
                </a:solidFill>
                <a:latin typeface="+mn-lt"/>
              </a:rPr>
              <a:t>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C00581-3003-4E8D-87EE-41A4BFBF9E78}"/>
              </a:ext>
            </a:extLst>
          </p:cNvPr>
          <p:cNvSpPr/>
          <p:nvPr/>
        </p:nvSpPr>
        <p:spPr>
          <a:xfrm>
            <a:off x="3362324" y="1454765"/>
            <a:ext cx="866775" cy="6724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B84AA9-8109-4EBB-8996-A3089EBA0C73}"/>
              </a:ext>
            </a:extLst>
          </p:cNvPr>
          <p:cNvSpPr/>
          <p:nvPr/>
        </p:nvSpPr>
        <p:spPr>
          <a:xfrm>
            <a:off x="3362324" y="2128274"/>
            <a:ext cx="866775" cy="6724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C08915-3B03-428C-A854-C24E974C9B05}"/>
              </a:ext>
            </a:extLst>
          </p:cNvPr>
          <p:cNvSpPr/>
          <p:nvPr/>
        </p:nvSpPr>
        <p:spPr>
          <a:xfrm>
            <a:off x="3362324" y="2788458"/>
            <a:ext cx="866775" cy="6724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C8AA56-590C-48AD-B10F-69011942F319}"/>
              </a:ext>
            </a:extLst>
          </p:cNvPr>
          <p:cNvSpPr/>
          <p:nvPr/>
        </p:nvSpPr>
        <p:spPr>
          <a:xfrm>
            <a:off x="3362323" y="3461967"/>
            <a:ext cx="866775" cy="6724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28650" y="3211122"/>
            <a:ext cx="3276600" cy="92333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All </a:t>
            </a:r>
            <a:r>
              <a:rPr lang="en-US" b="1" dirty="0">
                <a:solidFill>
                  <a:srgbClr val="0070C0"/>
                </a:solidFill>
              </a:rPr>
              <a:t>transcendental numbers </a:t>
            </a:r>
            <a:r>
              <a:rPr lang="en-US" b="1" dirty="0"/>
              <a:t>yield an infinite CF with a repeated </a:t>
            </a:r>
            <a:r>
              <a:rPr lang="en-US" b="1" i="1" dirty="0">
                <a:solidFill>
                  <a:srgbClr val="FF0000"/>
                </a:solidFill>
              </a:rPr>
              <a:t>pattern</a:t>
            </a:r>
            <a:r>
              <a:rPr lang="en-US" b="1" i="1" dirty="0"/>
              <a:t> </a:t>
            </a:r>
            <a:r>
              <a:rPr lang="en-US" b="1" dirty="0"/>
              <a:t>of finite length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626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The Golden Ratio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17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999" y="2228943"/>
            <a:ext cx="2749010" cy="15883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102110" y="4325946"/>
                <a:ext cx="2047292" cy="1070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110" y="4325946"/>
                <a:ext cx="2047292" cy="107061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309327" y="5222242"/>
                <a:ext cx="4206023" cy="7783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=1.6180339887…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327" y="5222242"/>
                <a:ext cx="4206023" cy="77835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102110" y="5299315"/>
                <a:ext cx="2045625" cy="7012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1+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110" y="5299315"/>
                <a:ext cx="2045625" cy="70128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145882" y="2775003"/>
                <a:ext cx="1502398" cy="7564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1+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5882" y="2775003"/>
                <a:ext cx="1502398" cy="75642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145882" y="3801278"/>
                <a:ext cx="158068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+1=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5882" y="3801278"/>
                <a:ext cx="1580689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4247" t="-1667" r="-115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396061" y="4604798"/>
                <a:ext cx="21166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6061" y="4604798"/>
                <a:ext cx="2116669" cy="369332"/>
              </a:xfrm>
              <a:prstGeom prst="rect">
                <a:avLst/>
              </a:prstGeom>
              <a:blipFill rotWithShape="0">
                <a:blip r:embed="rId9"/>
                <a:stretch>
                  <a:fillRect l="-3170" r="-317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/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458" y="365126"/>
            <a:ext cx="2350164" cy="152173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2100" y="365126"/>
            <a:ext cx="1902163" cy="152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80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4" grpId="0"/>
      <p:bldP spid="15" grpId="0"/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523" y="1611618"/>
            <a:ext cx="6586954" cy="379096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468989" y="378921"/>
                <a:ext cx="4206023" cy="7783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=1.6180339887…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989" y="378921"/>
                <a:ext cx="4206023" cy="77835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17" y="1958980"/>
            <a:ext cx="7708966" cy="344359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9328" y="2956268"/>
            <a:ext cx="5066346" cy="322798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1242" y="1501140"/>
            <a:ext cx="3700975" cy="457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562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468989" y="378921"/>
                <a:ext cx="4206023" cy="7783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=1.6180339887…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989" y="378921"/>
                <a:ext cx="4206023" cy="77835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150" y="1499610"/>
            <a:ext cx="4155299" cy="34533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3920" y="1499610"/>
            <a:ext cx="4013330" cy="334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7775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468989" y="378921"/>
                <a:ext cx="4206023" cy="7783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=1.6180339887…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989" y="378921"/>
                <a:ext cx="4206023" cy="77835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332" y="1490787"/>
            <a:ext cx="6863335" cy="487318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2748848-7674-4E9D-ACC6-C6EE93E5A2F7}"/>
              </a:ext>
            </a:extLst>
          </p:cNvPr>
          <p:cNvSpPr/>
          <p:nvPr/>
        </p:nvSpPr>
        <p:spPr>
          <a:xfrm>
            <a:off x="3267857" y="2564606"/>
            <a:ext cx="2454288" cy="4881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26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63827" y="948720"/>
            <a:ext cx="7216346" cy="53245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1.6180339887498948482045868343656381177203091798057628621354486227052604628189024497072072041893911374847540880753868917521266338622235369317931800607667263544333890865959395829056383226613199282902678806752087668925017116962070322210432162695486262963136144381497587012203408058879544547492461856953648644492410443207713449470495658467885098743394422125448770664780915884607499887124007652170575179788341662562494075890697040002812104276217711177780531531714101170466659914669798731761356006708748071013179523689427521948435305678300228785699782977834784587822891109762500302696156170025046433824377648610283831268330372429267526311653392473167111211588186385133162038400522216579128667529465490681131715993432359734949850904094762132229810172610705961164562990981629055520852479035240602017279974717534277759277862561943208275051312181562855122248093947123414517022373580577278616008688382952304592647878017889921990270776903895321968198615143780314997411069260886742962267575605231727775203536139362107673893764556060605921658946675955190040055590895022953094231248235521221241544400647034056573479766397239494994658457887303962309037503399385621024236902513868041457799569812244574717803417312645322041639723213404444948730231541767689375210306873788034417009395440962795589867872320951242689355730970450959568440175551988192180206405290551893494759260073485228210108819464454422231889131929468962200230144377026992300780308526118075451928877050210968424936271359251876077788466583615023891349333312231053392321362431926372891067050339928226526355620902979864247275977256550861548754357482647181414512700060238901620777322449943530889990950168032811219432048196438767586331479857191139781539780747615077221175082694586393204565209896985556781410696837288405874610337810544439094368358358138113116899385557697548414914453415091295407005019477548616307542264172939468036731980586183391832859913039607201445595044977921207612478564591616083705949878600697018940988640076443617093341727091914336501371576601148038143062623805143211734815100559013456101180079050638142152709308588092875703450507808145458819906336129827981411745339273120809289727922213298064294687824274874017450554067787570832373109759151177629784432847479081765180977872684161176325038612112914368343767023503711163307258698832587103363222381098090121101989917684149175123313401527338438372345009347860497929459915822012581045982309255287212413704361491020547185549611808764265765110605458814756044317847985845397312863016254487611485202170644041116607669505977578325703951108782308271064789390211156910392768384538633332156582965977310343603232254574363720412440640888267375843395367959312322134373209957498894699565647360072959998391288103197426312517971414320123112795518947781726914158911779919564812558001845506563295285985910009086218029775637892599916499464281930222935523466747593269516542140210913630181947227078901220872873617073486499981562554728113734798716569527489008144384053274837813782466917444229634914708157007352545707089772675469343822619546861533120953357923801460927351021011919021836067509730895752895774681422954339438549315533963038072916917584610146099505506480367930414723657203986007355076090231731250161320484358364817704848181099160244252327167219018933459637860878752870173935930301335901123710239171265904702634940283076687674363865132710628032317406931733448234356453185058135310854973335075996677871244905836367541328908624063245639535721252426117027802865604323494283730172557440583727826799603173936401328762770124367983114464369476705312724924104716700138247831286565064934341803900410178053395058772458665575522939158239708417729833728231152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1"/>
              <p:cNvSpPr txBox="1">
                <a:spLocks/>
              </p:cNvSpPr>
              <p:nvPr/>
            </p:nvSpPr>
            <p:spPr>
              <a:xfrm>
                <a:off x="628650" y="365127"/>
                <a:ext cx="7886700" cy="63039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r>
                      <a:rPr lang="en-US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en-US" sz="3200" dirty="0">
                    <a:latin typeface="+mn-lt"/>
                  </a:rPr>
                  <a:t> to 3,600 digits </a:t>
                </a:r>
              </a:p>
            </p:txBody>
          </p:sp>
        </mc:Choice>
        <mc:Fallback xmlns="">
          <p:sp>
            <p:nvSpPr>
              <p:cNvPr id="5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65127"/>
                <a:ext cx="7886700" cy="630390"/>
              </a:xfrm>
              <a:prstGeom prst="rect">
                <a:avLst/>
              </a:prstGeom>
              <a:blipFill>
                <a:blip r:embed="rId2"/>
                <a:stretch>
                  <a:fillRect t="-19417" b="-174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71955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Cell 4 - </a:t>
            </a:r>
            <a:r>
              <a:rPr lang="en-US" sz="3200" b="1" dirty="0" err="1">
                <a:latin typeface="+mn-lt"/>
              </a:rPr>
              <a:t>continued_fractions.ipynb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29FC491-DAC1-4B2D-A3C2-542DE8187B98}"/>
                  </a:ext>
                </a:extLst>
              </p:cNvPr>
              <p:cNvSpPr/>
              <p:nvPr/>
            </p:nvSpPr>
            <p:spPr>
              <a:xfrm>
                <a:off x="4609260" y="3327304"/>
                <a:ext cx="3473066" cy="7409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ad>
                            <m:radPr>
                              <m:degHide m:val="on"/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=1.6180339887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29FC491-DAC1-4B2D-A3C2-542DE8187B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9260" y="3327304"/>
                <a:ext cx="3473066" cy="7409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EF846709-D465-402A-A9EE-B56E5B29BA3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285" r="10558" b="13676"/>
          <a:stretch/>
        </p:blipFill>
        <p:spPr>
          <a:xfrm>
            <a:off x="854476" y="3372545"/>
            <a:ext cx="2836004" cy="30602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7457D8-9F55-4C79-9772-6DC9AC21F397}"/>
                  </a:ext>
                </a:extLst>
              </p:cNvPr>
              <p:cNvSpPr txBox="1"/>
              <p:nvPr/>
            </p:nvSpPr>
            <p:spPr>
              <a:xfrm>
                <a:off x="4873280" y="4401456"/>
                <a:ext cx="2945027" cy="707886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en-US" sz="4000" b="1" dirty="0">
                    <a:solidFill>
                      <a:srgbClr val="FF0000"/>
                    </a:solidFill>
                  </a:rPr>
                  <a:t> = [1; {1}]</a:t>
                </a:r>
                <a:endParaRPr lang="en-US" sz="4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7457D8-9F55-4C79-9772-6DC9AC21F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3280" y="4401456"/>
                <a:ext cx="2945027" cy="707886"/>
              </a:xfrm>
              <a:prstGeom prst="rect">
                <a:avLst/>
              </a:prstGeom>
              <a:blipFill>
                <a:blip r:embed="rId5"/>
                <a:stretch>
                  <a:fillRect t="-12295" b="-31967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D5610085-1FC1-46AA-ADEE-CC06FD0B0027}"/>
              </a:ext>
            </a:extLst>
          </p:cNvPr>
          <p:cNvSpPr/>
          <p:nvPr/>
        </p:nvSpPr>
        <p:spPr>
          <a:xfrm>
            <a:off x="3982748" y="5608569"/>
            <a:ext cx="4164406" cy="824265"/>
          </a:xfrm>
          <a:prstGeom prst="wedgeRectCallout">
            <a:avLst>
              <a:gd name="adj1" fmla="val -1084"/>
              <a:gd name="adj2" fmla="val -12111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This is Mother Nature’s true </a:t>
            </a:r>
            <a:r>
              <a:rPr lang="en-US" sz="2000" b="1" i="1" dirty="0">
                <a:solidFill>
                  <a:schemeClr val="tx1"/>
                </a:solidFill>
              </a:rPr>
              <a:t>Unit</a:t>
            </a:r>
          </a:p>
          <a:p>
            <a:pPr algn="ctr"/>
            <a:r>
              <a:rPr lang="en-US" sz="2000" dirty="0"/>
              <a:t>It is the simplest infinite CF possible!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BC4441-B66D-4931-AD7F-A2A715695B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736" y="1520646"/>
            <a:ext cx="8219048" cy="166666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851436E-851F-4058-B8EF-4BEC44519D86}"/>
              </a:ext>
            </a:extLst>
          </p:cNvPr>
          <p:cNvSpPr/>
          <p:nvPr/>
        </p:nvSpPr>
        <p:spPr>
          <a:xfrm>
            <a:off x="3807502" y="2287670"/>
            <a:ext cx="4114800" cy="2166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78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8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63827" y="935277"/>
            <a:ext cx="7216346" cy="578619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3.141592653589793238462643383279502884197169399375105820974944592307816406286208998628034825342117067982148086513282306647093844609550582231725359408128481117450284102701938521105559644622948954930381964428810975665933446128475648233786783165271201909145648566923460348610454326648213393607260249141273724587006606315588174881520920962829254091715364367892590360011330530548820466521384146951941511609433057270365759591953092186117381932611793105118548074462379962749567351885752724891227938183011949129833673362440656643086021394946395224737190702179860943702770539217176293176752384674818467669405132000568127145263560827785771342757789609173637178721468440901224953430146549585371050792279689258923542019956112129021960864034418159813629774771309960518707211349999998372978049951059731732816096318595024459455346908302642522308253344685035261931188171010003137838752886587533208381420617177669147303598253490428755468731159562863882353787593751957781857780532171226806613001927876611195909216420198938095257201065485863278865936153381827968230301952035301852968995773622599413891249721775283479131515574857242454150695950829533116861727855889075098381754637464939319255060400927701671139009848824012858361603563707660104710181942955596198946767837449448255379774726847104047534646208046684259069491293313677028989152104752162056966024058038150193511253382430035587640247496473263914199272604269922796782354781636009341721641219924586315030286182974555706749838505494588586926995690927210797509302955321165344987202755960236480665499119881834797753566369807426542527862551818417574672890977772793800081647060016145249192173217214772350141441973568548161361157352552133475741849468438523323907394143334547762416862518983569485562099219222184272550254256887671790494601653466804988627232791786085784383827967976681454100953883786360950680064225125205117392984896084128488626945604241965285022210661186306744278622039194945047123713786960956364371917287467764657573962413890865832645995813390478027590099465764078951269468398352595709825822620522489407726719478268482601476990902640136394437455305068203496252451749399651431429809190659250937221696461515709858387410597885959772975498930161753928468138268683868942774155991855925245953959431049972524680845987273644695848653836736222626099124608051243884390451244136549762780797715691435997700129616089441694868555848406353422072225828488648158456028506016842739452267467678895252138522549954666727823986456596116354886230577456498035593634568174324112515076069479451096596094025228879710893145669136867228748940560101503308617928680920874760917824938589009714909675985261365549781893129784821682998948722658804857564014270477555132379641451523746234364542858444795265867821051141354735739523113427166102135969536231442952484937187110145765403590279934403742007310578539062198387447808478489683321445713868751943506430218453191048481005370614680674919278191197939952061419663428754440643745123718192179998391015919561814675142691239748940907186494231961567945208095146550225231603881930142093762137855956638937787083039069792077346722182562599661501421503068038447734549202605414665925201497442850732518666002132434088190710486331734649651453905796268561005508106658796998163574736384052571459102897064140110971206280439039759515677157700420337869936007230558763176359421873125147120532928191826186125867321579198414848829164470609575270695722091756711672291098169091528017350671274858322287183520935396572512108357915136988209144421006751033467110314126711136990865851639831501970165151168517143765761835155650884909989859982387345528331635507647918535893226185489632132933089857064204675259070915481416549859461637180270981994309924488957571282890592323326097299712084433573265489382391193259746366730583604142813883032038249037589852437441702913276561809377344403070746921120191302033038019762110110044929321516084244485963766983895228684783123552658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1"/>
              <p:cNvSpPr txBox="1">
                <a:spLocks/>
              </p:cNvSpPr>
              <p:nvPr/>
            </p:nvSpPr>
            <p:spPr>
              <a:xfrm>
                <a:off x="628650" y="365127"/>
                <a:ext cx="7886700" cy="63039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r>
                      <a:rPr lang="en-US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US" sz="3200" dirty="0">
                    <a:latin typeface="+mn-lt"/>
                  </a:rPr>
                  <a:t> to 3,600 digits </a:t>
                </a:r>
              </a:p>
            </p:txBody>
          </p:sp>
        </mc:Choice>
        <mc:Fallback xmlns="">
          <p:sp>
            <p:nvSpPr>
              <p:cNvPr id="5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65127"/>
                <a:ext cx="7886700" cy="630390"/>
              </a:xfrm>
              <a:prstGeom prst="rect">
                <a:avLst/>
              </a:prstGeom>
              <a:blipFill>
                <a:blip r:embed="rId2"/>
                <a:stretch>
                  <a:fillRect t="-19417" b="-174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95735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069757" y="181234"/>
            <a:ext cx="50044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Continued Fractions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701114" y="766116"/>
                <a:ext cx="57417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What is the simple CF encoding for </a:t>
                </a:r>
                <a14:m>
                  <m:oMath xmlns:m="http://schemas.openxmlformats.org/officeDocument/2006/math">
                    <m:r>
                      <a:rPr lang="el-GR" sz="2000" b="1" i="1" dirty="0" smtClean="0"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US" sz="2000" dirty="0"/>
                  <a:t> ?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1114" y="766116"/>
                <a:ext cx="5741773" cy="400110"/>
              </a:xfrm>
              <a:prstGeom prst="rect">
                <a:avLst/>
              </a:prstGeom>
              <a:blipFill>
                <a:blip r:embed="rId2"/>
                <a:stretch>
                  <a:fillRect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779373" y="5894172"/>
                <a:ext cx="558525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l-GR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 = [3;7,15,1,292,1,1,1,2,1,3,1,14,3,3,23,1,1,7….] (no repeated </a:t>
                </a:r>
                <a:r>
                  <a:rPr lang="en-US" sz="2000" b="1" i="1" dirty="0">
                    <a:solidFill>
                      <a:srgbClr val="FF0000"/>
                    </a:solidFill>
                  </a:rPr>
                  <a:t>pattern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 of finite length </a:t>
                </a:r>
                <a:r>
                  <a:rPr lang="en-US" sz="20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!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)</a:t>
                </a:r>
                <a:endParaRPr lang="en-US" sz="2000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9373" y="5894172"/>
                <a:ext cx="5585255" cy="707886"/>
              </a:xfrm>
              <a:prstGeom prst="rect">
                <a:avLst/>
              </a:prstGeom>
              <a:blipFill rotWithShape="0">
                <a:blip r:embed="rId3"/>
                <a:stretch>
                  <a:fillRect t="-517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91FE78-A6B8-40E9-971E-8E96FA05C7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3240" y="1322337"/>
            <a:ext cx="4537520" cy="4452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742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CCCF48-CFF1-4380-B2FF-A56282D1B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075" y="856116"/>
            <a:ext cx="6949851" cy="369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69757" y="181234"/>
            <a:ext cx="50044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Continued Fractions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8908" y="4741751"/>
            <a:ext cx="71148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If measuring the circumference of Earth:</a:t>
            </a:r>
          </a:p>
          <a:p>
            <a:r>
              <a:rPr lang="en-US" dirty="0"/>
              <a:t>22 / 7 = accurate to between NYC and Washington, DC</a:t>
            </a:r>
          </a:p>
          <a:p>
            <a:r>
              <a:rPr lang="en-US" dirty="0"/>
              <a:t>355 / 113 = accurate to 100m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4108" y="5739810"/>
            <a:ext cx="53251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If measuring the distance between Earth &amp; Sun:</a:t>
            </a:r>
          </a:p>
          <a:p>
            <a:r>
              <a:rPr lang="en-US" dirty="0"/>
              <a:t>355 / 113 = accurate to 400m</a:t>
            </a:r>
          </a:p>
          <a:p>
            <a:r>
              <a:rPr lang="en-US" dirty="0"/>
              <a:t>104348 / 33215 = accurate to 10cm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642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944620" y="4880005"/>
            <a:ext cx="5254760" cy="1247522"/>
            <a:chOff x="3385333" y="4960410"/>
            <a:chExt cx="5358860" cy="1247522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85333" y="4960410"/>
              <a:ext cx="2373334" cy="124752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/>
                <p:cNvSpPr txBox="1"/>
                <p:nvPr/>
              </p:nvSpPr>
              <p:spPr>
                <a:xfrm>
                  <a:off x="6339847" y="5313700"/>
                  <a:ext cx="2404346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In a </a:t>
                  </a:r>
                  <a:r>
                    <a:rPr lang="en-US" b="1" i="1" dirty="0"/>
                    <a:t>simple</a:t>
                  </a:r>
                  <a:r>
                    <a:rPr lang="en-US" dirty="0"/>
                    <a:t> CF all the numerators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" name="TextBox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9847" y="5313700"/>
                  <a:ext cx="2404346" cy="646331"/>
                </a:xfrm>
                <a:prstGeom prst="rect">
                  <a:avLst/>
                </a:prstGeom>
                <a:blipFill>
                  <a:blip r:embed="rId3"/>
                  <a:stretch>
                    <a:fillRect l="-2067" t="-4673" b="-1308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Down Arrow 3"/>
            <p:cNvSpPr/>
            <p:nvPr/>
          </p:nvSpPr>
          <p:spPr>
            <a:xfrm rot="5400000">
              <a:off x="5856636" y="5373917"/>
              <a:ext cx="326574" cy="522513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26</a:t>
            </a:fld>
            <a:endParaRPr lang="en-US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628650" y="365127"/>
            <a:ext cx="7886700" cy="6303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latin typeface="+mn-lt"/>
              </a:rPr>
              <a:t>Generalized Continued Fractions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5FF54EA-7D06-4DAA-AE6E-1B2BFCC4DA29}"/>
                  </a:ext>
                </a:extLst>
              </p:cNvPr>
              <p:cNvSpPr txBox="1"/>
              <p:nvPr/>
            </p:nvSpPr>
            <p:spPr>
              <a:xfrm>
                <a:off x="2540547" y="1354234"/>
                <a:ext cx="4045082" cy="16746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⋱</m:t>
                                  </m:r>
                                </m:den>
                              </m:f>
                            </m:den>
                          </m:f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5FF54EA-7D06-4DAA-AE6E-1B2BFCC4DA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547" y="1354234"/>
                <a:ext cx="4045082" cy="16746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ED030DB-4DE8-4AE4-8399-F823F94492DB}"/>
                  </a:ext>
                </a:extLst>
              </p:cNvPr>
              <p:cNvSpPr txBox="1"/>
              <p:nvPr/>
            </p:nvSpPr>
            <p:spPr>
              <a:xfrm>
                <a:off x="1747684" y="3313636"/>
                <a:ext cx="564863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rgbClr val="0070C0"/>
                    </a:solidFill>
                  </a:rPr>
                  <a:t>In a </a:t>
                </a:r>
                <a:r>
                  <a:rPr lang="en-US" sz="2400" u="sng" dirty="0">
                    <a:solidFill>
                      <a:srgbClr val="0070C0"/>
                    </a:solidFill>
                  </a:rPr>
                  <a:t>generalized</a:t>
                </a:r>
                <a:r>
                  <a:rPr lang="en-US" sz="2400" dirty="0">
                    <a:solidFill>
                      <a:srgbClr val="0070C0"/>
                    </a:solidFill>
                  </a:rPr>
                  <a:t> continued fraction,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70C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70C0"/>
                    </a:solidFill>
                  </a:rPr>
                  <a:t> can now be </a:t>
                </a:r>
                <a:r>
                  <a:rPr lang="en-US" sz="2400" i="1" dirty="0">
                    <a:solidFill>
                      <a:srgbClr val="0070C0"/>
                    </a:solidFill>
                  </a:rPr>
                  <a:t>any</a:t>
                </a:r>
                <a:r>
                  <a:rPr lang="en-US" sz="2400" dirty="0">
                    <a:solidFill>
                      <a:srgbClr val="0070C0"/>
                    </a:solidFill>
                  </a:rPr>
                  <a:t> expression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ED030DB-4DE8-4AE4-8399-F823F9449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7684" y="3313636"/>
                <a:ext cx="5648632" cy="830997"/>
              </a:xfrm>
              <a:prstGeom prst="rect">
                <a:avLst/>
              </a:prstGeom>
              <a:blipFill>
                <a:blip r:embed="rId5"/>
                <a:stretch>
                  <a:fillRect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1487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415012" y="1305466"/>
                <a:ext cx="63139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What is a 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generalized</a:t>
                </a:r>
                <a:r>
                  <a:rPr lang="en-US" sz="2000" dirty="0"/>
                  <a:t> CF encoding for </a:t>
                </a:r>
                <a14:m>
                  <m:oMath xmlns:m="http://schemas.openxmlformats.org/officeDocument/2006/math">
                    <m:r>
                      <a:rPr lang="el-GR" sz="2000" b="1" i="1" dirty="0" smtClean="0"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US" sz="2000" dirty="0"/>
                  <a:t> ?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012" y="1305466"/>
                <a:ext cx="6313973" cy="400110"/>
              </a:xfrm>
              <a:prstGeom prst="rect">
                <a:avLst/>
              </a:prstGeom>
              <a:blipFill>
                <a:blip r:embed="rId2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27</a:t>
            </a:fld>
            <a:endParaRPr lang="en-US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628650" y="365127"/>
            <a:ext cx="7886700" cy="6303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latin typeface="+mn-lt"/>
              </a:rPr>
              <a:t>Generalized Continued Fractions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2B90AD3-AED2-4579-9DC5-612C77CFFDD0}"/>
                  </a:ext>
                </a:extLst>
              </p:cNvPr>
              <p:cNvSpPr txBox="1"/>
              <p:nvPr/>
            </p:nvSpPr>
            <p:spPr>
              <a:xfrm>
                <a:off x="2551314" y="2279112"/>
                <a:ext cx="4041363" cy="20835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=3+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6+</m:t>
                          </m:r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6+</m:t>
                              </m:r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6+</m:t>
                                  </m:r>
                                  <m:f>
                                    <m:f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7</m:t>
                                          </m:r>
                                        </m:e>
                                        <m:sup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6+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⋱</m:t>
                                      </m:r>
                                    </m:den>
                                  </m:f>
                                </m:den>
                              </m:f>
                            </m:den>
                          </m:f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2B90AD3-AED2-4579-9DC5-612C77CFF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1314" y="2279112"/>
                <a:ext cx="4041363" cy="20835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7AA3DAC-45AE-4BCA-B48B-08A3657BADAA}"/>
                  </a:ext>
                </a:extLst>
              </p:cNvPr>
              <p:cNvSpPr txBox="1"/>
              <p:nvPr/>
            </p:nvSpPr>
            <p:spPr>
              <a:xfrm>
                <a:off x="1779369" y="5107878"/>
                <a:ext cx="5585255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l-GR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= [3; 1, {(2n+1)</a:t>
                </a:r>
                <a:r>
                  <a:rPr lang="en-US" sz="2400" b="1" baseline="30000" dirty="0">
                    <a:solidFill>
                      <a:srgbClr val="FF0000"/>
                    </a:solidFill>
                  </a:rPr>
                  <a:t>2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|6}]</a:t>
                </a:r>
              </a:p>
              <a:p>
                <a:pPr algn="ctr"/>
                <a:endParaRPr lang="en-US" sz="2000" b="1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2000" dirty="0"/>
                  <a:t>All the mysterious and unpredictable digits of PI come from this simple generalized CF !!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7AA3DAC-45AE-4BCA-B48B-08A3657BA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9369" y="5107878"/>
                <a:ext cx="5585255" cy="1384995"/>
              </a:xfrm>
              <a:prstGeom prst="rect">
                <a:avLst/>
              </a:prstGeom>
              <a:blipFill>
                <a:blip r:embed="rId4"/>
                <a:stretch>
                  <a:fillRect t="-3524" b="-7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4CEF2F71-1174-4ED2-8C33-7498E144D1EB}"/>
              </a:ext>
            </a:extLst>
          </p:cNvPr>
          <p:cNvGrpSpPr/>
          <p:nvPr/>
        </p:nvGrpSpPr>
        <p:grpSpPr>
          <a:xfrm>
            <a:off x="555979" y="3163155"/>
            <a:ext cx="1993491" cy="1937171"/>
            <a:chOff x="555979" y="2912434"/>
            <a:chExt cx="1993491" cy="1937171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30B14179-25FB-4418-84C4-D9B03BB50D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5979" y="3235874"/>
              <a:ext cx="1993491" cy="1613731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E7E2A4F-A087-4FF6-9985-83EE8A2FEC90}"/>
                </a:ext>
              </a:extLst>
            </p:cNvPr>
            <p:cNvSpPr txBox="1"/>
            <p:nvPr/>
          </p:nvSpPr>
          <p:spPr>
            <a:xfrm>
              <a:off x="555979" y="2912434"/>
              <a:ext cx="19934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Euler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BCDA1E8-0DC1-4C65-BF9D-0FC215EB4062}"/>
              </a:ext>
            </a:extLst>
          </p:cNvPr>
          <p:cNvGrpSpPr/>
          <p:nvPr/>
        </p:nvGrpSpPr>
        <p:grpSpPr>
          <a:xfrm>
            <a:off x="3705325" y="4619191"/>
            <a:ext cx="2120292" cy="594542"/>
            <a:chOff x="3705325" y="4619191"/>
            <a:chExt cx="2120292" cy="594542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D8148CC-CAE0-4176-86FC-1AA701513E1D}"/>
                </a:ext>
              </a:extLst>
            </p:cNvPr>
            <p:cNvGrpSpPr/>
            <p:nvPr/>
          </p:nvGrpSpPr>
          <p:grpSpPr>
            <a:xfrm>
              <a:off x="3705325" y="4619191"/>
              <a:ext cx="355986" cy="586990"/>
              <a:chOff x="3852808" y="4619191"/>
              <a:chExt cx="355986" cy="58699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4A714EE3-5B13-42C3-8AE0-F5088D76D69D}"/>
                      </a:ext>
                    </a:extLst>
                  </p:cNvPr>
                  <p:cNvSpPr txBox="1"/>
                  <p:nvPr/>
                </p:nvSpPr>
                <p:spPr>
                  <a:xfrm>
                    <a:off x="3852808" y="4619191"/>
                    <a:ext cx="35598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ln>
                        <a:solidFill>
                          <a:srgbClr val="7030A0"/>
                        </a:solidFill>
                      </a:ln>
                      <a:solidFill>
                        <a:srgbClr val="7030A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4A714EE3-5B13-42C3-8AE0-F5088D76D69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52808" y="4619191"/>
                    <a:ext cx="355986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3709EF33-FE42-47ED-A62D-2E634C47B868}"/>
                  </a:ext>
                </a:extLst>
              </p:cNvPr>
              <p:cNvCxnSpPr>
                <a:stCxn id="4" idx="2"/>
              </p:cNvCxnSpPr>
              <p:nvPr/>
            </p:nvCxnSpPr>
            <p:spPr>
              <a:xfrm flipH="1">
                <a:off x="4030790" y="4896190"/>
                <a:ext cx="11" cy="309991"/>
              </a:xfrm>
              <a:prstGeom prst="straightConnector1">
                <a:avLst/>
              </a:prstGeom>
              <a:ln w="28575"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0B9A366-8E93-43EF-9863-47CED4824C44}"/>
                </a:ext>
              </a:extLst>
            </p:cNvPr>
            <p:cNvGrpSpPr/>
            <p:nvPr/>
          </p:nvGrpSpPr>
          <p:grpSpPr>
            <a:xfrm>
              <a:off x="4756578" y="4619191"/>
              <a:ext cx="360416" cy="586990"/>
              <a:chOff x="4638592" y="4619191"/>
              <a:chExt cx="360416" cy="58699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4F68B865-3DDA-47C3-A1C8-CCB11B25C534}"/>
                      </a:ext>
                    </a:extLst>
                  </p:cNvPr>
                  <p:cNvSpPr txBox="1"/>
                  <p:nvPr/>
                </p:nvSpPr>
                <p:spPr>
                  <a:xfrm>
                    <a:off x="4638592" y="4619191"/>
                    <a:ext cx="36041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ln>
                        <a:solidFill>
                          <a:srgbClr val="7030A0"/>
                        </a:solidFill>
                      </a:ln>
                      <a:solidFill>
                        <a:srgbClr val="7030A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4F68B865-3DDA-47C3-A1C8-CCB11B25C53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38592" y="4619191"/>
                    <a:ext cx="36041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589509D7-00FB-4265-AA25-BBBFFF878474}"/>
                  </a:ext>
                </a:extLst>
              </p:cNvPr>
              <p:cNvCxnSpPr>
                <a:cxnSpLocks/>
                <a:stCxn id="12" idx="2"/>
              </p:cNvCxnSpPr>
              <p:nvPr/>
            </p:nvCxnSpPr>
            <p:spPr>
              <a:xfrm>
                <a:off x="4818800" y="4896190"/>
                <a:ext cx="6488" cy="309991"/>
              </a:xfrm>
              <a:prstGeom prst="straightConnector1">
                <a:avLst/>
              </a:prstGeom>
              <a:ln w="28575"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7023DBA-2553-4571-A21A-1DC165F3A605}"/>
                </a:ext>
              </a:extLst>
            </p:cNvPr>
            <p:cNvGrpSpPr/>
            <p:nvPr/>
          </p:nvGrpSpPr>
          <p:grpSpPr>
            <a:xfrm>
              <a:off x="5452225" y="4619191"/>
              <a:ext cx="373392" cy="586990"/>
              <a:chOff x="5319492" y="4619191"/>
              <a:chExt cx="373392" cy="58699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62942A8C-0416-45CE-A457-836CB01F5C0E}"/>
                      </a:ext>
                    </a:extLst>
                  </p:cNvPr>
                  <p:cNvSpPr txBox="1"/>
                  <p:nvPr/>
                </p:nvSpPr>
                <p:spPr>
                  <a:xfrm>
                    <a:off x="5319492" y="4619191"/>
                    <a:ext cx="37339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ln>
                        <a:solidFill>
                          <a:srgbClr val="7030A0"/>
                        </a:solidFill>
                      </a:ln>
                      <a:solidFill>
                        <a:srgbClr val="7030A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62942A8C-0416-45CE-A457-836CB01F5C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19492" y="4619191"/>
                    <a:ext cx="373392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B57485F6-9796-49B9-B585-7A601B1DB2C5}"/>
                  </a:ext>
                </a:extLst>
              </p:cNvPr>
              <p:cNvCxnSpPr>
                <a:cxnSpLocks/>
                <a:stCxn id="13" idx="2"/>
              </p:cNvCxnSpPr>
              <p:nvPr/>
            </p:nvCxnSpPr>
            <p:spPr>
              <a:xfrm flipH="1">
                <a:off x="5499703" y="4896190"/>
                <a:ext cx="6485" cy="309991"/>
              </a:xfrm>
              <a:prstGeom prst="straightConnector1">
                <a:avLst/>
              </a:prstGeom>
              <a:ln w="28575"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D3CB12F-8851-4D44-8D12-44AE941A871C}"/>
                </a:ext>
              </a:extLst>
            </p:cNvPr>
            <p:cNvGrpSpPr/>
            <p:nvPr/>
          </p:nvGrpSpPr>
          <p:grpSpPr>
            <a:xfrm>
              <a:off x="4066063" y="4619191"/>
              <a:ext cx="277960" cy="594542"/>
              <a:chOff x="4184048" y="4619191"/>
              <a:chExt cx="277960" cy="59454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B780DEAA-C7C1-4968-B32B-7129932D124B}"/>
                      </a:ext>
                    </a:extLst>
                  </p:cNvPr>
                  <p:cNvSpPr txBox="1"/>
                  <p:nvPr/>
                </p:nvSpPr>
                <p:spPr>
                  <a:xfrm>
                    <a:off x="4184048" y="4619191"/>
                    <a:ext cx="277960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ln>
                        <a:solidFill>
                          <a:srgbClr val="7030A0"/>
                        </a:solidFill>
                      </a:ln>
                      <a:solidFill>
                        <a:srgbClr val="7030A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B780DEAA-C7C1-4968-B32B-7129932D124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84048" y="4619191"/>
                    <a:ext cx="277960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24FE0281-38B2-421A-8D63-871F8EA48C65}"/>
                  </a:ext>
                </a:extLst>
              </p:cNvPr>
              <p:cNvCxnSpPr>
                <a:stCxn id="19" idx="2"/>
              </p:cNvCxnSpPr>
              <p:nvPr/>
            </p:nvCxnSpPr>
            <p:spPr>
              <a:xfrm>
                <a:off x="4323028" y="4896190"/>
                <a:ext cx="0" cy="317543"/>
              </a:xfrm>
              <a:prstGeom prst="straightConnector1">
                <a:avLst/>
              </a:prstGeom>
              <a:ln w="28575"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195496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A7381C-5126-43CC-9456-32376910F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292" y="1558069"/>
            <a:ext cx="4369686" cy="48095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Cell 5 - </a:t>
            </a:r>
            <a:r>
              <a:rPr lang="en-US" sz="3200" b="1" dirty="0" err="1">
                <a:latin typeface="+mn-lt"/>
              </a:rPr>
              <a:t>continued_fractions.ipynb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28</a:t>
            </a:fld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3EEBA2E-309E-4DAA-8D33-66040AD448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8543" y="1771896"/>
            <a:ext cx="2823146" cy="145848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821E019-0630-4DF2-A294-6BD1A1343DA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2889" r="22486" b="43964"/>
          <a:stretch/>
        </p:blipFill>
        <p:spPr>
          <a:xfrm>
            <a:off x="5544867" y="3613644"/>
            <a:ext cx="3050499" cy="1103455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4473BC83-B250-4468-9EB3-150D245D32DF}"/>
              </a:ext>
            </a:extLst>
          </p:cNvPr>
          <p:cNvGrpSpPr/>
          <p:nvPr/>
        </p:nvGrpSpPr>
        <p:grpSpPr>
          <a:xfrm>
            <a:off x="3976211" y="6046453"/>
            <a:ext cx="1076632" cy="369332"/>
            <a:chOff x="4968362" y="2079211"/>
            <a:chExt cx="1076632" cy="369332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FC412D25-0FC5-4016-8174-B997570E22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CE98B78-9D5A-4151-BE99-BCDFCA5C9F09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A0BB241-114B-44BE-B723-1B0B638BE0A8}"/>
              </a:ext>
            </a:extLst>
          </p:cNvPr>
          <p:cNvGrpSpPr/>
          <p:nvPr/>
        </p:nvGrpSpPr>
        <p:grpSpPr>
          <a:xfrm>
            <a:off x="3323902" y="2154291"/>
            <a:ext cx="1076632" cy="369332"/>
            <a:chOff x="4704120" y="2356972"/>
            <a:chExt cx="1076632" cy="369332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92362CA1-CCA9-4562-9FE3-EB31C25355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10312C4-8B2B-4873-9313-BD27D6076E89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9833A32-7CEC-466C-BEB0-94AA30E4E659}"/>
              </a:ext>
            </a:extLst>
          </p:cNvPr>
          <p:cNvGrpSpPr/>
          <p:nvPr/>
        </p:nvGrpSpPr>
        <p:grpSpPr>
          <a:xfrm>
            <a:off x="3195156" y="5398620"/>
            <a:ext cx="1068643" cy="369332"/>
            <a:chOff x="3647644" y="4910075"/>
            <a:chExt cx="1068643" cy="369332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CB2617B-6C81-485F-920A-6A3696C28EC3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E85F3DBF-86ED-4B1E-9CC0-EB90427001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C82BC54-54CF-4210-8C7F-0774A85C4041}"/>
              </a:ext>
            </a:extLst>
          </p:cNvPr>
          <p:cNvGrpSpPr/>
          <p:nvPr/>
        </p:nvGrpSpPr>
        <p:grpSpPr>
          <a:xfrm>
            <a:off x="4789357" y="5584788"/>
            <a:ext cx="695041" cy="369332"/>
            <a:chOff x="3639836" y="5422575"/>
            <a:chExt cx="695041" cy="369332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248825F-1A31-4776-B89A-938CB6391038}"/>
                </a:ext>
              </a:extLst>
            </p:cNvPr>
            <p:cNvSpPr txBox="1"/>
            <p:nvPr/>
          </p:nvSpPr>
          <p:spPr>
            <a:xfrm>
              <a:off x="3951419" y="54225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D7FD265E-0ED5-4D32-9389-3A46D3DB2D1C}"/>
                </a:ext>
              </a:extLst>
            </p:cNvPr>
            <p:cNvCxnSpPr>
              <a:cxnSpLocks/>
              <a:stCxn id="37" idx="1"/>
            </p:cNvCxnSpPr>
            <p:nvPr/>
          </p:nvCxnSpPr>
          <p:spPr>
            <a:xfrm flipH="1" flipV="1">
              <a:off x="3639836" y="5605739"/>
              <a:ext cx="311583" cy="150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938DF51-FB72-418E-A5DD-E65341CB9DB3}"/>
                  </a:ext>
                </a:extLst>
              </p:cNvPr>
              <p:cNvSpPr txBox="1"/>
              <p:nvPr/>
            </p:nvSpPr>
            <p:spPr>
              <a:xfrm>
                <a:off x="5696214" y="5063880"/>
                <a:ext cx="2747804" cy="602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938DF51-FB72-418E-A5DD-E65341CB9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6214" y="5063880"/>
                <a:ext cx="2747804" cy="602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414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Cell 5 - </a:t>
            </a:r>
            <a:r>
              <a:rPr lang="en-US" sz="3200" b="1" dirty="0" err="1">
                <a:latin typeface="+mn-lt"/>
              </a:rPr>
              <a:t>continued_fractions.ipynb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29</a:t>
            </a:fld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3EEBA2E-309E-4DAA-8D33-66040AD44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4665" y="1771896"/>
            <a:ext cx="2823146" cy="145848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821E019-0630-4DF2-A294-6BD1A1343DA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889" r="22486" b="43964"/>
          <a:stretch/>
        </p:blipFill>
        <p:spPr>
          <a:xfrm>
            <a:off x="5544130" y="3613644"/>
            <a:ext cx="3050499" cy="110345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0F93D7A-EB63-400D-ACC9-E8161FD903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7950" y="4717099"/>
            <a:ext cx="1471990" cy="14584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0D09FB-125C-4923-A30A-E6ADBDDC16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108" y="1973655"/>
            <a:ext cx="4847369" cy="12567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721EDE2B-1BF0-4714-846B-D6482DBA93AA}"/>
              </a:ext>
            </a:extLst>
          </p:cNvPr>
          <p:cNvSpPr/>
          <p:nvPr/>
        </p:nvSpPr>
        <p:spPr>
          <a:xfrm>
            <a:off x="1462370" y="4101702"/>
            <a:ext cx="2766844" cy="895070"/>
          </a:xfrm>
          <a:prstGeom prst="wedgeRectCallout">
            <a:avLst>
              <a:gd name="adj1" fmla="val -2493"/>
              <a:gd name="adj2" fmla="val -15294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Generalized CFs often </a:t>
            </a:r>
            <a:r>
              <a:rPr lang="en-US" sz="2000" b="1" dirty="0"/>
              <a:t>converge </a:t>
            </a:r>
            <a:r>
              <a:rPr lang="en-US" sz="2000" dirty="0"/>
              <a:t>very slowly</a:t>
            </a:r>
            <a:endParaRPr lang="en-US" sz="20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A21A11-B35F-450B-9E07-78C73C61028E}"/>
              </a:ext>
            </a:extLst>
          </p:cNvPr>
          <p:cNvSpPr/>
          <p:nvPr/>
        </p:nvSpPr>
        <p:spPr>
          <a:xfrm>
            <a:off x="2113613" y="2915587"/>
            <a:ext cx="2151089" cy="2398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126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Now you know…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13019" y="1825625"/>
                <a:ext cx="8188081" cy="4840898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Rational, Irrational, and Transcendental numbers each have their own style of continued fractions</a:t>
                </a: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/>
                  <a:t>We can take any real number and </a:t>
                </a:r>
                <a:r>
                  <a:rPr lang="en-US" sz="2000" b="1" i="1" dirty="0">
                    <a:solidFill>
                      <a:srgbClr val="0070C0"/>
                    </a:solidFill>
                  </a:rPr>
                  <a:t>generate</a:t>
                </a:r>
                <a:r>
                  <a:rPr lang="en-US" sz="2000" dirty="0"/>
                  <a:t> a CF</a:t>
                </a: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/>
                  <a:t>Given a CF, we can </a:t>
                </a:r>
                <a:r>
                  <a:rPr lang="en-US" sz="2000" b="1" i="1" dirty="0">
                    <a:solidFill>
                      <a:srgbClr val="0070C0"/>
                    </a:solidFill>
                  </a:rPr>
                  <a:t>expand</a:t>
                </a:r>
                <a:r>
                  <a:rPr lang="en-US" sz="2000" dirty="0"/>
                  <a:t> it to regain the original number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The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convergents</a:t>
                </a:r>
                <a:r>
                  <a:rPr lang="en-US" sz="2400" dirty="0"/>
                  <a:t> of a CF are excellent approximations to the original number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Memorizing thousands of digits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US" sz="2400" dirty="0"/>
                  <a:t> is okay – but I’d rather appreciate its beautifully simple GCF: 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[3; 1, {6|(2n+1)</a:t>
                </a:r>
                <a:r>
                  <a:rPr lang="en-US" sz="2400" b="1" baseline="30000" dirty="0">
                    <a:solidFill>
                      <a:srgbClr val="FF0000"/>
                    </a:solidFill>
                  </a:rPr>
                  <a:t>2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}]</a:t>
                </a:r>
                <a:endParaRPr lang="en-US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3019" y="1825625"/>
                <a:ext cx="8188081" cy="4840898"/>
              </a:xfrm>
              <a:blipFill>
                <a:blip r:embed="rId3"/>
                <a:stretch>
                  <a:fillRect l="-1042" t="-1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99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Now you know…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019" y="1825625"/>
            <a:ext cx="8188081" cy="453072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CFs </a:t>
            </a:r>
            <a:r>
              <a:rPr lang="en-US" sz="2400" i="1" dirty="0">
                <a:solidFill>
                  <a:srgbClr val="FF0000"/>
                </a:solidFill>
              </a:rPr>
              <a:t>may</a:t>
            </a:r>
            <a:r>
              <a:rPr lang="en-US" sz="2400" dirty="0"/>
              <a:t> have their own rich </a:t>
            </a:r>
            <a:r>
              <a:rPr lang="en-US" sz="2400" b="1" dirty="0">
                <a:solidFill>
                  <a:srgbClr val="7030A0"/>
                </a:solidFill>
              </a:rPr>
              <a:t>arithmetic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7030A0"/>
                </a:solidFill>
              </a:rPr>
              <a:t>algebra</a:t>
            </a:r>
            <a:r>
              <a:rPr lang="en-US" sz="2400" dirty="0"/>
              <a:t>, and potentially even their own </a:t>
            </a:r>
            <a:r>
              <a:rPr lang="en-US" sz="2400" b="1" dirty="0">
                <a:solidFill>
                  <a:srgbClr val="7030A0"/>
                </a:solidFill>
              </a:rPr>
              <a:t>calculus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How can one </a:t>
            </a:r>
            <a:r>
              <a:rPr lang="en-US" sz="2000" u="sng" dirty="0"/>
              <a:t>directly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0070C0"/>
                </a:solidFill>
              </a:rPr>
              <a:t>divide</a:t>
            </a:r>
            <a:r>
              <a:rPr lang="en-US" sz="2000" dirty="0"/>
              <a:t> two CFs?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How can one </a:t>
            </a:r>
            <a:r>
              <a:rPr lang="en-US" sz="2000" u="sng" dirty="0"/>
              <a:t>directly</a:t>
            </a:r>
            <a:r>
              <a:rPr lang="en-US" sz="2000" dirty="0"/>
              <a:t> take the </a:t>
            </a:r>
            <a:r>
              <a:rPr lang="en-US" sz="2000" b="1" dirty="0"/>
              <a:t>sin()</a:t>
            </a:r>
            <a:r>
              <a:rPr lang="en-US" sz="2000" dirty="0"/>
              <a:t> of a CF?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What does the </a:t>
            </a:r>
            <a:r>
              <a:rPr lang="en-US" sz="2000" b="1" dirty="0">
                <a:solidFill>
                  <a:srgbClr val="00B050"/>
                </a:solidFill>
              </a:rPr>
              <a:t>factorial</a:t>
            </a:r>
            <a:r>
              <a:rPr lang="en-US" sz="2000" dirty="0"/>
              <a:t> of a CF look like?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In many ways a CF is a </a:t>
            </a:r>
            <a:r>
              <a:rPr lang="en-US" sz="2400" i="1" dirty="0"/>
              <a:t>more accurate</a:t>
            </a:r>
            <a:r>
              <a:rPr lang="en-US" sz="2400" dirty="0"/>
              <a:t> representation of an irrational or transcendental number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The sum of an infinite series must stop somewhere, and after that point, all of the remaining digits of precision are lost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A CF encodes the entire number </a:t>
            </a:r>
            <a:r>
              <a:rPr lang="en-US" sz="2000" b="1" dirty="0">
                <a:solidFill>
                  <a:srgbClr val="FF0000"/>
                </a:solidFill>
              </a:rPr>
              <a:t>with no loss of precision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What can you discover about CFs?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352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5769</TotalTime>
  <Words>1017</Words>
  <Application>Microsoft Office PowerPoint</Application>
  <PresentationFormat>On-screen Show (4:3)</PresentationFormat>
  <Paragraphs>189</Paragraphs>
  <Slides>31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Cambria Math</vt:lpstr>
      <vt:lpstr>Office Theme</vt:lpstr>
      <vt:lpstr>PowerPoint Presentation</vt:lpstr>
      <vt:lpstr>Lab Goals</vt:lpstr>
      <vt:lpstr>Expanding Your Definition of a “Number”</vt:lpstr>
      <vt:lpstr>PowerPoint Presentation</vt:lpstr>
      <vt:lpstr>PowerPoint Presentation</vt:lpstr>
      <vt:lpstr>PowerPoint Presentation</vt:lpstr>
      <vt:lpstr>PowerPoint Presentation</vt:lpstr>
      <vt:lpstr>View Cell 1 - continued_fractions.ipynb</vt:lpstr>
      <vt:lpstr>View Cell 1 - continued_fractions.ipynb</vt:lpstr>
      <vt:lpstr>Run Cell 1 - continued_fractions.ipynb</vt:lpstr>
      <vt:lpstr>PowerPoint Presentation</vt:lpstr>
      <vt:lpstr>Run Cell 2 - continued_fractions.ipynb</vt:lpstr>
      <vt:lpstr>PowerPoint Presentation</vt:lpstr>
      <vt:lpstr>Run Cell 3 - continued_fractions.ipynb</vt:lpstr>
      <vt:lpstr>PowerPoint Presentation</vt:lpstr>
      <vt:lpstr>PowerPoint Presentation</vt:lpstr>
      <vt:lpstr>The Golden Ratio</vt:lpstr>
      <vt:lpstr>PowerPoint Presentation</vt:lpstr>
      <vt:lpstr>PowerPoint Presentation</vt:lpstr>
      <vt:lpstr>PowerPoint Presentation</vt:lpstr>
      <vt:lpstr>PowerPoint Presentation</vt:lpstr>
      <vt:lpstr>Run Cell 4 - continued_fractions.ipynb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View Cell 5 - continued_fractions.ipynb</vt:lpstr>
      <vt:lpstr>Run Cell 5 - continued_fractions.ipynb</vt:lpstr>
      <vt:lpstr>Now you know…</vt:lpstr>
      <vt:lpstr>Now you know…</vt:lpstr>
    </vt:vector>
  </TitlesOfParts>
  <Company>Personal 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MSN Biersach</dc:creator>
  <cp:lastModifiedBy>David MSN Biersach</cp:lastModifiedBy>
  <cp:revision>876</cp:revision>
  <cp:lastPrinted>2015-06-01T00:45:11Z</cp:lastPrinted>
  <dcterms:created xsi:type="dcterms:W3CDTF">2014-09-21T17:58:26Z</dcterms:created>
  <dcterms:modified xsi:type="dcterms:W3CDTF">2022-03-04T03:17:08Z</dcterms:modified>
</cp:coreProperties>
</file>