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notesMasterIdLst>
    <p:notesMasterId r:id="rId6"/>
  </p:notesMasterIdLst>
  <p:handoutMasterIdLst>
    <p:handoutMasterId r:id="rId7"/>
  </p:handoutMasterIdLst>
  <p:sldIdLst>
    <p:sldId id="1143" r:id="rId3"/>
    <p:sldId id="349" r:id="rId4"/>
    <p:sldId id="481" r:id="rId5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515"/>
    <a:srgbClr val="F06100"/>
    <a:srgbClr val="A47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1" autoAdjust="0"/>
  </p:normalViewPr>
  <p:slideViewPr>
    <p:cSldViewPr snapToGrid="0">
      <p:cViewPr varScale="1">
        <p:scale>
          <a:sx n="121" d="100"/>
          <a:sy n="121" d="100"/>
        </p:scale>
        <p:origin x="12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3FF9-3C2E-4DC9-970F-A3A444D19E7F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F7D3-8C79-4D31-A7B5-D4E802F39262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145D9-2241-45AB-BAB4-01FEEB0B6642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5087E-9206-4668-9B18-C5B9EBEEA3B0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636D3-65F7-4C44-A796-7BD2974EF670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37276-138E-4C00-B0F9-A075085EB4BB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C897-058E-4204-A28B-A7115860C98C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7F489-1163-468A-8BB8-B38D60E5D5F0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511F9-2A02-4B6A-9841-1A9622323699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AB46B-149A-4BAB-B65C-8DF4FCCC125D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E057-40B5-4EA3-B7B1-62E50949E1BD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505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995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558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902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329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776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1247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084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327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1051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54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04F80-52E9-40D2-BFD8-F4600958E494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AD656-6FF9-465D-B7B0-1CD0DD39CD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46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hyperlink" Target="mailto:dbiersach@bnl.gov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3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7C2B5E5-FA39-488F-AB21-780CCEC962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18595" y="3116578"/>
            <a:ext cx="2055976" cy="10025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022AA9-25C0-416F-AD81-E38CA0BC3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00" y="4895616"/>
            <a:ext cx="2191062" cy="16432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8DDF2C-2EBB-45B4-B100-C878037706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83" y="899099"/>
            <a:ext cx="2127777" cy="1409652"/>
          </a:xfrm>
          <a:prstGeom prst="rect">
            <a:avLst/>
          </a:prstGeom>
          <a:ln>
            <a:noFill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AD656-6FF9-465D-B7B0-1CD0DD39CD23}" type="slidenum">
              <a:rPr lang="en-US">
                <a:solidFill>
                  <a:prstClr val="black"/>
                </a:solidFill>
                <a:latin typeface="Calibri" panose="020F0502020204030204"/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64800" y="5517122"/>
            <a:ext cx="2643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Dave Biersach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dbiersach@bnl.gov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77647" y="899099"/>
            <a:ext cx="2653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Scientific Computing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Demonstrations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41886" y="3916225"/>
            <a:ext cx="2489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-Savart Law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318A7-1014-4E9C-BBB9-5D54D96586CD}"/>
              </a:ext>
            </a:extLst>
          </p:cNvPr>
          <p:cNvSpPr txBox="1"/>
          <p:nvPr/>
        </p:nvSpPr>
        <p:spPr>
          <a:xfrm>
            <a:off x="6391478" y="2470473"/>
            <a:ext cx="21903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Python on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Microcontroller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 Sensors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880B61-F5EE-49B8-AD9E-106E0D8FB1E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623" y="4886637"/>
            <a:ext cx="1923894" cy="1726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B1C5A1-5BD1-4443-93C5-C732C9ED75D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2267" y="2978305"/>
            <a:ext cx="1569869" cy="15698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67B1E9-59CF-411C-A0FE-26DFB409C7F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1644" y="724782"/>
            <a:ext cx="3524434" cy="18792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3A59CA-97D4-4D85-9359-08EF416FD86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6294" y="2810269"/>
            <a:ext cx="1093475" cy="1923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B9FEA8-F51B-430D-AC12-93C534C517F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1995" y="4915158"/>
            <a:ext cx="832702" cy="17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6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Lab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Compare and contrast </a:t>
            </a:r>
            <a:r>
              <a:rPr lang="en-US" sz="2400" b="1" dirty="0">
                <a:solidFill>
                  <a:srgbClr val="FF0000"/>
                </a:solidFill>
              </a:rPr>
              <a:t>spectrophotometry</a:t>
            </a:r>
            <a:r>
              <a:rPr lang="en-US" sz="2400" dirty="0"/>
              <a:t> (reflection) with </a:t>
            </a:r>
            <a:r>
              <a:rPr lang="en-US" sz="2400" b="1" dirty="0"/>
              <a:t>spectrometry</a:t>
            </a:r>
            <a:r>
              <a:rPr lang="en-US" sz="2400" dirty="0"/>
              <a:t> (emission &amp; absorption)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Correlate wavelengths of light to perceived common colors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Identify the wavelengths associated with ultraviolet and infrared light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Develop reflectance spectra histograms of pure elements and complex compounds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Attempt to identify unknown materials via their reflectance spectra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AD656-6FF9-465D-B7B0-1CD0DD39CD23}" type="slidenum">
              <a:rPr lang="en-US" sz="1400" b="1">
                <a:solidFill>
                  <a:prstClr val="black"/>
                </a:solidFill>
                <a:latin typeface="Calibri" panose="020F0502020204030204"/>
              </a:rPr>
              <a:pPr>
                <a:defRPr/>
              </a:pPr>
              <a:t>2</a:t>
            </a:fld>
            <a:endParaRPr lang="en-US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5560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997190" cy="4351338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Do things appear to be colored because of the wavelengths of visible light they absorb or reflect? Explain the photon-electron interaction between </a:t>
            </a:r>
            <a:r>
              <a:rPr lang="en-US" sz="2400" b="1" dirty="0"/>
              <a:t>white surfaces vs. a mirror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In this lab setup, why does an </a:t>
            </a:r>
            <a:r>
              <a:rPr lang="en-US" sz="2400" i="1" dirty="0"/>
              <a:t>empty</a:t>
            </a:r>
            <a:r>
              <a:rPr lang="en-US" sz="2400" dirty="0"/>
              <a:t> scan contain many wavelengths having low reflectance values?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Which object has the reflection spectra with the fewest number of measured wavelengths?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Which absorbs more </a:t>
            </a:r>
            <a:r>
              <a:rPr lang="en-US" sz="2400" b="1" dirty="0"/>
              <a:t>UV light</a:t>
            </a:r>
            <a:r>
              <a:rPr lang="en-US" sz="2400" dirty="0"/>
              <a:t>: lighter or darker objects? Why?  Which absorbs more </a:t>
            </a:r>
            <a:r>
              <a:rPr lang="en-US" sz="2400" b="1" dirty="0"/>
              <a:t>IR light</a:t>
            </a:r>
            <a:r>
              <a:rPr lang="en-US" sz="2400" dirty="0"/>
              <a:t>: lighter or darker objects? Why?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What is one use for material which reflects UV light but not visible light?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>
                <a:solidFill>
                  <a:prstClr val="black"/>
                </a:solidFill>
                <a:latin typeface="Calibri" panose="020F0502020204030204"/>
              </a:rPr>
              <a:t>3</a:t>
            </a:fld>
            <a:endParaRPr lang="en-US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54233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5449</TotalTime>
  <Words>178</Words>
  <Application>Microsoft Office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2_Office Theme</vt:lpstr>
      <vt:lpstr>PowerPoint Presentation</vt:lpstr>
      <vt:lpstr>Lab Goals</vt:lpstr>
      <vt:lpstr>Research Questions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705</cp:revision>
  <cp:lastPrinted>2015-06-01T00:45:11Z</cp:lastPrinted>
  <dcterms:created xsi:type="dcterms:W3CDTF">2014-09-21T17:58:26Z</dcterms:created>
  <dcterms:modified xsi:type="dcterms:W3CDTF">2022-03-03T05:43:31Z</dcterms:modified>
</cp:coreProperties>
</file>